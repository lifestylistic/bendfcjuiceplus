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9753600" cy="12611100"/>
  <p:notesSz cx="6858000" cy="9144000"/>
  <p:embeddedFontLst>
    <p:embeddedFont>
      <p:font typeface="Barlow" charset="1" panose="00000500000000000000"/>
      <p:regular r:id="rId10"/>
    </p:embeddedFont>
    <p:embeddedFont>
      <p:font typeface="Barlow Condensed Bold" charset="1" panose="00000806000000000000"/>
      <p:regular r:id="rId11"/>
    </p:embeddedFont>
    <p:embeddedFont>
      <p:font typeface="Barlow Medium" charset="1" panose="00000600000000000000"/>
      <p:regular r:id="rId12"/>
    </p:embeddedFont>
    <p:embeddedFont>
      <p:font typeface="Barlow Bold" charset="1" panose="00000800000000000000"/>
      <p:regular r:id="rId13"/>
    </p:embeddedFont>
    <p:embeddedFont>
      <p:font typeface="Barlow Semi-Bold" charset="1" panose="00000700000000000000"/>
      <p:regular r:id="rId14"/>
    </p:embeddedFont>
    <p:embeddedFont>
      <p:font typeface="Anton" charset="1" panose="00000500000000000000"/>
      <p:regular r:id="rId15"/>
    </p:embeddedFont>
    <p:embeddedFont>
      <p:font typeface="Barlow Italic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14.svg" Type="http://schemas.openxmlformats.org/officeDocument/2006/relationships/image"/><Relationship Id="rId16" Target="../media/image15.svg" Type="http://schemas.openxmlformats.org/officeDocument/2006/relationships/image"/><Relationship Id="rId17" Target="../media/image16.svg" Type="http://schemas.openxmlformats.org/officeDocument/2006/relationships/image"/><Relationship Id="rId18" Target="../media/image17.png" Type="http://schemas.openxmlformats.org/officeDocument/2006/relationships/image"/><Relationship Id="rId19" Target="../media/image18.svg" Type="http://schemas.openxmlformats.org/officeDocument/2006/relationships/image"/><Relationship Id="rId2" Target="../media/image1.jpeg" Type="http://schemas.openxmlformats.org/officeDocument/2006/relationships/image"/><Relationship Id="rId20" Target="../media/image19.png" Type="http://schemas.openxmlformats.org/officeDocument/2006/relationships/image"/><Relationship Id="rId21" Target="../media/image20.svg" Type="http://schemas.openxmlformats.org/officeDocument/2006/relationships/image"/><Relationship Id="rId22" Target="../media/image21.svg" Type="http://schemas.openxmlformats.org/officeDocument/2006/relationships/image"/><Relationship Id="rId23" Target="../media/image22.svg" Type="http://schemas.openxmlformats.org/officeDocument/2006/relationships/image"/><Relationship Id="rId24" Target="../media/image23.png" Type="http://schemas.openxmlformats.org/officeDocument/2006/relationships/image"/><Relationship Id="rId25" Target="../media/image24.svg" Type="http://schemas.openxmlformats.org/officeDocument/2006/relationships/image"/><Relationship Id="rId26" Target="../media/image25.png" Type="http://schemas.openxmlformats.org/officeDocument/2006/relationships/image"/><Relationship Id="rId27" Target="../media/image26.svg" Type="http://schemas.openxmlformats.org/officeDocument/2006/relationships/image"/><Relationship Id="rId28" Target="../media/image27.png" Type="http://schemas.openxmlformats.org/officeDocument/2006/relationships/image"/><Relationship Id="rId29" Target="../media/image28.svg" Type="http://schemas.openxmlformats.org/officeDocument/2006/relationships/image"/><Relationship Id="rId3" Target="../media/image2.jpeg" Type="http://schemas.openxmlformats.org/officeDocument/2006/relationships/image"/><Relationship Id="rId30" Target="../media/image29.png" Type="http://schemas.openxmlformats.org/officeDocument/2006/relationships/image"/><Relationship Id="rId31" Target="../media/image30.svg" Type="http://schemas.openxmlformats.org/officeDocument/2006/relationships/image"/><Relationship Id="rId32" Target="../media/image31.png" Type="http://schemas.openxmlformats.org/officeDocument/2006/relationships/image"/><Relationship Id="rId33" Target="../media/image32.svg" Type="http://schemas.openxmlformats.org/officeDocument/2006/relationships/image"/><Relationship Id="rId34" Target="../media/image33.svg" Type="http://schemas.openxmlformats.org/officeDocument/2006/relationships/image"/><Relationship Id="rId35" Target="../media/image34.svg" Type="http://schemas.openxmlformats.org/officeDocument/2006/relationships/image"/><Relationship Id="rId36" Target="../media/image35.svg" Type="http://schemas.openxmlformats.org/officeDocument/2006/relationships/image"/><Relationship Id="rId37" Target="../media/image36.svg" Type="http://schemas.openxmlformats.org/officeDocument/2006/relationships/image"/><Relationship Id="rId38" Target="../media/image37.svg" Type="http://schemas.openxmlformats.org/officeDocument/2006/relationships/image"/><Relationship Id="rId39" Target="../media/image38.png" Type="http://schemas.openxmlformats.org/officeDocument/2006/relationships/image"/><Relationship Id="rId4" Target="../media/image3.png" Type="http://schemas.openxmlformats.org/officeDocument/2006/relationships/image"/><Relationship Id="rId40" Target="../media/image39.png" Type="http://schemas.openxmlformats.org/officeDocument/2006/relationships/image"/><Relationship Id="rId41" Target="../media/image40.png" Type="http://schemas.openxmlformats.org/officeDocument/2006/relationships/image"/><Relationship Id="rId42" Target="../media/image41.png" Type="http://schemas.openxmlformats.org/officeDocument/2006/relationships/image"/><Relationship Id="rId43" Target="../media/image42.svg" Type="http://schemas.openxmlformats.org/officeDocument/2006/relationships/image"/><Relationship Id="rId44" Target="../media/image43.png" Type="http://schemas.openxmlformats.org/officeDocument/2006/relationships/image"/><Relationship Id="rId45" Target="../media/image44.svg" Type="http://schemas.openxmlformats.org/officeDocument/2006/relationships/image"/><Relationship Id="rId46" Target="../media/image45.png" Type="http://schemas.openxmlformats.org/officeDocument/2006/relationships/image"/><Relationship Id="rId47" Target="../media/image46.svg" Type="http://schemas.openxmlformats.org/officeDocument/2006/relationships/image"/><Relationship Id="rId48" Target="http://bendfc.juiceplus.com" TargetMode="External" Type="http://schemas.openxmlformats.org/officeDocument/2006/relationships/hyperlink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5.png" Type="http://schemas.openxmlformats.org/officeDocument/2006/relationships/image"/><Relationship Id="rId11" Target="../media/image56.svg" Type="http://schemas.openxmlformats.org/officeDocument/2006/relationships/image"/><Relationship Id="rId12" Target="../media/image57.svg" Type="http://schemas.openxmlformats.org/officeDocument/2006/relationships/image"/><Relationship Id="rId13" Target="../media/image58.svg" Type="http://schemas.openxmlformats.org/officeDocument/2006/relationships/image"/><Relationship Id="rId14" Target="../media/image59.svg" Type="http://schemas.openxmlformats.org/officeDocument/2006/relationships/image"/><Relationship Id="rId15" Target="../media/image60.svg" Type="http://schemas.openxmlformats.org/officeDocument/2006/relationships/image"/><Relationship Id="rId16" Target="../media/image61.svg" Type="http://schemas.openxmlformats.org/officeDocument/2006/relationships/image"/><Relationship Id="rId17" Target="../media/image62.svg" Type="http://schemas.openxmlformats.org/officeDocument/2006/relationships/image"/><Relationship Id="rId18" Target="../media/image63.svg" Type="http://schemas.openxmlformats.org/officeDocument/2006/relationships/image"/><Relationship Id="rId19" Target="../media/image64.svg" Type="http://schemas.openxmlformats.org/officeDocument/2006/relationships/image"/><Relationship Id="rId2" Target="../media/image47.png" Type="http://schemas.openxmlformats.org/officeDocument/2006/relationships/image"/><Relationship Id="rId20" Target="../media/image65.svg" Type="http://schemas.openxmlformats.org/officeDocument/2006/relationships/image"/><Relationship Id="rId21" Target="../media/image66.png" Type="http://schemas.openxmlformats.org/officeDocument/2006/relationships/image"/><Relationship Id="rId22" Target="../media/image67.svg" Type="http://schemas.openxmlformats.org/officeDocument/2006/relationships/image"/><Relationship Id="rId23" Target="../media/image68.png" Type="http://schemas.openxmlformats.org/officeDocument/2006/relationships/image"/><Relationship Id="rId24" Target="../media/image69.svg" Type="http://schemas.openxmlformats.org/officeDocument/2006/relationships/image"/><Relationship Id="rId25" Target="../media/image70.png" Type="http://schemas.openxmlformats.org/officeDocument/2006/relationships/image"/><Relationship Id="rId26" Target="../media/image71.svg" Type="http://schemas.openxmlformats.org/officeDocument/2006/relationships/image"/><Relationship Id="rId27" Target="../media/image72.svg" Type="http://schemas.openxmlformats.org/officeDocument/2006/relationships/image"/><Relationship Id="rId28" Target="../media/image73.png" Type="http://schemas.openxmlformats.org/officeDocument/2006/relationships/image"/><Relationship Id="rId29" Target="../media/image74.svg" Type="http://schemas.openxmlformats.org/officeDocument/2006/relationships/image"/><Relationship Id="rId3" Target="../media/image48.svg" Type="http://schemas.openxmlformats.org/officeDocument/2006/relationships/image"/><Relationship Id="rId30" Target="../media/image75.svg" Type="http://schemas.openxmlformats.org/officeDocument/2006/relationships/image"/><Relationship Id="rId31" Target="../media/image76.png" Type="http://schemas.openxmlformats.org/officeDocument/2006/relationships/image"/><Relationship Id="rId32" Target="../media/image77.svg" Type="http://schemas.openxmlformats.org/officeDocument/2006/relationships/image"/><Relationship Id="rId33" Target="../media/image78.png" Type="http://schemas.openxmlformats.org/officeDocument/2006/relationships/image"/><Relationship Id="rId34" Target="../media/image79.png" Type="http://schemas.openxmlformats.org/officeDocument/2006/relationships/image"/><Relationship Id="rId35" Target="../media/image80.svg" Type="http://schemas.openxmlformats.org/officeDocument/2006/relationships/image"/><Relationship Id="rId36" Target="../media/image81.png" Type="http://schemas.openxmlformats.org/officeDocument/2006/relationships/image"/><Relationship Id="rId37" Target="../media/image82.svg" Type="http://schemas.openxmlformats.org/officeDocument/2006/relationships/image"/><Relationship Id="rId38" Target="../media/image83.png" Type="http://schemas.openxmlformats.org/officeDocument/2006/relationships/image"/><Relationship Id="rId39" Target="../media/image84.svg" Type="http://schemas.openxmlformats.org/officeDocument/2006/relationships/image"/><Relationship Id="rId4" Target="../media/image49.png" Type="http://schemas.openxmlformats.org/officeDocument/2006/relationships/image"/><Relationship Id="rId40" Target="https://www.youtube.com/@juiceplus" TargetMode="External" Type="http://schemas.openxmlformats.org/officeDocument/2006/relationships/hyperlink"/><Relationship Id="rId5" Target="../media/image50.svg" Type="http://schemas.openxmlformats.org/officeDocument/2006/relationships/image"/><Relationship Id="rId6" Target="../media/image51.png" Type="http://schemas.openxmlformats.org/officeDocument/2006/relationships/image"/><Relationship Id="rId7" Target="../media/image52.svg" Type="http://schemas.openxmlformats.org/officeDocument/2006/relationships/image"/><Relationship Id="rId8" Target="../media/image53.png" Type="http://schemas.openxmlformats.org/officeDocument/2006/relationships/image"/><Relationship Id="rId9" Target="../media/image5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3.png" Type="http://schemas.openxmlformats.org/officeDocument/2006/relationships/image"/><Relationship Id="rId11" Target="../media/image94.svg" Type="http://schemas.openxmlformats.org/officeDocument/2006/relationships/image"/><Relationship Id="rId12" Target="../media/image95.png" Type="http://schemas.openxmlformats.org/officeDocument/2006/relationships/image"/><Relationship Id="rId13" Target="../media/image96.svg" Type="http://schemas.openxmlformats.org/officeDocument/2006/relationships/image"/><Relationship Id="rId14" Target="../media/image97.png" Type="http://schemas.openxmlformats.org/officeDocument/2006/relationships/image"/><Relationship Id="rId2" Target="../media/image85.png" Type="http://schemas.openxmlformats.org/officeDocument/2006/relationships/image"/><Relationship Id="rId3" Target="../media/image86.svg" Type="http://schemas.openxmlformats.org/officeDocument/2006/relationships/image"/><Relationship Id="rId4" Target="../media/image87.png" Type="http://schemas.openxmlformats.org/officeDocument/2006/relationships/image"/><Relationship Id="rId5" Target="../media/image88.svg" Type="http://schemas.openxmlformats.org/officeDocument/2006/relationships/image"/><Relationship Id="rId6" Target="../media/image89.png" Type="http://schemas.openxmlformats.org/officeDocument/2006/relationships/image"/><Relationship Id="rId7" Target="../media/image90.svg" Type="http://schemas.openxmlformats.org/officeDocument/2006/relationships/image"/><Relationship Id="rId8" Target="../media/image91.png" Type="http://schemas.openxmlformats.org/officeDocument/2006/relationships/image"/><Relationship Id="rId9" Target="../media/image9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6.svg" Type="http://schemas.openxmlformats.org/officeDocument/2006/relationships/image"/><Relationship Id="rId11" Target="../media/image107.png" Type="http://schemas.openxmlformats.org/officeDocument/2006/relationships/image"/><Relationship Id="rId12" Target="../media/image108.svg" Type="http://schemas.openxmlformats.org/officeDocument/2006/relationships/image"/><Relationship Id="rId13" Target="../media/image109.png" Type="http://schemas.openxmlformats.org/officeDocument/2006/relationships/image"/><Relationship Id="rId14" Target="../media/image110.svg" Type="http://schemas.openxmlformats.org/officeDocument/2006/relationships/image"/><Relationship Id="rId15" Target="../media/image111.png" Type="http://schemas.openxmlformats.org/officeDocument/2006/relationships/image"/><Relationship Id="rId16" Target="../media/image2.jpeg" Type="http://schemas.openxmlformats.org/officeDocument/2006/relationships/image"/><Relationship Id="rId17" Target="../media/image78.png" Type="http://schemas.openxmlformats.org/officeDocument/2006/relationships/image"/><Relationship Id="rId18" Target="../media/image112.png" Type="http://schemas.openxmlformats.org/officeDocument/2006/relationships/image"/><Relationship Id="rId2" Target="../media/image98.png" Type="http://schemas.openxmlformats.org/officeDocument/2006/relationships/image"/><Relationship Id="rId3" Target="../media/image99.png" Type="http://schemas.openxmlformats.org/officeDocument/2006/relationships/image"/><Relationship Id="rId4" Target="../media/image100.svg" Type="http://schemas.openxmlformats.org/officeDocument/2006/relationships/image"/><Relationship Id="rId5" Target="../media/image101.png" Type="http://schemas.openxmlformats.org/officeDocument/2006/relationships/image"/><Relationship Id="rId6" Target="../media/image102.svg" Type="http://schemas.openxmlformats.org/officeDocument/2006/relationships/image"/><Relationship Id="rId7" Target="../media/image103.png" Type="http://schemas.openxmlformats.org/officeDocument/2006/relationships/image"/><Relationship Id="rId8" Target="../media/image104.svg" Type="http://schemas.openxmlformats.org/officeDocument/2006/relationships/image"/><Relationship Id="rId9" Target="../media/image105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9753600" cy="12620625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-252815" y="-575729"/>
            <a:ext cx="12101132" cy="3313881"/>
            <a:chOff x="0" y="0"/>
            <a:chExt cx="15447727" cy="423034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447727" cy="4230342"/>
            </a:xfrm>
            <a:custGeom>
              <a:avLst/>
              <a:gdLst/>
              <a:ahLst/>
              <a:cxnLst/>
              <a:rect r="r" b="b" t="t" l="l"/>
              <a:pathLst>
                <a:path h="4230342" w="15447727">
                  <a:moveTo>
                    <a:pt x="15104788" y="0"/>
                  </a:moveTo>
                  <a:lnTo>
                    <a:pt x="342940" y="0"/>
                  </a:lnTo>
                  <a:cubicBezTo>
                    <a:pt x="154477" y="0"/>
                    <a:pt x="0" y="79027"/>
                    <a:pt x="0" y="175794"/>
                  </a:cubicBezTo>
                  <a:lnTo>
                    <a:pt x="0" y="4054548"/>
                  </a:lnTo>
                  <a:cubicBezTo>
                    <a:pt x="0" y="4151316"/>
                    <a:pt x="154477" y="4230342"/>
                    <a:pt x="342940" y="4230342"/>
                  </a:cubicBezTo>
                  <a:lnTo>
                    <a:pt x="15104788" y="4230342"/>
                  </a:lnTo>
                  <a:cubicBezTo>
                    <a:pt x="15293249" y="4230342"/>
                    <a:pt x="15447727" y="4151316"/>
                    <a:pt x="15447727" y="4054548"/>
                  </a:cubicBezTo>
                  <a:lnTo>
                    <a:pt x="15447727" y="175794"/>
                  </a:lnTo>
                  <a:cubicBezTo>
                    <a:pt x="15447727" y="79027"/>
                    <a:pt x="15293249" y="0"/>
                    <a:pt x="15104788" y="0"/>
                  </a:cubicBezTo>
                  <a:close/>
                </a:path>
              </a:pathLst>
            </a:custGeom>
            <a:blipFill>
              <a:blip r:embed="rId2">
                <a:alphaModFix amt="37000"/>
              </a:blip>
              <a:stretch>
                <a:fillRect l="0" t="-52578" r="0" b="-52578"/>
              </a:stretch>
            </a:blipFill>
          </p:spPr>
        </p:sp>
      </p:grpSp>
      <p:sp>
        <p:nvSpPr>
          <p:cNvPr name="AutoShape 5" id="5"/>
          <p:cNvSpPr/>
          <p:nvPr/>
        </p:nvSpPr>
        <p:spPr>
          <a:xfrm rot="0">
            <a:off x="0" y="2738152"/>
            <a:ext cx="9753600" cy="47625"/>
          </a:xfrm>
          <a:prstGeom prst="rect">
            <a:avLst/>
          </a:prstGeom>
          <a:solidFill>
            <a:srgbClr val="C6A15B"/>
          </a:solidFill>
        </p:spPr>
      </p:sp>
      <p:grpSp>
        <p:nvGrpSpPr>
          <p:cNvPr name="Group 6" id="6"/>
          <p:cNvGrpSpPr/>
          <p:nvPr/>
        </p:nvGrpSpPr>
        <p:grpSpPr>
          <a:xfrm rot="0">
            <a:off x="381000" y="6376702"/>
            <a:ext cx="5610225" cy="1114425"/>
            <a:chOff x="0" y="0"/>
            <a:chExt cx="7480300" cy="1485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803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7480300">
                  <a:moveTo>
                    <a:pt x="152400" y="0"/>
                  </a:moveTo>
                  <a:lnTo>
                    <a:pt x="7327900" y="0"/>
                  </a:lnTo>
                  <a:cubicBezTo>
                    <a:pt x="7412101" y="0"/>
                    <a:pt x="7480300" y="68199"/>
                    <a:pt x="7480300" y="152400"/>
                  </a:cubicBezTo>
                  <a:lnTo>
                    <a:pt x="7480300" y="1333500"/>
                  </a:lnTo>
                  <a:cubicBezTo>
                    <a:pt x="7480300" y="1417701"/>
                    <a:pt x="7412101" y="1485900"/>
                    <a:pt x="7327900" y="1485900"/>
                  </a:cubicBezTo>
                  <a:lnTo>
                    <a:pt x="152400" y="1485900"/>
                  </a:lnTo>
                  <a:cubicBezTo>
                    <a:pt x="68199" y="1485900"/>
                    <a:pt x="0" y="1417701"/>
                    <a:pt x="0" y="13335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6F5F0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480300" cy="1485900"/>
            </a:xfrm>
            <a:custGeom>
              <a:avLst/>
              <a:gdLst/>
              <a:ahLst/>
              <a:cxnLst/>
              <a:rect r="r" b="b" t="t" l="l"/>
              <a:pathLst>
                <a:path h="1485900" w="7480300">
                  <a:moveTo>
                    <a:pt x="152400" y="0"/>
                  </a:moveTo>
                  <a:lnTo>
                    <a:pt x="7327900" y="0"/>
                  </a:lnTo>
                  <a:cubicBezTo>
                    <a:pt x="7412101" y="0"/>
                    <a:pt x="7480300" y="68199"/>
                    <a:pt x="7480300" y="152400"/>
                  </a:cubicBezTo>
                  <a:lnTo>
                    <a:pt x="7480300" y="1333500"/>
                  </a:lnTo>
                  <a:cubicBezTo>
                    <a:pt x="7480300" y="1417701"/>
                    <a:pt x="7412101" y="1485900"/>
                    <a:pt x="7327900" y="1485900"/>
                  </a:cubicBezTo>
                  <a:lnTo>
                    <a:pt x="152400" y="1485900"/>
                  </a:lnTo>
                  <a:cubicBezTo>
                    <a:pt x="68199" y="1485900"/>
                    <a:pt x="0" y="1417701"/>
                    <a:pt x="0" y="13335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7E3D9"/>
              </a:solidFill>
              <a:prstDash val="solid"/>
              <a:miter/>
            </a:ln>
          </p:spPr>
        </p:sp>
      </p:grpSp>
      <p:sp>
        <p:nvSpPr>
          <p:cNvPr name="AutoShape 9" id="9"/>
          <p:cNvSpPr/>
          <p:nvPr/>
        </p:nvSpPr>
        <p:spPr>
          <a:xfrm rot="0">
            <a:off x="381000" y="7643527"/>
            <a:ext cx="1793843" cy="38100"/>
          </a:xfrm>
          <a:prstGeom prst="rect">
            <a:avLst/>
          </a:prstGeom>
          <a:solidFill>
            <a:srgbClr val="5B9E2E"/>
          </a:solidFill>
        </p:spPr>
      </p:sp>
      <p:sp>
        <p:nvSpPr>
          <p:cNvPr name="AutoShape 10" id="10"/>
          <p:cNvSpPr/>
          <p:nvPr/>
        </p:nvSpPr>
        <p:spPr>
          <a:xfrm rot="0">
            <a:off x="2165318" y="7681627"/>
            <a:ext cx="9525" cy="2601563"/>
          </a:xfrm>
          <a:prstGeom prst="rect">
            <a:avLst/>
          </a:prstGeom>
          <a:solidFill>
            <a:srgbClr val="DCDCCF"/>
          </a:solidFill>
        </p:spPr>
      </p:sp>
      <p:sp>
        <p:nvSpPr>
          <p:cNvPr name="AutoShape 11" id="11"/>
          <p:cNvSpPr/>
          <p:nvPr/>
        </p:nvSpPr>
        <p:spPr>
          <a:xfrm rot="0">
            <a:off x="381000" y="10283190"/>
            <a:ext cx="1793843" cy="9525"/>
          </a:xfrm>
          <a:prstGeom prst="rect">
            <a:avLst/>
          </a:prstGeom>
          <a:solidFill>
            <a:srgbClr val="DCDCCF"/>
          </a:solidFill>
        </p:spPr>
      </p:sp>
      <p:sp>
        <p:nvSpPr>
          <p:cNvPr name="AutoShape 12" id="12"/>
          <p:cNvSpPr/>
          <p:nvPr/>
        </p:nvSpPr>
        <p:spPr>
          <a:xfrm rot="0">
            <a:off x="381000" y="7681627"/>
            <a:ext cx="9525" cy="2601563"/>
          </a:xfrm>
          <a:prstGeom prst="rect">
            <a:avLst/>
          </a:prstGeom>
          <a:solidFill>
            <a:srgbClr val="DCDCCF"/>
          </a:solidFill>
        </p:spPr>
      </p:sp>
      <p:sp>
        <p:nvSpPr>
          <p:cNvPr name="AutoShape 13" id="13"/>
          <p:cNvSpPr/>
          <p:nvPr/>
        </p:nvSpPr>
        <p:spPr>
          <a:xfrm rot="0">
            <a:off x="2289143" y="7643527"/>
            <a:ext cx="1793843" cy="38100"/>
          </a:xfrm>
          <a:prstGeom prst="rect">
            <a:avLst/>
          </a:prstGeom>
          <a:solidFill>
            <a:srgbClr val="C6A15B"/>
          </a:solidFill>
        </p:spPr>
      </p:sp>
      <p:sp>
        <p:nvSpPr>
          <p:cNvPr name="AutoShape 14" id="14"/>
          <p:cNvSpPr/>
          <p:nvPr/>
        </p:nvSpPr>
        <p:spPr>
          <a:xfrm rot="0">
            <a:off x="4073462" y="7681627"/>
            <a:ext cx="9525" cy="2601563"/>
          </a:xfrm>
          <a:prstGeom prst="rect">
            <a:avLst/>
          </a:prstGeom>
          <a:solidFill>
            <a:srgbClr val="DCDCCF"/>
          </a:solidFill>
        </p:spPr>
      </p:sp>
      <p:sp>
        <p:nvSpPr>
          <p:cNvPr name="AutoShape 15" id="15"/>
          <p:cNvSpPr/>
          <p:nvPr/>
        </p:nvSpPr>
        <p:spPr>
          <a:xfrm rot="0">
            <a:off x="2289143" y="10283190"/>
            <a:ext cx="1793843" cy="9525"/>
          </a:xfrm>
          <a:prstGeom prst="rect">
            <a:avLst/>
          </a:prstGeom>
          <a:solidFill>
            <a:srgbClr val="DCDCCF"/>
          </a:solidFill>
        </p:spPr>
      </p:sp>
      <p:sp>
        <p:nvSpPr>
          <p:cNvPr name="AutoShape 16" id="16"/>
          <p:cNvSpPr/>
          <p:nvPr/>
        </p:nvSpPr>
        <p:spPr>
          <a:xfrm rot="0">
            <a:off x="2289143" y="7681627"/>
            <a:ext cx="9525" cy="2601563"/>
          </a:xfrm>
          <a:prstGeom prst="rect">
            <a:avLst/>
          </a:prstGeom>
          <a:solidFill>
            <a:srgbClr val="DCDCCF"/>
          </a:solidFill>
        </p:spPr>
      </p:sp>
      <p:sp>
        <p:nvSpPr>
          <p:cNvPr name="TextBox 17" id="17"/>
          <p:cNvSpPr txBox="true"/>
          <p:nvPr/>
        </p:nvSpPr>
        <p:spPr>
          <a:xfrm rot="0">
            <a:off x="2600325" y="8832056"/>
            <a:ext cx="150809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sz="1012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Scholarships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613898" y="9060656"/>
            <a:ext cx="150809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sz="1012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Player development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613898" y="9260681"/>
            <a:ext cx="150809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sz="1012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Fields &amp; facilities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613898" y="9479756"/>
            <a:ext cx="150809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sz="1012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Club growth</a:t>
            </a:r>
          </a:p>
        </p:txBody>
      </p:sp>
      <p:sp>
        <p:nvSpPr>
          <p:cNvPr name="AutoShape 21" id="21"/>
          <p:cNvSpPr/>
          <p:nvPr/>
        </p:nvSpPr>
        <p:spPr>
          <a:xfrm rot="0">
            <a:off x="4197286" y="7643527"/>
            <a:ext cx="1793843" cy="38100"/>
          </a:xfrm>
          <a:prstGeom prst="rect">
            <a:avLst/>
          </a:prstGeom>
          <a:solidFill>
            <a:srgbClr val="141414"/>
          </a:solidFill>
        </p:spPr>
      </p:sp>
      <p:sp>
        <p:nvSpPr>
          <p:cNvPr name="AutoShape 22" id="22"/>
          <p:cNvSpPr/>
          <p:nvPr/>
        </p:nvSpPr>
        <p:spPr>
          <a:xfrm rot="0">
            <a:off x="5981605" y="7681627"/>
            <a:ext cx="9525" cy="2601563"/>
          </a:xfrm>
          <a:prstGeom prst="rect">
            <a:avLst/>
          </a:prstGeom>
          <a:solidFill>
            <a:srgbClr val="DCDCCF"/>
          </a:solidFill>
        </p:spPr>
      </p:sp>
      <p:sp>
        <p:nvSpPr>
          <p:cNvPr name="AutoShape 23" id="23"/>
          <p:cNvSpPr/>
          <p:nvPr/>
        </p:nvSpPr>
        <p:spPr>
          <a:xfrm rot="0">
            <a:off x="4197286" y="10283190"/>
            <a:ext cx="1793843" cy="9525"/>
          </a:xfrm>
          <a:prstGeom prst="rect">
            <a:avLst/>
          </a:prstGeom>
          <a:solidFill>
            <a:srgbClr val="DCDCCF"/>
          </a:solidFill>
        </p:spPr>
      </p:sp>
      <p:sp>
        <p:nvSpPr>
          <p:cNvPr name="AutoShape 24" id="24"/>
          <p:cNvSpPr/>
          <p:nvPr/>
        </p:nvSpPr>
        <p:spPr>
          <a:xfrm rot="0">
            <a:off x="4197286" y="7681627"/>
            <a:ext cx="9525" cy="2601563"/>
          </a:xfrm>
          <a:prstGeom prst="rect">
            <a:avLst/>
          </a:prstGeom>
          <a:solidFill>
            <a:srgbClr val="DCDCCF"/>
          </a:solidFill>
        </p:spPr>
      </p:sp>
      <p:sp>
        <p:nvSpPr>
          <p:cNvPr name="TextBox 25" id="25"/>
          <p:cNvSpPr txBox="true"/>
          <p:nvPr/>
        </p:nvSpPr>
        <p:spPr>
          <a:xfrm rot="0">
            <a:off x="4555331" y="9016270"/>
            <a:ext cx="150809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sz="1012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Build your own base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559236" y="9216295"/>
            <a:ext cx="150809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sz="1012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Share Healthy Starts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559236" y="9443466"/>
            <a:ext cx="1768123" cy="164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sz="1012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Create recurring income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390525" y="10473690"/>
            <a:ext cx="5591080" cy="1512475"/>
            <a:chOff x="0" y="0"/>
            <a:chExt cx="7454773" cy="201663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454773" cy="2016633"/>
            </a:xfrm>
            <a:custGeom>
              <a:avLst/>
              <a:gdLst/>
              <a:ahLst/>
              <a:cxnLst/>
              <a:rect r="r" b="b" t="t" l="l"/>
              <a:pathLst>
                <a:path h="2016633" w="7454773">
                  <a:moveTo>
                    <a:pt x="151880" y="0"/>
                  </a:moveTo>
                  <a:lnTo>
                    <a:pt x="7302893" y="0"/>
                  </a:lnTo>
                  <a:cubicBezTo>
                    <a:pt x="7386806" y="0"/>
                    <a:pt x="7454773" y="52621"/>
                    <a:pt x="7454773" y="117588"/>
                  </a:cubicBezTo>
                  <a:lnTo>
                    <a:pt x="7454773" y="1899045"/>
                  </a:lnTo>
                  <a:cubicBezTo>
                    <a:pt x="7454773" y="1964012"/>
                    <a:pt x="7386806" y="2016633"/>
                    <a:pt x="7302893" y="2016633"/>
                  </a:cubicBezTo>
                  <a:lnTo>
                    <a:pt x="151880" y="2016633"/>
                  </a:lnTo>
                  <a:cubicBezTo>
                    <a:pt x="67966" y="2016633"/>
                    <a:pt x="0" y="1964012"/>
                    <a:pt x="0" y="1899045"/>
                  </a:cubicBezTo>
                  <a:lnTo>
                    <a:pt x="0" y="117588"/>
                  </a:lnTo>
                  <a:cubicBezTo>
                    <a:pt x="0" y="52621"/>
                    <a:pt x="67966" y="0"/>
                    <a:pt x="151880" y="0"/>
                  </a:cubicBezTo>
                  <a:close/>
                </a:path>
              </a:pathLst>
            </a:custGeom>
            <a:solidFill>
              <a:srgbClr val="EEF4E7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7454773" cy="2016633"/>
            </a:xfrm>
            <a:custGeom>
              <a:avLst/>
              <a:gdLst/>
              <a:ahLst/>
              <a:cxnLst/>
              <a:rect r="r" b="b" t="t" l="l"/>
              <a:pathLst>
                <a:path h="2016633" w="7454773">
                  <a:moveTo>
                    <a:pt x="151880" y="0"/>
                  </a:moveTo>
                  <a:lnTo>
                    <a:pt x="7302893" y="0"/>
                  </a:lnTo>
                  <a:cubicBezTo>
                    <a:pt x="7386806" y="0"/>
                    <a:pt x="7454773" y="52621"/>
                    <a:pt x="7454773" y="117588"/>
                  </a:cubicBezTo>
                  <a:lnTo>
                    <a:pt x="7454773" y="1899045"/>
                  </a:lnTo>
                  <a:cubicBezTo>
                    <a:pt x="7454773" y="1964012"/>
                    <a:pt x="7386806" y="2016633"/>
                    <a:pt x="7302893" y="2016633"/>
                  </a:cubicBezTo>
                  <a:lnTo>
                    <a:pt x="151880" y="2016633"/>
                  </a:lnTo>
                  <a:cubicBezTo>
                    <a:pt x="67966" y="2016633"/>
                    <a:pt x="0" y="1964012"/>
                    <a:pt x="0" y="1899045"/>
                  </a:cubicBezTo>
                  <a:lnTo>
                    <a:pt x="0" y="117588"/>
                  </a:lnTo>
                  <a:cubicBezTo>
                    <a:pt x="0" y="52621"/>
                    <a:pt x="67966" y="0"/>
                    <a:pt x="15188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DBE6CF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561975" y="12071890"/>
            <a:ext cx="1254919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b="true" sz="900" spc="18">
                <a:solidFill>
                  <a:srgbClr val="2F5E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FOCUS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893094" y="12071890"/>
            <a:ext cx="1254919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b="true" sz="900" spc="18">
                <a:solidFill>
                  <a:srgbClr val="2F5E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STRONG BODIES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3224212" y="12071890"/>
            <a:ext cx="1254919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b="true" sz="900" spc="18">
                <a:solidFill>
                  <a:srgbClr val="2F5E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BETTER SLEEP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555331" y="12071890"/>
            <a:ext cx="1254919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b="true" sz="900" spc="18">
                <a:solidFill>
                  <a:srgbClr val="2F5E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BALANCED MOOD</a:t>
            </a:r>
          </a:p>
        </p:txBody>
      </p:sp>
      <p:sp>
        <p:nvSpPr>
          <p:cNvPr name="AutoShape 35" id="35"/>
          <p:cNvSpPr/>
          <p:nvPr/>
        </p:nvSpPr>
        <p:spPr>
          <a:xfrm rot="0">
            <a:off x="6238875" y="2785777"/>
            <a:ext cx="3514725" cy="8979694"/>
          </a:xfrm>
          <a:prstGeom prst="rect">
            <a:avLst/>
          </a:prstGeom>
          <a:solidFill>
            <a:srgbClr val="FAF9F6"/>
          </a:solidFill>
        </p:spPr>
      </p:sp>
      <p:sp>
        <p:nvSpPr>
          <p:cNvPr name="AutoShape 36" id="36"/>
          <p:cNvSpPr/>
          <p:nvPr/>
        </p:nvSpPr>
        <p:spPr>
          <a:xfrm rot="0">
            <a:off x="6238875" y="2785777"/>
            <a:ext cx="9525" cy="8979694"/>
          </a:xfrm>
          <a:prstGeom prst="rect">
            <a:avLst/>
          </a:prstGeom>
          <a:solidFill>
            <a:srgbClr val="ECEADF"/>
          </a:solidFill>
        </p:spPr>
      </p:sp>
      <p:grpSp>
        <p:nvGrpSpPr>
          <p:cNvPr name="Group 37" id="37"/>
          <p:cNvGrpSpPr/>
          <p:nvPr/>
        </p:nvGrpSpPr>
        <p:grpSpPr>
          <a:xfrm rot="0">
            <a:off x="6438900" y="3052477"/>
            <a:ext cx="2933700" cy="2257425"/>
            <a:chOff x="0" y="0"/>
            <a:chExt cx="3911600" cy="30099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3911600" cy="3009900"/>
            </a:xfrm>
            <a:custGeom>
              <a:avLst/>
              <a:gdLst/>
              <a:ahLst/>
              <a:cxnLst/>
              <a:rect r="r" b="b" t="t" l="l"/>
              <a:pathLst>
                <a:path h="3009900" w="3911600">
                  <a:moveTo>
                    <a:pt x="152400" y="0"/>
                  </a:moveTo>
                  <a:lnTo>
                    <a:pt x="3759200" y="0"/>
                  </a:lnTo>
                  <a:cubicBezTo>
                    <a:pt x="3843401" y="0"/>
                    <a:pt x="3911600" y="68199"/>
                    <a:pt x="3911600" y="152400"/>
                  </a:cubicBezTo>
                  <a:lnTo>
                    <a:pt x="3911600" y="2857500"/>
                  </a:lnTo>
                  <a:cubicBezTo>
                    <a:pt x="3911600" y="2941701"/>
                    <a:pt x="3843401" y="3009900"/>
                    <a:pt x="3759200" y="3009900"/>
                  </a:cubicBezTo>
                  <a:lnTo>
                    <a:pt x="152400" y="3009900"/>
                  </a:lnTo>
                  <a:cubicBezTo>
                    <a:pt x="68199" y="3009900"/>
                    <a:pt x="0" y="2941701"/>
                    <a:pt x="0" y="28575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141414"/>
            </a:solidFill>
          </p:spPr>
        </p:sp>
      </p:grpSp>
      <p:sp>
        <p:nvSpPr>
          <p:cNvPr name="TextBox 39" id="39"/>
          <p:cNvSpPr txBox="true"/>
          <p:nvPr/>
        </p:nvSpPr>
        <p:spPr>
          <a:xfrm rot="0">
            <a:off x="6610350" y="3938302"/>
            <a:ext cx="25908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E7E4DC"/>
                </a:solidFill>
                <a:latin typeface="Barlow"/>
                <a:ea typeface="Barlow"/>
                <a:cs typeface="Barlow"/>
                <a:sym typeface="Barlow"/>
              </a:rPr>
              <a:t>Supports healthy habits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10350" y="4195477"/>
            <a:ext cx="25908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E7E4DC"/>
                </a:solidFill>
                <a:latin typeface="Barlow"/>
                <a:ea typeface="Barlow"/>
                <a:cs typeface="Barlow"/>
                <a:sym typeface="Barlow"/>
              </a:rPr>
              <a:t>Research-backed products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610350" y="4452652"/>
            <a:ext cx="25908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E7E4DC"/>
                </a:solidFill>
                <a:latin typeface="Barlow"/>
                <a:ea typeface="Barlow"/>
                <a:cs typeface="Barlow"/>
                <a:sym typeface="Barlow"/>
              </a:rPr>
              <a:t>Convenient subscriptions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610350" y="4709827"/>
            <a:ext cx="25908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E7E4DC"/>
                </a:solidFill>
                <a:latin typeface="Barlow"/>
                <a:ea typeface="Barlow"/>
                <a:cs typeface="Barlow"/>
                <a:sym typeface="Barlow"/>
              </a:rPr>
              <a:t>Supports Bend FC every month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6610350" y="4967002"/>
            <a:ext cx="25908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E7E4DC"/>
                </a:solidFill>
                <a:latin typeface="Barlow"/>
                <a:ea typeface="Barlow"/>
                <a:cs typeface="Barlow"/>
                <a:sym typeface="Barlow"/>
              </a:rPr>
              <a:t>Optional business opportunity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438900" y="7348252"/>
            <a:ext cx="2933700" cy="1238250"/>
            <a:chOff x="0" y="0"/>
            <a:chExt cx="3911600" cy="1651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39116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911600">
                  <a:moveTo>
                    <a:pt x="152400" y="0"/>
                  </a:moveTo>
                  <a:lnTo>
                    <a:pt x="3759200" y="0"/>
                  </a:lnTo>
                  <a:cubicBezTo>
                    <a:pt x="3843401" y="0"/>
                    <a:pt x="3911600" y="68199"/>
                    <a:pt x="3911600" y="152400"/>
                  </a:cubicBezTo>
                  <a:lnTo>
                    <a:pt x="3911600" y="1498600"/>
                  </a:lnTo>
                  <a:cubicBezTo>
                    <a:pt x="3911600" y="1582801"/>
                    <a:pt x="3843401" y="1651000"/>
                    <a:pt x="3759200" y="1651000"/>
                  </a:cubicBezTo>
                  <a:lnTo>
                    <a:pt x="152400" y="1651000"/>
                  </a:lnTo>
                  <a:cubicBezTo>
                    <a:pt x="68199" y="1651000"/>
                    <a:pt x="0" y="1582801"/>
                    <a:pt x="0" y="14986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39116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3911600">
                  <a:moveTo>
                    <a:pt x="152400" y="0"/>
                  </a:moveTo>
                  <a:lnTo>
                    <a:pt x="3759200" y="0"/>
                  </a:lnTo>
                  <a:cubicBezTo>
                    <a:pt x="3843401" y="0"/>
                    <a:pt x="3911600" y="68199"/>
                    <a:pt x="3911600" y="152400"/>
                  </a:cubicBezTo>
                  <a:lnTo>
                    <a:pt x="3911600" y="1498600"/>
                  </a:lnTo>
                  <a:cubicBezTo>
                    <a:pt x="3911600" y="1582801"/>
                    <a:pt x="3843401" y="1651000"/>
                    <a:pt x="3759200" y="1651000"/>
                  </a:cubicBezTo>
                  <a:lnTo>
                    <a:pt x="152400" y="1651000"/>
                  </a:lnTo>
                  <a:cubicBezTo>
                    <a:pt x="68199" y="1651000"/>
                    <a:pt x="0" y="1582801"/>
                    <a:pt x="0" y="14986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C6A15B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6438900" y="8719852"/>
            <a:ext cx="2933700" cy="2836069"/>
            <a:chOff x="0" y="0"/>
            <a:chExt cx="3911600" cy="3781425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3911600" cy="3781425"/>
            </a:xfrm>
            <a:custGeom>
              <a:avLst/>
              <a:gdLst/>
              <a:ahLst/>
              <a:cxnLst/>
              <a:rect r="r" b="b" t="t" l="l"/>
              <a:pathLst>
                <a:path h="3781425" w="3911600">
                  <a:moveTo>
                    <a:pt x="152400" y="0"/>
                  </a:moveTo>
                  <a:lnTo>
                    <a:pt x="3759200" y="0"/>
                  </a:lnTo>
                  <a:cubicBezTo>
                    <a:pt x="3843401" y="0"/>
                    <a:pt x="3911600" y="68199"/>
                    <a:pt x="3911600" y="152400"/>
                  </a:cubicBezTo>
                  <a:lnTo>
                    <a:pt x="3911600" y="3629025"/>
                  </a:lnTo>
                  <a:cubicBezTo>
                    <a:pt x="3911600" y="3713226"/>
                    <a:pt x="3843401" y="3781425"/>
                    <a:pt x="3759200" y="3781425"/>
                  </a:cubicBezTo>
                  <a:lnTo>
                    <a:pt x="152400" y="3781425"/>
                  </a:lnTo>
                  <a:cubicBezTo>
                    <a:pt x="68199" y="3781425"/>
                    <a:pt x="0" y="3713226"/>
                    <a:pt x="0" y="3629025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911600" cy="3781425"/>
            </a:xfrm>
            <a:custGeom>
              <a:avLst/>
              <a:gdLst/>
              <a:ahLst/>
              <a:cxnLst/>
              <a:rect r="r" b="b" t="t" l="l"/>
              <a:pathLst>
                <a:path h="3781425" w="3911600">
                  <a:moveTo>
                    <a:pt x="152400" y="0"/>
                  </a:moveTo>
                  <a:lnTo>
                    <a:pt x="3759200" y="0"/>
                  </a:lnTo>
                  <a:cubicBezTo>
                    <a:pt x="3843401" y="0"/>
                    <a:pt x="3911600" y="68199"/>
                    <a:pt x="3911600" y="152400"/>
                  </a:cubicBezTo>
                  <a:lnTo>
                    <a:pt x="3911600" y="3629025"/>
                  </a:lnTo>
                  <a:cubicBezTo>
                    <a:pt x="3911600" y="3713226"/>
                    <a:pt x="3843401" y="3781425"/>
                    <a:pt x="3759200" y="3781425"/>
                  </a:cubicBezTo>
                  <a:lnTo>
                    <a:pt x="152400" y="3781425"/>
                  </a:lnTo>
                  <a:cubicBezTo>
                    <a:pt x="68199" y="3781425"/>
                    <a:pt x="0" y="3713226"/>
                    <a:pt x="0" y="3629025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4E0D6"/>
              </a:solidFill>
              <a:prstDash val="solid"/>
              <a:miter/>
            </a:ln>
          </p:spPr>
        </p:sp>
      </p:grpSp>
      <p:sp>
        <p:nvSpPr>
          <p:cNvPr name="AutoShape 50" id="50"/>
          <p:cNvSpPr/>
          <p:nvPr/>
        </p:nvSpPr>
        <p:spPr>
          <a:xfrm rot="0">
            <a:off x="6600825" y="9348502"/>
            <a:ext cx="2609850" cy="9525"/>
          </a:xfrm>
          <a:prstGeom prst="rect">
            <a:avLst/>
          </a:prstGeom>
          <a:solidFill>
            <a:srgbClr val="F0EDE4"/>
          </a:solidFill>
        </p:spPr>
      </p:sp>
      <p:sp>
        <p:nvSpPr>
          <p:cNvPr name="AutoShape 51" id="51"/>
          <p:cNvSpPr/>
          <p:nvPr/>
        </p:nvSpPr>
        <p:spPr>
          <a:xfrm rot="0">
            <a:off x="6600825" y="9634252"/>
            <a:ext cx="2609850" cy="9525"/>
          </a:xfrm>
          <a:prstGeom prst="rect">
            <a:avLst/>
          </a:prstGeom>
          <a:solidFill>
            <a:srgbClr val="F0EDE4"/>
          </a:solidFill>
        </p:spPr>
      </p:sp>
      <p:sp>
        <p:nvSpPr>
          <p:cNvPr name="AutoShape 52" id="52"/>
          <p:cNvSpPr/>
          <p:nvPr/>
        </p:nvSpPr>
        <p:spPr>
          <a:xfrm rot="0">
            <a:off x="6600825" y="9920002"/>
            <a:ext cx="2609850" cy="9525"/>
          </a:xfrm>
          <a:prstGeom prst="rect">
            <a:avLst/>
          </a:prstGeom>
          <a:solidFill>
            <a:srgbClr val="F0EDE4"/>
          </a:solidFill>
        </p:spPr>
      </p:sp>
      <p:sp>
        <p:nvSpPr>
          <p:cNvPr name="AutoShape 53" id="53"/>
          <p:cNvSpPr/>
          <p:nvPr/>
        </p:nvSpPr>
        <p:spPr>
          <a:xfrm rot="0">
            <a:off x="6600825" y="10205752"/>
            <a:ext cx="2609850" cy="9525"/>
          </a:xfrm>
          <a:prstGeom prst="rect">
            <a:avLst/>
          </a:prstGeom>
          <a:solidFill>
            <a:srgbClr val="F0EDE4"/>
          </a:solidFill>
        </p:spPr>
      </p:sp>
      <p:sp>
        <p:nvSpPr>
          <p:cNvPr name="AutoShape 54" id="54"/>
          <p:cNvSpPr/>
          <p:nvPr/>
        </p:nvSpPr>
        <p:spPr>
          <a:xfrm rot="0">
            <a:off x="0" y="12071890"/>
            <a:ext cx="9753600" cy="548735"/>
          </a:xfrm>
          <a:prstGeom prst="rect">
            <a:avLst/>
          </a:prstGeom>
          <a:solidFill>
            <a:srgbClr val="141414"/>
          </a:solidFill>
        </p:spPr>
      </p:sp>
      <p:sp>
        <p:nvSpPr>
          <p:cNvPr name="AutoShape 55" id="55"/>
          <p:cNvSpPr/>
          <p:nvPr/>
        </p:nvSpPr>
        <p:spPr>
          <a:xfrm rot="0">
            <a:off x="2752725" y="3052477"/>
            <a:ext cx="3238500" cy="2133600"/>
          </a:xfrm>
          <a:prstGeom prst="rect">
            <a:avLst/>
          </a:prstGeom>
          <a:solidFill>
            <a:srgbClr val="FFFFFF"/>
          </a:solidFill>
        </p:spPr>
      </p:sp>
      <p:grpSp>
        <p:nvGrpSpPr>
          <p:cNvPr name="Group 56" id="56"/>
          <p:cNvGrpSpPr/>
          <p:nvPr/>
        </p:nvGrpSpPr>
        <p:grpSpPr>
          <a:xfrm rot="0">
            <a:off x="2752725" y="3052477"/>
            <a:ext cx="3238500" cy="2133600"/>
            <a:chOff x="0" y="0"/>
            <a:chExt cx="4318000" cy="2844800"/>
          </a:xfrm>
        </p:grpSpPr>
        <p:sp>
          <p:nvSpPr>
            <p:cNvPr name="Freeform 57" id="57"/>
            <p:cNvSpPr/>
            <p:nvPr/>
          </p:nvSpPr>
          <p:spPr>
            <a:xfrm flipH="false" flipV="false" rot="0">
              <a:off x="0" y="0"/>
              <a:ext cx="4318000" cy="2844800"/>
            </a:xfrm>
            <a:custGeom>
              <a:avLst/>
              <a:gdLst/>
              <a:ahLst/>
              <a:cxnLst/>
              <a:rect r="r" b="b" t="t" l="l"/>
              <a:pathLst>
                <a:path h="2844800" w="4318000">
                  <a:moveTo>
                    <a:pt x="127000" y="0"/>
                  </a:moveTo>
                  <a:lnTo>
                    <a:pt x="4191000" y="0"/>
                  </a:lnTo>
                  <a:cubicBezTo>
                    <a:pt x="4261104" y="0"/>
                    <a:pt x="4318000" y="56896"/>
                    <a:pt x="4318000" y="127000"/>
                  </a:cubicBezTo>
                  <a:lnTo>
                    <a:pt x="4318000" y="2717800"/>
                  </a:lnTo>
                  <a:cubicBezTo>
                    <a:pt x="4318000" y="2787904"/>
                    <a:pt x="4261104" y="2844800"/>
                    <a:pt x="4191000" y="2844800"/>
                  </a:cubicBezTo>
                  <a:lnTo>
                    <a:pt x="127000" y="2844800"/>
                  </a:lnTo>
                  <a:cubicBezTo>
                    <a:pt x="56896" y="2844800"/>
                    <a:pt x="0" y="2787904"/>
                    <a:pt x="0" y="2717800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blipFill>
              <a:blip r:embed="rId3"/>
              <a:stretch>
                <a:fillRect l="588" t="0" r="588" b="0"/>
              </a:stretch>
            </a:blipFill>
          </p:spPr>
        </p:sp>
      </p:grpSp>
      <p:sp>
        <p:nvSpPr>
          <p:cNvPr name="Freeform 58" id="58"/>
          <p:cNvSpPr/>
          <p:nvPr/>
        </p:nvSpPr>
        <p:spPr>
          <a:xfrm flipH="false" flipV="false" rot="0">
            <a:off x="1617917" y="6838664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3158395" y="6829139"/>
            <a:ext cx="209550" cy="209550"/>
          </a:xfrm>
          <a:custGeom>
            <a:avLst/>
            <a:gdLst/>
            <a:ahLst/>
            <a:cxnLst/>
            <a:rect r="r" b="b" t="t" l="l"/>
            <a:pathLst>
              <a:path h="209550" w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4468558" y="6829139"/>
            <a:ext cx="209550" cy="209550"/>
          </a:xfrm>
          <a:custGeom>
            <a:avLst/>
            <a:gdLst/>
            <a:ahLst/>
            <a:cxnLst/>
            <a:rect r="r" b="b" t="t" l="l"/>
            <a:pathLst>
              <a:path h="209550" w="209550">
                <a:moveTo>
                  <a:pt x="0" y="0"/>
                </a:moveTo>
                <a:lnTo>
                  <a:pt x="209550" y="0"/>
                </a:lnTo>
                <a:lnTo>
                  <a:pt x="209550" y="209550"/>
                </a:lnTo>
                <a:lnTo>
                  <a:pt x="0" y="2095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1" id="61"/>
          <p:cNvSpPr/>
          <p:nvPr/>
        </p:nvSpPr>
        <p:spPr>
          <a:xfrm flipH="false" flipV="false" rot="0">
            <a:off x="523875" y="7814977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2" id="62"/>
          <p:cNvSpPr/>
          <p:nvPr/>
        </p:nvSpPr>
        <p:spPr>
          <a:xfrm flipH="false" flipV="false" rot="0">
            <a:off x="2432018" y="7814977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3" id="63"/>
          <p:cNvSpPr/>
          <p:nvPr/>
        </p:nvSpPr>
        <p:spPr>
          <a:xfrm flipH="false" flipV="false" rot="0">
            <a:off x="2432018" y="8870156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4" id="64"/>
          <p:cNvSpPr/>
          <p:nvPr/>
        </p:nvSpPr>
        <p:spPr>
          <a:xfrm flipH="false" flipV="false" rot="0">
            <a:off x="2432018" y="9079706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5" id="65"/>
          <p:cNvSpPr/>
          <p:nvPr/>
        </p:nvSpPr>
        <p:spPr>
          <a:xfrm flipH="false" flipV="false" rot="0">
            <a:off x="2432018" y="9289256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6" id="66"/>
          <p:cNvSpPr/>
          <p:nvPr/>
        </p:nvSpPr>
        <p:spPr>
          <a:xfrm flipH="false" flipV="false" rot="0">
            <a:off x="2432018" y="9498806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7" id="67"/>
          <p:cNvSpPr/>
          <p:nvPr/>
        </p:nvSpPr>
        <p:spPr>
          <a:xfrm flipH="false" flipV="false" rot="0">
            <a:off x="4340162" y="7814977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8" id="68"/>
          <p:cNvSpPr/>
          <p:nvPr/>
        </p:nvSpPr>
        <p:spPr>
          <a:xfrm flipH="false" flipV="false" rot="0">
            <a:off x="4340162" y="9035320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4" y="0"/>
                </a:lnTo>
                <a:lnTo>
                  <a:pt x="142874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9" id="69"/>
          <p:cNvSpPr/>
          <p:nvPr/>
        </p:nvSpPr>
        <p:spPr>
          <a:xfrm flipH="false" flipV="false" rot="0">
            <a:off x="4340162" y="9244870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4" y="0"/>
                </a:lnTo>
                <a:lnTo>
                  <a:pt x="142874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0" id="70"/>
          <p:cNvSpPr/>
          <p:nvPr/>
        </p:nvSpPr>
        <p:spPr>
          <a:xfrm flipH="false" flipV="false" rot="0">
            <a:off x="4330446" y="9473470"/>
            <a:ext cx="138112" cy="142875"/>
          </a:xfrm>
          <a:custGeom>
            <a:avLst/>
            <a:gdLst/>
            <a:ahLst/>
            <a:cxnLst/>
            <a:rect r="r" b="b" t="t" l="l"/>
            <a:pathLst>
              <a:path h="142875" w="138112">
                <a:moveTo>
                  <a:pt x="0" y="0"/>
                </a:moveTo>
                <a:lnTo>
                  <a:pt x="138112" y="0"/>
                </a:lnTo>
                <a:lnTo>
                  <a:pt x="138112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1" id="71"/>
          <p:cNvGrpSpPr/>
          <p:nvPr/>
        </p:nvGrpSpPr>
        <p:grpSpPr>
          <a:xfrm rot="0">
            <a:off x="743212" y="11490865"/>
            <a:ext cx="4830366" cy="458793"/>
            <a:chOff x="0" y="0"/>
            <a:chExt cx="6440488" cy="611725"/>
          </a:xfrm>
        </p:grpSpPr>
        <p:grpSp>
          <p:nvGrpSpPr>
            <p:cNvPr name="Group 72" id="72"/>
            <p:cNvGrpSpPr/>
            <p:nvPr/>
          </p:nvGrpSpPr>
          <p:grpSpPr>
            <a:xfrm rot="0">
              <a:off x="0" y="0"/>
              <a:ext cx="611725" cy="611725"/>
              <a:chOff x="0" y="0"/>
              <a:chExt cx="558800" cy="558800"/>
            </a:xfrm>
          </p:grpSpPr>
          <p:sp>
            <p:nvSpPr>
              <p:cNvPr name="Freeform 73" id="73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279400" y="0"/>
                    </a:moveTo>
                    <a:cubicBezTo>
                      <a:pt x="433705" y="0"/>
                      <a:pt x="558800" y="125095"/>
                      <a:pt x="558800" y="279400"/>
                    </a:cubicBezTo>
                    <a:cubicBezTo>
                      <a:pt x="558800" y="433705"/>
                      <a:pt x="433705" y="558800"/>
                      <a:pt x="279400" y="558800"/>
                    </a:cubicBezTo>
                    <a:cubicBezTo>
                      <a:pt x="125095" y="558800"/>
                      <a:pt x="0" y="433705"/>
                      <a:pt x="0" y="279400"/>
                    </a:cubicBezTo>
                    <a:cubicBezTo>
                      <a:pt x="0" y="125095"/>
                      <a:pt x="125095" y="0"/>
                      <a:pt x="279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74" id="74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279400" y="0"/>
                    </a:moveTo>
                    <a:cubicBezTo>
                      <a:pt x="433705" y="0"/>
                      <a:pt x="558800" y="125095"/>
                      <a:pt x="558800" y="279400"/>
                    </a:cubicBezTo>
                    <a:cubicBezTo>
                      <a:pt x="558800" y="433705"/>
                      <a:pt x="433705" y="558800"/>
                      <a:pt x="279400" y="558800"/>
                    </a:cubicBezTo>
                    <a:cubicBezTo>
                      <a:pt x="125095" y="558800"/>
                      <a:pt x="0" y="433705"/>
                      <a:pt x="0" y="279400"/>
                    </a:cubicBezTo>
                    <a:cubicBezTo>
                      <a:pt x="0" y="125095"/>
                      <a:pt x="125095" y="0"/>
                      <a:pt x="279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6E3C8"/>
                </a:solidFill>
                <a:prstDash val="solid"/>
                <a:miter/>
              </a:ln>
            </p:spPr>
          </p:sp>
        </p:grpSp>
        <p:grpSp>
          <p:nvGrpSpPr>
            <p:cNvPr name="Group 75" id="75"/>
            <p:cNvGrpSpPr/>
            <p:nvPr/>
          </p:nvGrpSpPr>
          <p:grpSpPr>
            <a:xfrm rot="0">
              <a:off x="1942921" y="0"/>
              <a:ext cx="611725" cy="611725"/>
              <a:chOff x="0" y="0"/>
              <a:chExt cx="558800" cy="558800"/>
            </a:xfrm>
          </p:grpSpPr>
          <p:sp>
            <p:nvSpPr>
              <p:cNvPr name="Freeform 76" id="76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279400" y="0"/>
                    </a:moveTo>
                    <a:cubicBezTo>
                      <a:pt x="433705" y="0"/>
                      <a:pt x="558800" y="125095"/>
                      <a:pt x="558800" y="279400"/>
                    </a:cubicBezTo>
                    <a:cubicBezTo>
                      <a:pt x="558800" y="433705"/>
                      <a:pt x="433705" y="558800"/>
                      <a:pt x="279400" y="558800"/>
                    </a:cubicBezTo>
                    <a:cubicBezTo>
                      <a:pt x="125095" y="558800"/>
                      <a:pt x="0" y="433705"/>
                      <a:pt x="0" y="279400"/>
                    </a:cubicBezTo>
                    <a:cubicBezTo>
                      <a:pt x="0" y="125095"/>
                      <a:pt x="125095" y="0"/>
                      <a:pt x="279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279400" y="0"/>
                    </a:moveTo>
                    <a:cubicBezTo>
                      <a:pt x="433705" y="0"/>
                      <a:pt x="558800" y="125095"/>
                      <a:pt x="558800" y="279400"/>
                    </a:cubicBezTo>
                    <a:cubicBezTo>
                      <a:pt x="558800" y="433705"/>
                      <a:pt x="433705" y="558800"/>
                      <a:pt x="279400" y="558800"/>
                    </a:cubicBezTo>
                    <a:cubicBezTo>
                      <a:pt x="125095" y="558800"/>
                      <a:pt x="0" y="433705"/>
                      <a:pt x="0" y="279400"/>
                    </a:cubicBezTo>
                    <a:cubicBezTo>
                      <a:pt x="0" y="125095"/>
                      <a:pt x="125095" y="0"/>
                      <a:pt x="279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6E3C8"/>
                </a:solidFill>
                <a:prstDash val="solid"/>
                <a:miter/>
              </a:ln>
            </p:spPr>
          </p:sp>
        </p:grpSp>
        <p:grpSp>
          <p:nvGrpSpPr>
            <p:cNvPr name="Group 78" id="78"/>
            <p:cNvGrpSpPr/>
            <p:nvPr/>
          </p:nvGrpSpPr>
          <p:grpSpPr>
            <a:xfrm rot="0">
              <a:off x="3885842" y="0"/>
              <a:ext cx="611725" cy="611725"/>
              <a:chOff x="0" y="0"/>
              <a:chExt cx="558800" cy="558800"/>
            </a:xfrm>
          </p:grpSpPr>
          <p:sp>
            <p:nvSpPr>
              <p:cNvPr name="Freeform 79" id="79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279400" y="0"/>
                    </a:moveTo>
                    <a:cubicBezTo>
                      <a:pt x="433705" y="0"/>
                      <a:pt x="558800" y="125095"/>
                      <a:pt x="558800" y="279400"/>
                    </a:cubicBezTo>
                    <a:cubicBezTo>
                      <a:pt x="558800" y="433705"/>
                      <a:pt x="433705" y="558800"/>
                      <a:pt x="279400" y="558800"/>
                    </a:cubicBezTo>
                    <a:cubicBezTo>
                      <a:pt x="125095" y="558800"/>
                      <a:pt x="0" y="433705"/>
                      <a:pt x="0" y="279400"/>
                    </a:cubicBezTo>
                    <a:cubicBezTo>
                      <a:pt x="0" y="125095"/>
                      <a:pt x="125095" y="0"/>
                      <a:pt x="279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80" id="80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279400" y="0"/>
                    </a:moveTo>
                    <a:cubicBezTo>
                      <a:pt x="433705" y="0"/>
                      <a:pt x="558800" y="125095"/>
                      <a:pt x="558800" y="279400"/>
                    </a:cubicBezTo>
                    <a:cubicBezTo>
                      <a:pt x="558800" y="433705"/>
                      <a:pt x="433705" y="558800"/>
                      <a:pt x="279400" y="558800"/>
                    </a:cubicBezTo>
                    <a:cubicBezTo>
                      <a:pt x="125095" y="558800"/>
                      <a:pt x="0" y="433705"/>
                      <a:pt x="0" y="279400"/>
                    </a:cubicBezTo>
                    <a:cubicBezTo>
                      <a:pt x="0" y="125095"/>
                      <a:pt x="125095" y="0"/>
                      <a:pt x="279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6E3C8"/>
                </a:solidFill>
                <a:prstDash val="solid"/>
                <a:miter/>
              </a:ln>
            </p:spPr>
          </p:sp>
        </p:grpSp>
        <p:grpSp>
          <p:nvGrpSpPr>
            <p:cNvPr name="Group 81" id="81"/>
            <p:cNvGrpSpPr/>
            <p:nvPr/>
          </p:nvGrpSpPr>
          <p:grpSpPr>
            <a:xfrm rot="0">
              <a:off x="5828763" y="0"/>
              <a:ext cx="611725" cy="611725"/>
              <a:chOff x="0" y="0"/>
              <a:chExt cx="558800" cy="558800"/>
            </a:xfrm>
          </p:grpSpPr>
          <p:sp>
            <p:nvSpPr>
              <p:cNvPr name="Freeform 82" id="82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279400" y="0"/>
                    </a:moveTo>
                    <a:cubicBezTo>
                      <a:pt x="433705" y="0"/>
                      <a:pt x="558800" y="125095"/>
                      <a:pt x="558800" y="279400"/>
                    </a:cubicBezTo>
                    <a:cubicBezTo>
                      <a:pt x="558800" y="433705"/>
                      <a:pt x="433705" y="558800"/>
                      <a:pt x="279400" y="558800"/>
                    </a:cubicBezTo>
                    <a:cubicBezTo>
                      <a:pt x="125095" y="558800"/>
                      <a:pt x="0" y="433705"/>
                      <a:pt x="0" y="279400"/>
                    </a:cubicBezTo>
                    <a:cubicBezTo>
                      <a:pt x="0" y="125095"/>
                      <a:pt x="125095" y="0"/>
                      <a:pt x="2794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83" id="83"/>
              <p:cNvSpPr/>
              <p:nvPr/>
            </p:nvSpPr>
            <p:spPr>
              <a:xfrm flipH="false" flipV="false" rot="0">
                <a:off x="0" y="0"/>
                <a:ext cx="558800" cy="558800"/>
              </a:xfrm>
              <a:custGeom>
                <a:avLst/>
                <a:gdLst/>
                <a:ahLst/>
                <a:cxnLst/>
                <a:rect r="r" b="b" t="t" l="l"/>
                <a:pathLst>
                  <a:path h="558800" w="558800">
                    <a:moveTo>
                      <a:pt x="279400" y="0"/>
                    </a:moveTo>
                    <a:cubicBezTo>
                      <a:pt x="433705" y="0"/>
                      <a:pt x="558800" y="125095"/>
                      <a:pt x="558800" y="279400"/>
                    </a:cubicBezTo>
                    <a:cubicBezTo>
                      <a:pt x="558800" y="433705"/>
                      <a:pt x="433705" y="558800"/>
                      <a:pt x="279400" y="558800"/>
                    </a:cubicBezTo>
                    <a:cubicBezTo>
                      <a:pt x="125095" y="558800"/>
                      <a:pt x="0" y="433705"/>
                      <a:pt x="0" y="279400"/>
                    </a:cubicBezTo>
                    <a:cubicBezTo>
                      <a:pt x="0" y="125095"/>
                      <a:pt x="125095" y="0"/>
                      <a:pt x="2794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D6E3C8"/>
                </a:solidFill>
                <a:prstDash val="solid"/>
                <a:miter/>
              </a:ln>
            </p:spPr>
          </p:sp>
        </p:grpSp>
        <p:sp>
          <p:nvSpPr>
            <p:cNvPr name="Freeform 84" id="84"/>
            <p:cNvSpPr/>
            <p:nvPr/>
          </p:nvSpPr>
          <p:spPr>
            <a:xfrm flipH="false" flipV="false" rot="0">
              <a:off x="166834" y="166834"/>
              <a:ext cx="278057" cy="278057"/>
            </a:xfrm>
            <a:custGeom>
              <a:avLst/>
              <a:gdLst/>
              <a:ahLst/>
              <a:cxnLst/>
              <a:rect r="r" b="b" t="t" l="l"/>
              <a:pathLst>
                <a:path h="278057" w="278057">
                  <a:moveTo>
                    <a:pt x="0" y="0"/>
                  </a:moveTo>
                  <a:lnTo>
                    <a:pt x="278057" y="0"/>
                  </a:lnTo>
                  <a:lnTo>
                    <a:pt x="278057" y="278057"/>
                  </a:lnTo>
                  <a:lnTo>
                    <a:pt x="0" y="278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2109755" y="166834"/>
              <a:ext cx="278057" cy="278057"/>
            </a:xfrm>
            <a:custGeom>
              <a:avLst/>
              <a:gdLst/>
              <a:ahLst/>
              <a:cxnLst/>
              <a:rect r="r" b="b" t="t" l="l"/>
              <a:pathLst>
                <a:path h="278057" w="278057">
                  <a:moveTo>
                    <a:pt x="0" y="0"/>
                  </a:moveTo>
                  <a:lnTo>
                    <a:pt x="278057" y="0"/>
                  </a:lnTo>
                  <a:lnTo>
                    <a:pt x="278057" y="278057"/>
                  </a:lnTo>
                  <a:lnTo>
                    <a:pt x="0" y="278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4052676" y="166834"/>
              <a:ext cx="278057" cy="278057"/>
            </a:xfrm>
            <a:custGeom>
              <a:avLst/>
              <a:gdLst/>
              <a:ahLst/>
              <a:cxnLst/>
              <a:rect r="r" b="b" t="t" l="l"/>
              <a:pathLst>
                <a:path h="278057" w="278057">
                  <a:moveTo>
                    <a:pt x="0" y="0"/>
                  </a:moveTo>
                  <a:lnTo>
                    <a:pt x="278057" y="0"/>
                  </a:lnTo>
                  <a:lnTo>
                    <a:pt x="278057" y="278057"/>
                  </a:lnTo>
                  <a:lnTo>
                    <a:pt x="0" y="278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7" id="87"/>
            <p:cNvSpPr/>
            <p:nvPr/>
          </p:nvSpPr>
          <p:spPr>
            <a:xfrm flipH="false" flipV="false" rot="0">
              <a:off x="5995597" y="166834"/>
              <a:ext cx="278057" cy="278057"/>
            </a:xfrm>
            <a:custGeom>
              <a:avLst/>
              <a:gdLst/>
              <a:ahLst/>
              <a:cxnLst/>
              <a:rect r="r" b="b" t="t" l="l"/>
              <a:pathLst>
                <a:path h="278057" w="278057">
                  <a:moveTo>
                    <a:pt x="0" y="0"/>
                  </a:moveTo>
                  <a:lnTo>
                    <a:pt x="278057" y="0"/>
                  </a:lnTo>
                  <a:lnTo>
                    <a:pt x="278057" y="278057"/>
                  </a:lnTo>
                  <a:lnTo>
                    <a:pt x="0" y="27805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Freeform 88" id="88"/>
          <p:cNvSpPr/>
          <p:nvPr/>
        </p:nvSpPr>
        <p:spPr>
          <a:xfrm flipH="false" flipV="false" rot="0">
            <a:off x="6610350" y="3709702"/>
            <a:ext cx="161925" cy="161925"/>
          </a:xfrm>
          <a:custGeom>
            <a:avLst/>
            <a:gdLst/>
            <a:ahLst/>
            <a:cxnLst/>
            <a:rect r="r" b="b" t="t" l="l"/>
            <a:pathLst>
              <a:path h="161925" w="161925">
                <a:moveTo>
                  <a:pt x="0" y="0"/>
                </a:moveTo>
                <a:lnTo>
                  <a:pt x="161925" y="0"/>
                </a:lnTo>
                <a:lnTo>
                  <a:pt x="161925" y="161925"/>
                </a:lnTo>
                <a:lnTo>
                  <a:pt x="0" y="161925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9" id="89"/>
          <p:cNvSpPr/>
          <p:nvPr/>
        </p:nvSpPr>
        <p:spPr>
          <a:xfrm flipH="false" flipV="false" rot="0">
            <a:off x="6610350" y="3966877"/>
            <a:ext cx="161925" cy="161925"/>
          </a:xfrm>
          <a:custGeom>
            <a:avLst/>
            <a:gdLst/>
            <a:ahLst/>
            <a:cxnLst/>
            <a:rect r="r" b="b" t="t" l="l"/>
            <a:pathLst>
              <a:path h="161925" w="161925">
                <a:moveTo>
                  <a:pt x="0" y="0"/>
                </a:moveTo>
                <a:lnTo>
                  <a:pt x="161925" y="0"/>
                </a:lnTo>
                <a:lnTo>
                  <a:pt x="161925" y="161925"/>
                </a:lnTo>
                <a:lnTo>
                  <a:pt x="0" y="161925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0" id="90"/>
          <p:cNvSpPr/>
          <p:nvPr/>
        </p:nvSpPr>
        <p:spPr>
          <a:xfrm flipH="false" flipV="false" rot="0">
            <a:off x="6610350" y="4224052"/>
            <a:ext cx="161925" cy="161925"/>
          </a:xfrm>
          <a:custGeom>
            <a:avLst/>
            <a:gdLst/>
            <a:ahLst/>
            <a:cxnLst/>
            <a:rect r="r" b="b" t="t" l="l"/>
            <a:pathLst>
              <a:path h="161925" w="161925">
                <a:moveTo>
                  <a:pt x="0" y="0"/>
                </a:moveTo>
                <a:lnTo>
                  <a:pt x="161925" y="0"/>
                </a:lnTo>
                <a:lnTo>
                  <a:pt x="161925" y="161925"/>
                </a:lnTo>
                <a:lnTo>
                  <a:pt x="0" y="161925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1" id="91"/>
          <p:cNvSpPr/>
          <p:nvPr/>
        </p:nvSpPr>
        <p:spPr>
          <a:xfrm flipH="false" flipV="false" rot="0">
            <a:off x="6610350" y="4481227"/>
            <a:ext cx="161925" cy="161925"/>
          </a:xfrm>
          <a:custGeom>
            <a:avLst/>
            <a:gdLst/>
            <a:ahLst/>
            <a:cxnLst/>
            <a:rect r="r" b="b" t="t" l="l"/>
            <a:pathLst>
              <a:path h="161925" w="161925">
                <a:moveTo>
                  <a:pt x="0" y="0"/>
                </a:moveTo>
                <a:lnTo>
                  <a:pt x="161925" y="0"/>
                </a:lnTo>
                <a:lnTo>
                  <a:pt x="161925" y="161925"/>
                </a:lnTo>
                <a:lnTo>
                  <a:pt x="0" y="161925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2" id="92"/>
          <p:cNvSpPr/>
          <p:nvPr/>
        </p:nvSpPr>
        <p:spPr>
          <a:xfrm flipH="false" flipV="false" rot="0">
            <a:off x="6610350" y="4738402"/>
            <a:ext cx="161925" cy="161925"/>
          </a:xfrm>
          <a:custGeom>
            <a:avLst/>
            <a:gdLst/>
            <a:ahLst/>
            <a:cxnLst/>
            <a:rect r="r" b="b" t="t" l="l"/>
            <a:pathLst>
              <a:path h="161925" w="161925">
                <a:moveTo>
                  <a:pt x="0" y="0"/>
                </a:moveTo>
                <a:lnTo>
                  <a:pt x="161925" y="0"/>
                </a:lnTo>
                <a:lnTo>
                  <a:pt x="161925" y="161925"/>
                </a:lnTo>
                <a:lnTo>
                  <a:pt x="0" y="161925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3" id="93"/>
          <p:cNvSpPr/>
          <p:nvPr/>
        </p:nvSpPr>
        <p:spPr>
          <a:xfrm flipH="false" flipV="false" rot="0">
            <a:off x="6610350" y="4995577"/>
            <a:ext cx="161925" cy="161925"/>
          </a:xfrm>
          <a:custGeom>
            <a:avLst/>
            <a:gdLst/>
            <a:ahLst/>
            <a:cxnLst/>
            <a:rect r="r" b="b" t="t" l="l"/>
            <a:pathLst>
              <a:path h="161925" w="161925">
                <a:moveTo>
                  <a:pt x="0" y="0"/>
                </a:moveTo>
                <a:lnTo>
                  <a:pt x="161925" y="0"/>
                </a:lnTo>
                <a:lnTo>
                  <a:pt x="161925" y="161925"/>
                </a:lnTo>
                <a:lnTo>
                  <a:pt x="0" y="161925"/>
                </a:lnTo>
                <a:lnTo>
                  <a:pt x="0" y="0"/>
                </a:lnTo>
                <a:close/>
              </a:path>
            </a:pathLst>
          </a:custGeom>
          <a:blipFill>
            <a:blip r:embed="rId32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4" id="94"/>
          <p:cNvGrpSpPr/>
          <p:nvPr/>
        </p:nvGrpSpPr>
        <p:grpSpPr>
          <a:xfrm rot="0">
            <a:off x="6438900" y="5462302"/>
            <a:ext cx="2933700" cy="1752600"/>
            <a:chOff x="0" y="0"/>
            <a:chExt cx="3911600" cy="2336800"/>
          </a:xfrm>
        </p:grpSpPr>
        <p:sp>
          <p:nvSpPr>
            <p:cNvPr name="Freeform 95" id="95"/>
            <p:cNvSpPr/>
            <p:nvPr/>
          </p:nvSpPr>
          <p:spPr>
            <a:xfrm flipH="false" flipV="false" rot="0">
              <a:off x="0" y="0"/>
              <a:ext cx="3911600" cy="2336800"/>
            </a:xfrm>
            <a:custGeom>
              <a:avLst/>
              <a:gdLst/>
              <a:ahLst/>
              <a:cxnLst/>
              <a:rect r="r" b="b" t="t" l="l"/>
              <a:pathLst>
                <a:path h="2336800" w="3911600">
                  <a:moveTo>
                    <a:pt x="152400" y="0"/>
                  </a:moveTo>
                  <a:lnTo>
                    <a:pt x="3759200" y="0"/>
                  </a:lnTo>
                  <a:cubicBezTo>
                    <a:pt x="3843401" y="0"/>
                    <a:pt x="3911600" y="68199"/>
                    <a:pt x="3911600" y="152400"/>
                  </a:cubicBezTo>
                  <a:lnTo>
                    <a:pt x="3911600" y="2184400"/>
                  </a:lnTo>
                  <a:cubicBezTo>
                    <a:pt x="3911600" y="2268601"/>
                    <a:pt x="3843401" y="2336800"/>
                    <a:pt x="3759200" y="2336800"/>
                  </a:cubicBezTo>
                  <a:lnTo>
                    <a:pt x="152400" y="2336800"/>
                  </a:lnTo>
                  <a:cubicBezTo>
                    <a:pt x="68199" y="2336800"/>
                    <a:pt x="0" y="2268601"/>
                    <a:pt x="0" y="21844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5B9E2E"/>
            </a:solidFill>
          </p:spPr>
        </p:sp>
      </p:grpSp>
      <p:grpSp>
        <p:nvGrpSpPr>
          <p:cNvPr name="Group 96" id="96"/>
          <p:cNvGrpSpPr/>
          <p:nvPr/>
        </p:nvGrpSpPr>
        <p:grpSpPr>
          <a:xfrm rot="0">
            <a:off x="6553200" y="6110002"/>
            <a:ext cx="2705100" cy="990600"/>
            <a:chOff x="0" y="0"/>
            <a:chExt cx="3606800" cy="13208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3606800" cy="1320800"/>
            </a:xfrm>
            <a:custGeom>
              <a:avLst/>
              <a:gdLst/>
              <a:ahLst/>
              <a:cxnLst/>
              <a:rect r="r" b="b" t="t" l="l"/>
              <a:pathLst>
                <a:path h="1320800" w="3606800">
                  <a:moveTo>
                    <a:pt x="101600" y="0"/>
                  </a:moveTo>
                  <a:lnTo>
                    <a:pt x="3505200" y="0"/>
                  </a:lnTo>
                  <a:cubicBezTo>
                    <a:pt x="3561334" y="0"/>
                    <a:pt x="3606800" y="45466"/>
                    <a:pt x="3606800" y="101600"/>
                  </a:cubicBezTo>
                  <a:lnTo>
                    <a:pt x="3606800" y="1219200"/>
                  </a:lnTo>
                  <a:cubicBezTo>
                    <a:pt x="3606800" y="1275334"/>
                    <a:pt x="3561334" y="1320800"/>
                    <a:pt x="3505200" y="1320800"/>
                  </a:cubicBezTo>
                  <a:lnTo>
                    <a:pt x="101600" y="1320800"/>
                  </a:lnTo>
                  <a:cubicBezTo>
                    <a:pt x="45466" y="1320800"/>
                    <a:pt x="0" y="1275334"/>
                    <a:pt x="0" y="1219200"/>
                  </a:cubicBezTo>
                  <a:lnTo>
                    <a:pt x="0" y="101600"/>
                  </a:lnTo>
                  <a:cubicBezTo>
                    <a:pt x="0" y="45466"/>
                    <a:pt x="45466" y="0"/>
                    <a:pt x="1016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98" id="98"/>
          <p:cNvSpPr/>
          <p:nvPr/>
        </p:nvSpPr>
        <p:spPr>
          <a:xfrm flipH="false" flipV="false" rot="0">
            <a:off x="6858000" y="-128713"/>
            <a:ext cx="3181190" cy="3181190"/>
          </a:xfrm>
          <a:custGeom>
            <a:avLst/>
            <a:gdLst/>
            <a:ahLst/>
            <a:cxnLst/>
            <a:rect r="r" b="b" t="t" l="l"/>
            <a:pathLst>
              <a:path h="3181190" w="3181190">
                <a:moveTo>
                  <a:pt x="0" y="0"/>
                </a:moveTo>
                <a:lnTo>
                  <a:pt x="3181190" y="0"/>
                </a:lnTo>
                <a:lnTo>
                  <a:pt x="3181190" y="3181190"/>
                </a:lnTo>
                <a:lnTo>
                  <a:pt x="0" y="3181190"/>
                </a:lnTo>
                <a:lnTo>
                  <a:pt x="0" y="0"/>
                </a:lnTo>
                <a:close/>
              </a:path>
            </a:pathLst>
          </a:custGeom>
          <a:blipFill>
            <a:blip r:embed="rId39"/>
            <a:stretch>
              <a:fillRect l="0" t="0" r="0" b="0"/>
            </a:stretch>
          </a:blipFill>
        </p:spPr>
      </p:sp>
      <p:pic>
        <p:nvPicPr>
          <p:cNvPr name="Picture 99" id="99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6562523" y="6103335"/>
            <a:ext cx="994410" cy="994410"/>
          </a:xfrm>
          <a:prstGeom prst="rect">
            <a:avLst/>
          </a:prstGeom>
        </p:spPr>
      </p:pic>
      <p:pic>
        <p:nvPicPr>
          <p:cNvPr name="Picture 100" id="100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6619663" y="7659805"/>
            <a:ext cx="947662" cy="947662"/>
          </a:xfrm>
          <a:prstGeom prst="rect">
            <a:avLst/>
          </a:prstGeom>
        </p:spPr>
      </p:pic>
      <p:sp>
        <p:nvSpPr>
          <p:cNvPr name="Freeform 101" id="101"/>
          <p:cNvSpPr/>
          <p:nvPr/>
        </p:nvSpPr>
        <p:spPr>
          <a:xfrm flipH="false" flipV="false" rot="0">
            <a:off x="643747" y="6473142"/>
            <a:ext cx="598456" cy="598456"/>
          </a:xfrm>
          <a:custGeom>
            <a:avLst/>
            <a:gdLst/>
            <a:ahLst/>
            <a:cxnLst/>
            <a:rect r="r" b="b" t="t" l="l"/>
            <a:pathLst>
              <a:path h="598456" w="598456">
                <a:moveTo>
                  <a:pt x="0" y="0"/>
                </a:moveTo>
                <a:lnTo>
                  <a:pt x="598456" y="0"/>
                </a:lnTo>
                <a:lnTo>
                  <a:pt x="598456" y="598456"/>
                </a:lnTo>
                <a:lnTo>
                  <a:pt x="0" y="598456"/>
                </a:lnTo>
                <a:lnTo>
                  <a:pt x="0" y="0"/>
                </a:lnTo>
                <a:close/>
              </a:path>
            </a:pathLst>
          </a:custGeom>
          <a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2" id="102"/>
          <p:cNvSpPr/>
          <p:nvPr/>
        </p:nvSpPr>
        <p:spPr>
          <a:xfrm flipH="false" flipV="false" rot="0">
            <a:off x="2129035" y="6452902"/>
            <a:ext cx="708837" cy="647700"/>
          </a:xfrm>
          <a:custGeom>
            <a:avLst/>
            <a:gdLst/>
            <a:ahLst/>
            <a:cxnLst/>
            <a:rect r="r" b="b" t="t" l="l"/>
            <a:pathLst>
              <a:path h="647700" w="708837">
                <a:moveTo>
                  <a:pt x="0" y="0"/>
                </a:moveTo>
                <a:lnTo>
                  <a:pt x="708837" y="0"/>
                </a:lnTo>
                <a:lnTo>
                  <a:pt x="708837" y="647700"/>
                </a:lnTo>
                <a:lnTo>
                  <a:pt x="0" y="647700"/>
                </a:lnTo>
                <a:lnTo>
                  <a:pt x="0" y="0"/>
                </a:lnTo>
                <a:close/>
              </a:path>
            </a:pathLst>
          </a:custGeom>
          <a:blipFill>
            <a:blip r:embed="rId44">
              <a:extLst>
                <a:ext uri="{96DAC541-7B7A-43D3-8B79-37D633B846F1}">
                  <asvg:svgBlip xmlns:asvg="http://schemas.microsoft.com/office/drawing/2016/SVG/main" r:embed="rId4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3" id="103"/>
          <p:cNvSpPr/>
          <p:nvPr/>
        </p:nvSpPr>
        <p:spPr>
          <a:xfrm flipH="false" flipV="false" rot="0">
            <a:off x="5072373" y="6506565"/>
            <a:ext cx="637555" cy="565033"/>
          </a:xfrm>
          <a:custGeom>
            <a:avLst/>
            <a:gdLst/>
            <a:ahLst/>
            <a:cxnLst/>
            <a:rect r="r" b="b" t="t" l="l"/>
            <a:pathLst>
              <a:path h="565033" w="637555">
                <a:moveTo>
                  <a:pt x="0" y="0"/>
                </a:moveTo>
                <a:lnTo>
                  <a:pt x="637554" y="0"/>
                </a:lnTo>
                <a:lnTo>
                  <a:pt x="637554" y="565033"/>
                </a:lnTo>
                <a:lnTo>
                  <a:pt x="0" y="565033"/>
                </a:lnTo>
                <a:lnTo>
                  <a:pt x="0" y="0"/>
                </a:lnTo>
                <a:close/>
              </a:path>
            </a:pathLst>
          </a:custGeom>
          <a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4" id="104"/>
          <p:cNvSpPr txBox="true"/>
          <p:nvPr/>
        </p:nvSpPr>
        <p:spPr>
          <a:xfrm rot="0">
            <a:off x="390525" y="12189095"/>
            <a:ext cx="89916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04"/>
              </a:lnSpc>
            </a:pPr>
            <a:r>
              <a:rPr lang="en-US" b="true" sz="1575" spc="15">
                <a:solidFill>
                  <a:srgbClr val="C6A15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★</a:t>
            </a:r>
            <a:r>
              <a:rPr lang="en-US" b="true" sz="1575" spc="15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  Every subscription builds </a:t>
            </a:r>
            <a:r>
              <a:rPr lang="en-US" b="true" sz="1575" spc="15">
                <a:solidFill>
                  <a:srgbClr val="8EC94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healthier families</a:t>
            </a:r>
            <a:r>
              <a:rPr lang="en-US" b="true" sz="1575" spc="15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and a </a:t>
            </a:r>
            <a:r>
              <a:rPr lang="en-US" b="true" sz="1575" spc="15">
                <a:solidFill>
                  <a:srgbClr val="C6A15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stronger Bend FC</a:t>
            </a:r>
            <a:r>
              <a:rPr lang="en-US" b="true" sz="1575" spc="15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community.  </a:t>
            </a:r>
            <a:r>
              <a:rPr lang="en-US" b="true" sz="1575" spc="15">
                <a:solidFill>
                  <a:srgbClr val="C6A15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★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390525" y="542925"/>
            <a:ext cx="4686300" cy="1399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b="true" sz="4200" spc="-2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HEALTHY KIDS.</a:t>
            </a:r>
          </a:p>
          <a:p>
            <a:pPr algn="l">
              <a:lnSpc>
                <a:spcPts val="3947"/>
              </a:lnSpc>
            </a:pPr>
            <a:r>
              <a:rPr lang="en-US" b="true" sz="4200" spc="-21">
                <a:solidFill>
                  <a:srgbClr val="C6A15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HEALTHY FAMILIES.</a:t>
            </a:r>
          </a:p>
          <a:p>
            <a:pPr algn="l">
              <a:lnSpc>
                <a:spcPts val="3947"/>
              </a:lnSpc>
            </a:pPr>
            <a:r>
              <a:rPr lang="en-US" b="true" sz="4200" spc="-2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HEALTHY BEND FC.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381000" y="1970532"/>
            <a:ext cx="4095750" cy="4343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true" sz="1275">
                <a:solidFill>
                  <a:srgbClr val="141414"/>
                </a:solidFill>
                <a:latin typeface="Barlow Medium"/>
                <a:ea typeface="Barlow Medium"/>
                <a:cs typeface="Barlow Medium"/>
                <a:sym typeface="Barlow Medium"/>
              </a:rPr>
              <a:t>Every subscription helps fuel</a:t>
            </a:r>
            <a:r>
              <a:rPr lang="en-US" b="true" sz="1275">
                <a:solidFill>
                  <a:srgbClr val="C9C6BD"/>
                </a:solidFill>
                <a:latin typeface="Barlow Medium"/>
                <a:ea typeface="Barlow Medium"/>
                <a:cs typeface="Barlow Medium"/>
                <a:sym typeface="Barlow Medium"/>
              </a:rPr>
              <a:t> </a:t>
            </a:r>
            <a:r>
              <a:rPr lang="en-US" b="true" sz="1275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stronger bodies</a:t>
            </a:r>
            <a:r>
              <a:rPr lang="en-US" b="true" sz="1275">
                <a:solidFill>
                  <a:srgbClr val="C9C6BD"/>
                </a:solidFill>
                <a:latin typeface="Barlow Medium"/>
                <a:ea typeface="Barlow Medium"/>
                <a:cs typeface="Barlow Medium"/>
                <a:sym typeface="Barlow Medium"/>
              </a:rPr>
              <a:t> </a:t>
            </a:r>
            <a:r>
              <a:rPr lang="en-US" b="true" sz="1275">
                <a:solidFill>
                  <a:srgbClr val="0F1A12"/>
                </a:solidFill>
                <a:latin typeface="Barlow Medium"/>
                <a:ea typeface="Barlow Medium"/>
                <a:cs typeface="Barlow Medium"/>
                <a:sym typeface="Barlow Medium"/>
              </a:rPr>
              <a:t>and</a:t>
            </a:r>
            <a:r>
              <a:rPr lang="en-US" b="true" sz="1275">
                <a:solidFill>
                  <a:srgbClr val="C9C6BD"/>
                </a:solidFill>
                <a:latin typeface="Barlow Medium"/>
                <a:ea typeface="Barlow Medium"/>
                <a:cs typeface="Barlow Medium"/>
                <a:sym typeface="Barlow Medium"/>
              </a:rPr>
              <a:t> </a:t>
            </a:r>
            <a:r>
              <a:rPr lang="en-US" b="true" sz="1275">
                <a:solidFill>
                  <a:srgbClr val="8EC94E"/>
                </a:solidFill>
                <a:latin typeface="Barlow Bold"/>
                <a:ea typeface="Barlow Bold"/>
                <a:cs typeface="Barlow Bold"/>
                <a:sym typeface="Barlow Bold"/>
              </a:rPr>
              <a:t>stronger soccer</a:t>
            </a:r>
            <a:r>
              <a:rPr lang="en-US" b="true" sz="1275">
                <a:solidFill>
                  <a:srgbClr val="C9C6BD"/>
                </a:solidFill>
                <a:latin typeface="Barlow Medium"/>
                <a:ea typeface="Barlow Medium"/>
                <a:cs typeface="Barlow Medium"/>
                <a:sym typeface="Barlow Medium"/>
              </a:rPr>
              <a:t> </a:t>
            </a:r>
            <a:r>
              <a:rPr lang="en-US" b="true" sz="1275">
                <a:solidFill>
                  <a:srgbClr val="0F1A12"/>
                </a:solidFill>
                <a:latin typeface="Barlow Medium"/>
                <a:ea typeface="Barlow Medium"/>
                <a:cs typeface="Barlow Medium"/>
                <a:sym typeface="Barlow Medium"/>
              </a:rPr>
              <a:t>in Central Oregon.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381000" y="3109627"/>
            <a:ext cx="2219325" cy="10067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3"/>
              </a:lnSpc>
            </a:pPr>
            <a:r>
              <a:rPr lang="en-US" b="true" sz="2850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Kids receive </a:t>
            </a:r>
            <a:r>
              <a:rPr lang="en-US" b="true" sz="2850">
                <a:solidFill>
                  <a:srgbClr val="5B9E2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FREE</a:t>
            </a:r>
            <a:r>
              <a:rPr lang="en-US" b="true" sz="2850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Juice Plus+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381000" y="4087844"/>
            <a:ext cx="2219325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b="true" sz="1800">
                <a:solidFill>
                  <a:srgbClr val="2F5E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through the Healthy Starts Program*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381000" y="5281327"/>
            <a:ext cx="5610225" cy="923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43"/>
              </a:lnSpc>
            </a:pPr>
            <a:r>
              <a:rPr lang="en-US" sz="1162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When an adult subscribes to Juice Plus+ Essentials Fruit &amp; Vegetable Blends, a child or young adult </a:t>
            </a:r>
            <a:r>
              <a:rPr lang="en-US" b="true" sz="1162">
                <a:solidFill>
                  <a:srgbClr val="43403A"/>
                </a:solidFill>
                <a:latin typeface="Barlow Bold"/>
                <a:ea typeface="Barlow Bold"/>
                <a:cs typeface="Barlow Bold"/>
                <a:sym typeface="Barlow Bold"/>
              </a:rPr>
              <a:t>(ages 4–25)</a:t>
            </a:r>
            <a:r>
              <a:rPr lang="en-US" sz="1162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 can receive Juice Plus+ Fruit &amp; Vegetable Blends at </a:t>
            </a:r>
            <a:r>
              <a:rPr lang="en-US" b="true" sz="1162">
                <a:solidFill>
                  <a:srgbClr val="43403A"/>
                </a:solidFill>
                <a:latin typeface="Barlow Bold"/>
                <a:ea typeface="Barlow Bold"/>
                <a:cs typeface="Barlow Bold"/>
                <a:sym typeface="Barlow Bold"/>
              </a:rPr>
              <a:t>no product cost</a:t>
            </a:r>
            <a:r>
              <a:rPr lang="en-US" sz="1162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 through Healthy Starts. Families pay only the promotional fee of </a:t>
            </a:r>
            <a:r>
              <a:rPr lang="en-US" b="true" sz="1162">
                <a:solidFill>
                  <a:srgbClr val="2F5E22"/>
                </a:solidFill>
                <a:latin typeface="Barlow Bold"/>
                <a:ea typeface="Barlow Bold"/>
                <a:cs typeface="Barlow Bold"/>
                <a:sym typeface="Barlow Bold"/>
              </a:rPr>
              <a:t>$12 every four months</a:t>
            </a:r>
            <a:r>
              <a:rPr lang="en-US" sz="1162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 per shipment.*</a:t>
            </a:r>
          </a:p>
        </p:txBody>
      </p:sp>
      <p:sp>
        <p:nvSpPr>
          <p:cNvPr name="TextBox 110" id="110"/>
          <p:cNvSpPr txBox="true"/>
          <p:nvPr/>
        </p:nvSpPr>
        <p:spPr>
          <a:xfrm rot="0">
            <a:off x="523875" y="7148227"/>
            <a:ext cx="8382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b="true" sz="1050" spc="63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ADULT</a:t>
            </a:r>
          </a:p>
        </p:txBody>
      </p:sp>
      <p:sp>
        <p:nvSpPr>
          <p:cNvPr name="TextBox 111" id="111"/>
          <p:cNvSpPr txBox="true"/>
          <p:nvPr/>
        </p:nvSpPr>
        <p:spPr>
          <a:xfrm rot="0">
            <a:off x="2064353" y="7148227"/>
            <a:ext cx="8382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b="true" sz="1050" spc="63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CHILD 4–25</a:t>
            </a:r>
          </a:p>
        </p:txBody>
      </p:sp>
      <p:sp>
        <p:nvSpPr>
          <p:cNvPr name="TextBox 112" id="112"/>
          <p:cNvSpPr txBox="true"/>
          <p:nvPr/>
        </p:nvSpPr>
        <p:spPr>
          <a:xfrm rot="0">
            <a:off x="3623786" y="6790563"/>
            <a:ext cx="588740" cy="315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53"/>
              </a:lnSpc>
            </a:pPr>
            <a:r>
              <a:rPr lang="en-US" b="true" sz="1425">
                <a:solidFill>
                  <a:srgbClr val="2F5E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HEALTHY</a:t>
            </a:r>
          </a:p>
          <a:p>
            <a:pPr algn="ctr">
              <a:lnSpc>
                <a:spcPts val="1353"/>
              </a:lnSpc>
            </a:pPr>
            <a:r>
              <a:rPr lang="en-US" b="true" sz="1425">
                <a:solidFill>
                  <a:srgbClr val="2F5E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STARTS</a:t>
            </a:r>
          </a:p>
        </p:txBody>
      </p:sp>
      <p:sp>
        <p:nvSpPr>
          <p:cNvPr name="TextBox 113" id="113"/>
          <p:cNvSpPr txBox="true"/>
          <p:nvPr/>
        </p:nvSpPr>
        <p:spPr>
          <a:xfrm rot="0">
            <a:off x="4933950" y="7148227"/>
            <a:ext cx="9144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"/>
              </a:lnSpc>
            </a:pPr>
            <a:r>
              <a:rPr lang="en-US" b="true" sz="1050" spc="52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HEALTHY FAMILY</a:t>
            </a:r>
          </a:p>
        </p:txBody>
      </p:sp>
      <p:sp>
        <p:nvSpPr>
          <p:cNvPr name="TextBox 114" id="114"/>
          <p:cNvSpPr txBox="true"/>
          <p:nvPr/>
        </p:nvSpPr>
        <p:spPr>
          <a:xfrm rot="0">
            <a:off x="523875" y="8186452"/>
            <a:ext cx="150809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350">
                <a:solidFill>
                  <a:srgbClr val="2F5E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FEED YOUR FAMILY BETTER</a:t>
            </a:r>
          </a:p>
        </p:txBody>
      </p:sp>
      <p:sp>
        <p:nvSpPr>
          <p:cNvPr name="TextBox 115" id="115"/>
          <p:cNvSpPr txBox="true"/>
          <p:nvPr/>
        </p:nvSpPr>
        <p:spPr>
          <a:xfrm rot="0">
            <a:off x="523875" y="8576977"/>
            <a:ext cx="1508093" cy="1137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12">
                <a:solidFill>
                  <a:srgbClr val="4A473F"/>
                </a:solidFill>
                <a:latin typeface="Barlow"/>
                <a:ea typeface="Barlow"/>
                <a:cs typeface="Barlow"/>
                <a:sym typeface="Barlow"/>
              </a:rPr>
              <a:t>Whole-food nutrition from 20 fruits, vegetables &amp; plants — designed to bridge the gap between what we should eat and what we actually do.</a:t>
            </a:r>
          </a:p>
        </p:txBody>
      </p:sp>
      <p:sp>
        <p:nvSpPr>
          <p:cNvPr name="TextBox 116" id="116"/>
          <p:cNvSpPr txBox="true"/>
          <p:nvPr/>
        </p:nvSpPr>
        <p:spPr>
          <a:xfrm rot="0">
            <a:off x="447675" y="9815608"/>
            <a:ext cx="1717643" cy="39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"/>
              </a:lnSpc>
            </a:pPr>
            <a:r>
              <a:rPr lang="en-US" b="true" sz="1139">
                <a:solidFill>
                  <a:srgbClr val="6B675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Research-backed. Plant-based. Simple.</a:t>
            </a:r>
          </a:p>
        </p:txBody>
      </p:sp>
      <p:sp>
        <p:nvSpPr>
          <p:cNvPr name="TextBox 117" id="117"/>
          <p:cNvSpPr txBox="true"/>
          <p:nvPr/>
        </p:nvSpPr>
        <p:spPr>
          <a:xfrm rot="0">
            <a:off x="2432018" y="8186452"/>
            <a:ext cx="1508093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350">
                <a:solidFill>
                  <a:srgbClr val="A8853A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SUPPORT BEND FC</a:t>
            </a:r>
          </a:p>
        </p:txBody>
      </p:sp>
      <p:sp>
        <p:nvSpPr>
          <p:cNvPr name="TextBox 118" id="118"/>
          <p:cNvSpPr txBox="true"/>
          <p:nvPr/>
        </p:nvSpPr>
        <p:spPr>
          <a:xfrm rot="0">
            <a:off x="2432018" y="8405527"/>
            <a:ext cx="1508093" cy="378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b="true" sz="1012">
                <a:solidFill>
                  <a:srgbClr val="141414"/>
                </a:solidFill>
                <a:latin typeface="Barlow Bold"/>
                <a:ea typeface="Barlow Bold"/>
                <a:cs typeface="Barlow Bold"/>
                <a:sym typeface="Barlow Bold"/>
              </a:rPr>
              <a:t>5% of every qualifying order</a:t>
            </a:r>
            <a:r>
              <a:rPr lang="en-US" sz="1012">
                <a:solidFill>
                  <a:srgbClr val="4A473F"/>
                </a:solidFill>
                <a:latin typeface="Barlow"/>
                <a:ea typeface="Barlow"/>
                <a:cs typeface="Barlow"/>
                <a:sym typeface="Barlow"/>
              </a:rPr>
              <a:t> helps fund:</a:t>
            </a:r>
          </a:p>
        </p:txBody>
      </p:sp>
      <p:sp>
        <p:nvSpPr>
          <p:cNvPr name="TextBox 119" id="119"/>
          <p:cNvSpPr txBox="true"/>
          <p:nvPr/>
        </p:nvSpPr>
        <p:spPr>
          <a:xfrm rot="0">
            <a:off x="2360581" y="9806083"/>
            <a:ext cx="1774793" cy="1901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5"/>
              </a:lnSpc>
            </a:pPr>
            <a:r>
              <a:rPr lang="en-US" b="true" sz="1139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Healthy families. Healthy club.</a:t>
            </a:r>
          </a:p>
        </p:txBody>
      </p:sp>
      <p:sp>
        <p:nvSpPr>
          <p:cNvPr name="TextBox 120" id="120"/>
          <p:cNvSpPr txBox="true"/>
          <p:nvPr/>
        </p:nvSpPr>
        <p:spPr>
          <a:xfrm rot="0">
            <a:off x="4340162" y="8186452"/>
            <a:ext cx="1508093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350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WANT TO EARN INSTEAD?</a:t>
            </a:r>
          </a:p>
        </p:txBody>
      </p:sp>
      <p:sp>
        <p:nvSpPr>
          <p:cNvPr name="TextBox 121" id="121"/>
          <p:cNvSpPr txBox="true"/>
          <p:nvPr/>
        </p:nvSpPr>
        <p:spPr>
          <a:xfrm rot="0">
            <a:off x="4340162" y="8576977"/>
            <a:ext cx="1508093" cy="391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68"/>
              </a:lnSpc>
            </a:pPr>
            <a:r>
              <a:rPr lang="en-US" sz="1012">
                <a:solidFill>
                  <a:srgbClr val="4A473F"/>
                </a:solidFill>
                <a:latin typeface="Barlow"/>
                <a:ea typeface="Barlow"/>
                <a:cs typeface="Barlow"/>
                <a:sym typeface="Barlow"/>
              </a:rPr>
              <a:t>Become a Bend FC Juice Plus+ Partner:</a:t>
            </a:r>
          </a:p>
        </p:txBody>
      </p:sp>
      <p:sp>
        <p:nvSpPr>
          <p:cNvPr name="TextBox 122" id="122"/>
          <p:cNvSpPr txBox="true"/>
          <p:nvPr/>
        </p:nvSpPr>
        <p:spPr>
          <a:xfrm rot="0">
            <a:off x="4222147" y="9791573"/>
            <a:ext cx="1769078" cy="3902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"/>
              </a:lnSpc>
            </a:pPr>
            <a:r>
              <a:rPr lang="en-US" b="true" sz="1137">
                <a:solidFill>
                  <a:srgbClr val="6B675F"/>
                </a:solidFill>
                <a:latin typeface="Barlow Bold"/>
                <a:ea typeface="Barlow Bold"/>
                <a:cs typeface="Barlow Bold"/>
                <a:sym typeface="Barlow Bold"/>
              </a:rPr>
              <a:t>Sales profit + commission as you advance.*</a:t>
            </a:r>
          </a:p>
        </p:txBody>
      </p:sp>
      <p:sp>
        <p:nvSpPr>
          <p:cNvPr name="TextBox 123" id="123"/>
          <p:cNvSpPr txBox="true"/>
          <p:nvPr/>
        </p:nvSpPr>
        <p:spPr>
          <a:xfrm rot="0">
            <a:off x="561975" y="10616470"/>
            <a:ext cx="5248275" cy="188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9"/>
              </a:lnSpc>
            </a:pPr>
            <a:r>
              <a:rPr lang="en-US" b="true" sz="1800">
                <a:solidFill>
                  <a:srgbClr val="2F5E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SMALL STEP. BIG IMPACT.</a:t>
            </a:r>
          </a:p>
        </p:txBody>
      </p:sp>
      <p:sp>
        <p:nvSpPr>
          <p:cNvPr name="TextBox 124" id="124"/>
          <p:cNvSpPr txBox="true"/>
          <p:nvPr/>
        </p:nvSpPr>
        <p:spPr>
          <a:xfrm rot="0">
            <a:off x="561975" y="10862215"/>
            <a:ext cx="5248275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5"/>
              </a:lnSpc>
            </a:pPr>
            <a:r>
              <a:rPr lang="en-US" sz="1050">
                <a:solidFill>
                  <a:srgbClr val="3D4A34"/>
                </a:solidFill>
                <a:latin typeface="Barlow"/>
                <a:ea typeface="Barlow"/>
                <a:cs typeface="Barlow"/>
                <a:sym typeface="Barlow"/>
              </a:rPr>
              <a:t>Whole-food nutrition from </a:t>
            </a:r>
            <a:r>
              <a:rPr lang="en-US" b="true" sz="1050">
                <a:solidFill>
                  <a:srgbClr val="3D4A34"/>
                </a:solidFill>
                <a:latin typeface="Barlow Bold"/>
                <a:ea typeface="Barlow Bold"/>
                <a:cs typeface="Barlow Bold"/>
                <a:sym typeface="Barlow Bold"/>
              </a:rPr>
              <a:t>20 fruits, vegetables &amp; plants</a:t>
            </a:r>
            <a:r>
              <a:rPr lang="en-US" sz="1050">
                <a:solidFill>
                  <a:srgbClr val="3D4A34"/>
                </a:solidFill>
                <a:latin typeface="Barlow"/>
                <a:ea typeface="Barlow"/>
                <a:cs typeface="Barlow"/>
                <a:sym typeface="Barlow"/>
              </a:rPr>
              <a:t> helps bridge the gap between what young people should eat and what they actually do — supporting the fundamentals every athlete is built on.</a:t>
            </a:r>
          </a:p>
        </p:txBody>
      </p:sp>
      <p:sp>
        <p:nvSpPr>
          <p:cNvPr name="TextBox 125" id="125"/>
          <p:cNvSpPr txBox="true"/>
          <p:nvPr/>
        </p:nvSpPr>
        <p:spPr>
          <a:xfrm rot="0">
            <a:off x="6610350" y="3242977"/>
            <a:ext cx="25908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0"/>
              </a:lnSpc>
            </a:pPr>
            <a:r>
              <a:rPr lang="en-US" b="true" sz="1350" spc="27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WHY PARENTS LOVE</a:t>
            </a:r>
          </a:p>
          <a:p>
            <a:pPr algn="l">
              <a:lnSpc>
                <a:spcPts val="1350"/>
              </a:lnSpc>
            </a:pPr>
            <a:r>
              <a:rPr lang="en-US" b="true" sz="1350" spc="27">
                <a:solidFill>
                  <a:srgbClr val="8EC94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HEALTHY STARTS</a:t>
            </a:r>
          </a:p>
        </p:txBody>
      </p:sp>
      <p:sp>
        <p:nvSpPr>
          <p:cNvPr name="TextBox 126" id="126"/>
          <p:cNvSpPr txBox="true"/>
          <p:nvPr/>
        </p:nvSpPr>
        <p:spPr>
          <a:xfrm rot="0">
            <a:off x="6858000" y="3681127"/>
            <a:ext cx="70427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E7E4DC"/>
                </a:solidFill>
                <a:latin typeface="Barlow"/>
                <a:ea typeface="Barlow"/>
                <a:cs typeface="Barlow"/>
                <a:sym typeface="Barlow"/>
              </a:rPr>
              <a:t>Kids receive</a:t>
            </a:r>
          </a:p>
        </p:txBody>
      </p:sp>
      <p:sp>
        <p:nvSpPr>
          <p:cNvPr name="TextBox 127" id="127"/>
          <p:cNvSpPr txBox="true"/>
          <p:nvPr/>
        </p:nvSpPr>
        <p:spPr>
          <a:xfrm rot="0">
            <a:off x="7648004" y="3681127"/>
            <a:ext cx="31242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FREE</a:t>
            </a:r>
          </a:p>
        </p:txBody>
      </p:sp>
      <p:sp>
        <p:nvSpPr>
          <p:cNvPr name="TextBox 128" id="128"/>
          <p:cNvSpPr txBox="true"/>
          <p:nvPr/>
        </p:nvSpPr>
        <p:spPr>
          <a:xfrm rot="0">
            <a:off x="8046053" y="3681127"/>
            <a:ext cx="714089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E7E4DC"/>
                </a:solidFill>
                <a:latin typeface="Barlow"/>
                <a:ea typeface="Barlow"/>
                <a:cs typeface="Barlow"/>
                <a:sym typeface="Barlow"/>
              </a:rPr>
              <a:t>Juice Plus+*</a:t>
            </a:r>
          </a:p>
        </p:txBody>
      </p:sp>
      <p:sp>
        <p:nvSpPr>
          <p:cNvPr name="TextBox 129" id="129"/>
          <p:cNvSpPr txBox="true"/>
          <p:nvPr/>
        </p:nvSpPr>
        <p:spPr>
          <a:xfrm rot="0">
            <a:off x="6600825" y="7510177"/>
            <a:ext cx="2609850" cy="133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0"/>
              </a:lnSpc>
            </a:pPr>
            <a:r>
              <a:rPr lang="en-US" b="true" sz="1200" spc="36">
                <a:solidFill>
                  <a:srgbClr val="C6A15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BECOME A JUICE PLUS+ PARTNER</a:t>
            </a:r>
          </a:p>
        </p:txBody>
      </p:sp>
      <p:sp>
        <p:nvSpPr>
          <p:cNvPr name="TextBox 130" id="130"/>
          <p:cNvSpPr txBox="true"/>
          <p:nvPr/>
        </p:nvSpPr>
        <p:spPr>
          <a:xfrm rot="0">
            <a:off x="7626572" y="7795927"/>
            <a:ext cx="1690973" cy="610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5"/>
              </a:lnSpc>
            </a:pPr>
            <a:r>
              <a:rPr lang="en-US" sz="937">
                <a:solidFill>
                  <a:srgbClr val="BDB9B1"/>
                </a:solidFill>
                <a:latin typeface="Barlow"/>
                <a:ea typeface="Barlow"/>
                <a:cs typeface="Barlow"/>
                <a:sym typeface="Barlow"/>
              </a:rPr>
              <a:t>Scan to register &amp; start your business, or visit:</a:t>
            </a:r>
          </a:p>
          <a:p>
            <a:pPr algn="l">
              <a:lnSpc>
                <a:spcPts val="1265"/>
              </a:lnSpc>
            </a:pPr>
            <a:r>
              <a:rPr lang="en-US" sz="937" u="sng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  <a:hlinkClick r:id="rId48" tooltip="http://bendfc.juiceplus.com"/>
              </a:rPr>
              <a:t>BENDFC.JUICEPLUS.COM</a:t>
            </a:r>
            <a:r>
              <a:rPr lang="en-US" sz="93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 and click “Become a Partner”</a:t>
            </a:r>
          </a:p>
        </p:txBody>
      </p:sp>
      <p:sp>
        <p:nvSpPr>
          <p:cNvPr name="TextBox 131" id="131"/>
          <p:cNvSpPr txBox="true"/>
          <p:nvPr/>
        </p:nvSpPr>
        <p:spPr>
          <a:xfrm rot="0">
            <a:off x="6600825" y="8843677"/>
            <a:ext cx="26098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36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HEALTHY STARTS AT A GLANCE</a:t>
            </a:r>
          </a:p>
        </p:txBody>
      </p:sp>
      <p:sp>
        <p:nvSpPr>
          <p:cNvPr name="TextBox 132" id="132"/>
          <p:cNvSpPr txBox="true"/>
          <p:nvPr/>
        </p:nvSpPr>
        <p:spPr>
          <a:xfrm rot="0">
            <a:off x="6600825" y="9110377"/>
            <a:ext cx="667036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>
                <a:solidFill>
                  <a:srgbClr val="6B675F"/>
                </a:solidFill>
                <a:latin typeface="Barlow"/>
                <a:ea typeface="Barlow"/>
                <a:cs typeface="Barlow"/>
                <a:sym typeface="Barlow"/>
              </a:rPr>
              <a:t>Adult enrolls</a:t>
            </a:r>
          </a:p>
        </p:txBody>
      </p:sp>
      <p:sp>
        <p:nvSpPr>
          <p:cNvPr name="TextBox 133" id="133"/>
          <p:cNvSpPr txBox="true"/>
          <p:nvPr/>
        </p:nvSpPr>
        <p:spPr>
          <a:xfrm rot="0">
            <a:off x="8797862" y="9110377"/>
            <a:ext cx="412814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141414"/>
                </a:solidFill>
                <a:latin typeface="Barlow Bold"/>
                <a:ea typeface="Barlow Bold"/>
                <a:cs typeface="Barlow Bold"/>
                <a:sym typeface="Barlow Bold"/>
              </a:rPr>
              <a:t>Age 18+</a:t>
            </a:r>
          </a:p>
        </p:txBody>
      </p:sp>
      <p:sp>
        <p:nvSpPr>
          <p:cNvPr name="TextBox 134" id="134"/>
          <p:cNvSpPr txBox="true"/>
          <p:nvPr/>
        </p:nvSpPr>
        <p:spPr>
          <a:xfrm rot="0">
            <a:off x="6600825" y="9396127"/>
            <a:ext cx="726091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>
                <a:solidFill>
                  <a:srgbClr val="6B675F"/>
                </a:solidFill>
                <a:latin typeface="Barlow"/>
                <a:ea typeface="Barlow"/>
                <a:cs typeface="Barlow"/>
                <a:sym typeface="Barlow"/>
              </a:rPr>
              <a:t>Young person</a:t>
            </a:r>
          </a:p>
        </p:txBody>
      </p:sp>
      <p:sp>
        <p:nvSpPr>
          <p:cNvPr name="TextBox 135" id="135"/>
          <p:cNvSpPr txBox="true"/>
          <p:nvPr/>
        </p:nvSpPr>
        <p:spPr>
          <a:xfrm rot="0">
            <a:off x="8637651" y="9396127"/>
            <a:ext cx="573024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141414"/>
                </a:solidFill>
                <a:latin typeface="Barlow Bold"/>
                <a:ea typeface="Barlow Bold"/>
                <a:cs typeface="Barlow Bold"/>
                <a:sym typeface="Barlow Bold"/>
              </a:rPr>
              <a:t>Ages 4–25</a:t>
            </a:r>
          </a:p>
        </p:txBody>
      </p:sp>
      <p:sp>
        <p:nvSpPr>
          <p:cNvPr name="TextBox 136" id="136"/>
          <p:cNvSpPr txBox="true"/>
          <p:nvPr/>
        </p:nvSpPr>
        <p:spPr>
          <a:xfrm rot="0">
            <a:off x="6600825" y="9681877"/>
            <a:ext cx="1004411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>
                <a:solidFill>
                  <a:srgbClr val="6B675F"/>
                </a:solidFill>
                <a:latin typeface="Barlow"/>
                <a:ea typeface="Barlow"/>
                <a:cs typeface="Barlow"/>
                <a:sym typeface="Barlow"/>
              </a:rPr>
              <a:t>Free product ships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8357997" y="9681877"/>
            <a:ext cx="85267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141414"/>
                </a:solidFill>
                <a:latin typeface="Barlow Bold"/>
                <a:ea typeface="Barlow Bold"/>
                <a:cs typeface="Barlow Bold"/>
                <a:sym typeface="Barlow Bold"/>
              </a:rPr>
              <a:t>Every 4 months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6600825" y="9967627"/>
            <a:ext cx="66589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>
                <a:solidFill>
                  <a:srgbClr val="6B675F"/>
                </a:solidFill>
                <a:latin typeface="Barlow"/>
                <a:ea typeface="Barlow"/>
                <a:cs typeface="Barlow"/>
                <a:sym typeface="Barlow"/>
              </a:rPr>
              <a:t>Handling fee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8401336" y="9967627"/>
            <a:ext cx="809339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2F5E22"/>
                </a:solidFill>
                <a:latin typeface="Barlow Bold"/>
                <a:ea typeface="Barlow Bold"/>
                <a:cs typeface="Barlow Bold"/>
                <a:sym typeface="Barlow Bold"/>
              </a:rPr>
              <a:t>$12 / shipment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6600825" y="10253377"/>
            <a:ext cx="1025747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sz="975">
                <a:solidFill>
                  <a:srgbClr val="6B675F"/>
                </a:solidFill>
                <a:latin typeface="Barlow"/>
                <a:ea typeface="Barlow"/>
                <a:cs typeface="Barlow"/>
                <a:sym typeface="Barlow"/>
              </a:rPr>
              <a:t>Everything ships to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8532495" y="10253377"/>
            <a:ext cx="67818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>
                <a:solidFill>
                  <a:srgbClr val="141414"/>
                </a:solidFill>
                <a:latin typeface="Barlow Bold"/>
                <a:ea typeface="Barlow Bold"/>
                <a:cs typeface="Barlow Bold"/>
                <a:sym typeface="Barlow Bold"/>
              </a:rPr>
              <a:t>One address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6645390" y="10834402"/>
            <a:ext cx="2609850" cy="354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87"/>
              </a:lnSpc>
            </a:pPr>
            <a:r>
              <a:rPr lang="en-US" sz="1062">
                <a:solidFill>
                  <a:srgbClr val="8A867C"/>
                </a:solidFill>
                <a:latin typeface="Barlow"/>
                <a:ea typeface="Barlow"/>
                <a:cs typeface="Barlow"/>
                <a:sym typeface="Barlow"/>
              </a:rPr>
              <a:t>Trusted by families for </a:t>
            </a:r>
            <a:r>
              <a:rPr lang="en-US" b="true" sz="1062">
                <a:solidFill>
                  <a:srgbClr val="2F5E22"/>
                </a:solidFill>
                <a:latin typeface="Barlow Bold"/>
                <a:ea typeface="Barlow Bold"/>
                <a:cs typeface="Barlow Bold"/>
                <a:sym typeface="Barlow Bold"/>
              </a:rPr>
              <a:t>20+ years</a:t>
            </a:r>
            <a:r>
              <a:rPr lang="en-US" sz="1062">
                <a:solidFill>
                  <a:srgbClr val="8A867C"/>
                </a:solidFill>
                <a:latin typeface="Barlow"/>
                <a:ea typeface="Barlow"/>
                <a:cs typeface="Barlow"/>
                <a:sym typeface="Barlow"/>
              </a:rPr>
              <a:t> — 250k+ participating adults.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6591300" y="5548027"/>
            <a:ext cx="262890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b="true" sz="1425" spc="57">
                <a:solidFill>
                  <a:srgbClr val="0F1A1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ORDER TODAY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6591300" y="5824252"/>
            <a:ext cx="26289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b="true" sz="1725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bendfc.juiceplus.com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7605236" y="6409563"/>
            <a:ext cx="1600200" cy="36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6"/>
              </a:lnSpc>
            </a:pPr>
            <a:r>
              <a:rPr lang="en-US" sz="975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Scan to order your </a:t>
            </a:r>
            <a:r>
              <a:rPr lang="en-US" b="true" sz="975">
                <a:solidFill>
                  <a:srgbClr val="3D3A33"/>
                </a:solidFill>
                <a:latin typeface="Barlow Bold"/>
                <a:ea typeface="Barlow Bold"/>
                <a:cs typeface="Barlow Bold"/>
                <a:sym typeface="Barlow Bold"/>
              </a:rPr>
              <a:t>Healthy Starts</a:t>
            </a:r>
            <a:r>
              <a:rPr lang="en-US" sz="975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 supplements.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9433179" y="12401550"/>
            <a:ext cx="187071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825">
                <a:solidFill>
                  <a:srgbClr val="C9C6BD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1 / 4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9753600" cy="12620625"/>
          </a:xfrm>
          <a:prstGeom prst="rect">
            <a:avLst/>
          </a:prstGeom>
          <a:solidFill>
            <a:srgbClr val="F4F3EE"/>
          </a:solidFill>
        </p:spPr>
      </p:sp>
      <p:sp>
        <p:nvSpPr>
          <p:cNvPr name="AutoShape 3" id="3"/>
          <p:cNvSpPr/>
          <p:nvPr/>
        </p:nvSpPr>
        <p:spPr>
          <a:xfrm rot="0">
            <a:off x="0" y="0"/>
            <a:ext cx="3581400" cy="12125325"/>
          </a:xfrm>
          <a:prstGeom prst="rect">
            <a:avLst/>
          </a:prstGeom>
          <a:solidFill>
            <a:srgbClr val="272727">
              <a:alpha val="63922"/>
            </a:srgbClr>
          </a:solidFill>
        </p:spPr>
      </p:sp>
      <p:grpSp>
        <p:nvGrpSpPr>
          <p:cNvPr name="Group 4" id="4"/>
          <p:cNvGrpSpPr/>
          <p:nvPr/>
        </p:nvGrpSpPr>
        <p:grpSpPr>
          <a:xfrm rot="0">
            <a:off x="266700" y="1836801"/>
            <a:ext cx="361950" cy="361950"/>
            <a:chOff x="0" y="0"/>
            <a:chExt cx="482600" cy="482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241300" y="0"/>
                  </a:move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ubicBezTo>
                    <a:pt x="0" y="108077"/>
                    <a:pt x="108077" y="0"/>
                    <a:pt x="241300" y="0"/>
                  </a:cubicBezTo>
                  <a:close/>
                </a:path>
              </a:pathLst>
            </a:custGeom>
            <a:solidFill>
              <a:srgbClr val="242424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266700" y="2332101"/>
            <a:ext cx="361950" cy="361950"/>
            <a:chOff x="0" y="0"/>
            <a:chExt cx="482600" cy="4826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241300" y="0"/>
                  </a:move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ubicBezTo>
                    <a:pt x="0" y="108077"/>
                    <a:pt x="108077" y="0"/>
                    <a:pt x="241300" y="0"/>
                  </a:cubicBezTo>
                  <a:close/>
                </a:path>
              </a:pathLst>
            </a:custGeom>
            <a:solidFill>
              <a:srgbClr val="242424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266700" y="2827401"/>
            <a:ext cx="361950" cy="361950"/>
            <a:chOff x="0" y="0"/>
            <a:chExt cx="482600" cy="482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241300" y="0"/>
                  </a:move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ubicBezTo>
                    <a:pt x="0" y="108077"/>
                    <a:pt x="108077" y="0"/>
                    <a:pt x="241300" y="0"/>
                  </a:cubicBezTo>
                  <a:close/>
                </a:path>
              </a:pathLst>
            </a:custGeom>
            <a:solidFill>
              <a:srgbClr val="242424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66700" y="3322701"/>
            <a:ext cx="361950" cy="361950"/>
            <a:chOff x="0" y="0"/>
            <a:chExt cx="482600" cy="4826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82600" cy="482600"/>
            </a:xfrm>
            <a:custGeom>
              <a:avLst/>
              <a:gdLst/>
              <a:ahLst/>
              <a:cxnLst/>
              <a:rect r="r" b="b" t="t" l="l"/>
              <a:pathLst>
                <a:path h="482600" w="482600">
                  <a:moveTo>
                    <a:pt x="241300" y="0"/>
                  </a:moveTo>
                  <a:cubicBezTo>
                    <a:pt x="374523" y="0"/>
                    <a:pt x="482600" y="108077"/>
                    <a:pt x="482600" y="241300"/>
                  </a:cubicBezTo>
                  <a:cubicBezTo>
                    <a:pt x="482600" y="374523"/>
                    <a:pt x="374523" y="482600"/>
                    <a:pt x="241300" y="482600"/>
                  </a:cubicBezTo>
                  <a:cubicBezTo>
                    <a:pt x="108077" y="482600"/>
                    <a:pt x="0" y="374523"/>
                    <a:pt x="0" y="241300"/>
                  </a:cubicBezTo>
                  <a:cubicBezTo>
                    <a:pt x="0" y="108077"/>
                    <a:pt x="108077" y="0"/>
                    <a:pt x="241300" y="0"/>
                  </a:cubicBezTo>
                  <a:close/>
                </a:path>
              </a:pathLst>
            </a:custGeom>
            <a:solidFill>
              <a:srgbClr val="3A3115"/>
            </a:solidFill>
          </p:spPr>
        </p:sp>
      </p:grpSp>
      <p:sp>
        <p:nvSpPr>
          <p:cNvPr name="AutoShape 12" id="12"/>
          <p:cNvSpPr/>
          <p:nvPr/>
        </p:nvSpPr>
        <p:spPr>
          <a:xfrm rot="0">
            <a:off x="266700" y="4590478"/>
            <a:ext cx="3048000" cy="9525"/>
          </a:xfrm>
          <a:prstGeom prst="rect">
            <a:avLst/>
          </a:prstGeom>
          <a:solidFill>
            <a:srgbClr val="262626"/>
          </a:solidFill>
        </p:spPr>
      </p:sp>
      <p:sp>
        <p:nvSpPr>
          <p:cNvPr name="AutoShape 13" id="13"/>
          <p:cNvSpPr/>
          <p:nvPr/>
        </p:nvSpPr>
        <p:spPr>
          <a:xfrm rot="0">
            <a:off x="266700" y="4914329"/>
            <a:ext cx="3048000" cy="9525"/>
          </a:xfrm>
          <a:prstGeom prst="rect">
            <a:avLst/>
          </a:prstGeom>
          <a:solidFill>
            <a:srgbClr val="262626"/>
          </a:solidFill>
        </p:spPr>
      </p:sp>
      <p:sp>
        <p:nvSpPr>
          <p:cNvPr name="AutoShape 14" id="14"/>
          <p:cNvSpPr/>
          <p:nvPr/>
        </p:nvSpPr>
        <p:spPr>
          <a:xfrm rot="0">
            <a:off x="266700" y="5238179"/>
            <a:ext cx="3048000" cy="9525"/>
          </a:xfrm>
          <a:prstGeom prst="rect">
            <a:avLst/>
          </a:prstGeom>
          <a:solidFill>
            <a:srgbClr val="262626"/>
          </a:solidFill>
        </p:spPr>
      </p:sp>
      <p:sp>
        <p:nvSpPr>
          <p:cNvPr name="AutoShape 15" id="15"/>
          <p:cNvSpPr/>
          <p:nvPr/>
        </p:nvSpPr>
        <p:spPr>
          <a:xfrm rot="0">
            <a:off x="266700" y="5562029"/>
            <a:ext cx="3048000" cy="9525"/>
          </a:xfrm>
          <a:prstGeom prst="rect">
            <a:avLst/>
          </a:prstGeom>
          <a:solidFill>
            <a:srgbClr val="262626"/>
          </a:solidFill>
        </p:spPr>
      </p:sp>
      <p:sp>
        <p:nvSpPr>
          <p:cNvPr name="AutoShape 16" id="16"/>
          <p:cNvSpPr/>
          <p:nvPr/>
        </p:nvSpPr>
        <p:spPr>
          <a:xfrm rot="0">
            <a:off x="266700" y="5885879"/>
            <a:ext cx="3048000" cy="9525"/>
          </a:xfrm>
          <a:prstGeom prst="rect">
            <a:avLst/>
          </a:prstGeom>
          <a:solidFill>
            <a:srgbClr val="262626"/>
          </a:solidFill>
        </p:spPr>
      </p:sp>
      <p:sp>
        <p:nvSpPr>
          <p:cNvPr name="AutoShape 17" id="17"/>
          <p:cNvSpPr/>
          <p:nvPr/>
        </p:nvSpPr>
        <p:spPr>
          <a:xfrm rot="0">
            <a:off x="266700" y="6209729"/>
            <a:ext cx="3048000" cy="9525"/>
          </a:xfrm>
          <a:prstGeom prst="rect">
            <a:avLst/>
          </a:prstGeom>
          <a:solidFill>
            <a:srgbClr val="262626"/>
          </a:solidFill>
        </p:spPr>
      </p:sp>
      <p:sp>
        <p:nvSpPr>
          <p:cNvPr name="AutoShape 18" id="18"/>
          <p:cNvSpPr/>
          <p:nvPr/>
        </p:nvSpPr>
        <p:spPr>
          <a:xfrm rot="0">
            <a:off x="266700" y="6533579"/>
            <a:ext cx="3048000" cy="9525"/>
          </a:xfrm>
          <a:prstGeom prst="rect">
            <a:avLst/>
          </a:prstGeom>
          <a:solidFill>
            <a:srgbClr val="262626"/>
          </a:solidFill>
        </p:spPr>
      </p:sp>
      <p:sp>
        <p:nvSpPr>
          <p:cNvPr name="AutoShape 19" id="19"/>
          <p:cNvSpPr/>
          <p:nvPr/>
        </p:nvSpPr>
        <p:spPr>
          <a:xfrm rot="0">
            <a:off x="266700" y="6857429"/>
            <a:ext cx="3048000" cy="9525"/>
          </a:xfrm>
          <a:prstGeom prst="rect">
            <a:avLst/>
          </a:prstGeom>
          <a:solidFill>
            <a:srgbClr val="262626"/>
          </a:solidFill>
        </p:spPr>
      </p:sp>
      <p:sp>
        <p:nvSpPr>
          <p:cNvPr name="AutoShape 20" id="20"/>
          <p:cNvSpPr/>
          <p:nvPr/>
        </p:nvSpPr>
        <p:spPr>
          <a:xfrm rot="0">
            <a:off x="266700" y="7181279"/>
            <a:ext cx="3048000" cy="9525"/>
          </a:xfrm>
          <a:prstGeom prst="rect">
            <a:avLst/>
          </a:prstGeom>
          <a:solidFill>
            <a:srgbClr val="262626"/>
          </a:solidFill>
        </p:spPr>
      </p:sp>
      <p:grpSp>
        <p:nvGrpSpPr>
          <p:cNvPr name="Group 21" id="21"/>
          <p:cNvGrpSpPr/>
          <p:nvPr/>
        </p:nvGrpSpPr>
        <p:grpSpPr>
          <a:xfrm rot="0">
            <a:off x="8077200" y="285750"/>
            <a:ext cx="1333500" cy="1010698"/>
            <a:chOff x="0" y="0"/>
            <a:chExt cx="1778000" cy="134759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778000" cy="1347597"/>
            </a:xfrm>
            <a:custGeom>
              <a:avLst/>
              <a:gdLst/>
              <a:ahLst/>
              <a:cxnLst/>
              <a:rect r="r" b="b" t="t" l="l"/>
              <a:pathLst>
                <a:path h="1347597" w="1778000">
                  <a:moveTo>
                    <a:pt x="152400" y="0"/>
                  </a:moveTo>
                  <a:lnTo>
                    <a:pt x="1625600" y="0"/>
                  </a:lnTo>
                  <a:cubicBezTo>
                    <a:pt x="1709801" y="0"/>
                    <a:pt x="1778000" y="68199"/>
                    <a:pt x="1778000" y="152400"/>
                  </a:cubicBezTo>
                  <a:lnTo>
                    <a:pt x="1778000" y="1195197"/>
                  </a:lnTo>
                  <a:cubicBezTo>
                    <a:pt x="1778000" y="1279398"/>
                    <a:pt x="1709801" y="1347597"/>
                    <a:pt x="1625600" y="1347597"/>
                  </a:cubicBezTo>
                  <a:lnTo>
                    <a:pt x="152400" y="1347597"/>
                  </a:lnTo>
                  <a:cubicBezTo>
                    <a:pt x="68199" y="1347597"/>
                    <a:pt x="0" y="1279398"/>
                    <a:pt x="0" y="1195197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141414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778000" cy="1347597"/>
            </a:xfrm>
            <a:custGeom>
              <a:avLst/>
              <a:gdLst/>
              <a:ahLst/>
              <a:cxnLst/>
              <a:rect r="r" b="b" t="t" l="l"/>
              <a:pathLst>
                <a:path h="1347597" w="1778000">
                  <a:moveTo>
                    <a:pt x="152400" y="0"/>
                  </a:moveTo>
                  <a:lnTo>
                    <a:pt x="1625600" y="0"/>
                  </a:lnTo>
                  <a:cubicBezTo>
                    <a:pt x="1709801" y="0"/>
                    <a:pt x="1778000" y="68199"/>
                    <a:pt x="1778000" y="152400"/>
                  </a:cubicBezTo>
                  <a:lnTo>
                    <a:pt x="1778000" y="1195197"/>
                  </a:lnTo>
                  <a:cubicBezTo>
                    <a:pt x="1778000" y="1279398"/>
                    <a:pt x="1709801" y="1347597"/>
                    <a:pt x="1625600" y="1347597"/>
                  </a:cubicBezTo>
                  <a:lnTo>
                    <a:pt x="152400" y="1347597"/>
                  </a:lnTo>
                  <a:cubicBezTo>
                    <a:pt x="68199" y="1347597"/>
                    <a:pt x="0" y="1279398"/>
                    <a:pt x="0" y="1195197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C6A15B"/>
              </a:solidFill>
              <a:prstDash val="solid"/>
              <a:miter/>
            </a:ln>
          </p:spPr>
        </p:sp>
      </p:grpSp>
      <p:grpSp>
        <p:nvGrpSpPr>
          <p:cNvPr name="Group 24" id="24"/>
          <p:cNvGrpSpPr/>
          <p:nvPr/>
        </p:nvGrpSpPr>
        <p:grpSpPr>
          <a:xfrm rot="0">
            <a:off x="3924300" y="5928265"/>
            <a:ext cx="5486400" cy="1609725"/>
            <a:chOff x="0" y="0"/>
            <a:chExt cx="7315200" cy="21463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315200" cy="2146300"/>
            </a:xfrm>
            <a:custGeom>
              <a:avLst/>
              <a:gdLst/>
              <a:ahLst/>
              <a:cxnLst/>
              <a:rect r="r" b="b" t="t" l="l"/>
              <a:pathLst>
                <a:path h="2146300" w="7315200">
                  <a:moveTo>
                    <a:pt x="152400" y="0"/>
                  </a:moveTo>
                  <a:lnTo>
                    <a:pt x="7162800" y="0"/>
                  </a:lnTo>
                  <a:cubicBezTo>
                    <a:pt x="7247001" y="0"/>
                    <a:pt x="7315200" y="68199"/>
                    <a:pt x="7315200" y="152400"/>
                  </a:cubicBezTo>
                  <a:lnTo>
                    <a:pt x="7315200" y="1993900"/>
                  </a:lnTo>
                  <a:cubicBezTo>
                    <a:pt x="7315200" y="2078101"/>
                    <a:pt x="7247001" y="2146300"/>
                    <a:pt x="7162800" y="2146300"/>
                  </a:cubicBezTo>
                  <a:lnTo>
                    <a:pt x="152400" y="2146300"/>
                  </a:lnTo>
                  <a:cubicBezTo>
                    <a:pt x="68199" y="2146300"/>
                    <a:pt x="0" y="2078101"/>
                    <a:pt x="0" y="19939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315200" cy="2146300"/>
            </a:xfrm>
            <a:custGeom>
              <a:avLst/>
              <a:gdLst/>
              <a:ahLst/>
              <a:cxnLst/>
              <a:rect r="r" b="b" t="t" l="l"/>
              <a:pathLst>
                <a:path h="2146300" w="7315200">
                  <a:moveTo>
                    <a:pt x="152400" y="0"/>
                  </a:moveTo>
                  <a:lnTo>
                    <a:pt x="7162800" y="0"/>
                  </a:lnTo>
                  <a:cubicBezTo>
                    <a:pt x="7247001" y="0"/>
                    <a:pt x="7315200" y="68199"/>
                    <a:pt x="7315200" y="152400"/>
                  </a:cubicBezTo>
                  <a:lnTo>
                    <a:pt x="7315200" y="1993900"/>
                  </a:lnTo>
                  <a:cubicBezTo>
                    <a:pt x="7315200" y="2078101"/>
                    <a:pt x="7247001" y="2146300"/>
                    <a:pt x="7162800" y="2146300"/>
                  </a:cubicBezTo>
                  <a:lnTo>
                    <a:pt x="152400" y="2146300"/>
                  </a:lnTo>
                  <a:cubicBezTo>
                    <a:pt x="68199" y="2146300"/>
                    <a:pt x="0" y="2078101"/>
                    <a:pt x="0" y="19939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DED4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3924300" y="7671340"/>
            <a:ext cx="5486400" cy="2283809"/>
            <a:chOff x="0" y="0"/>
            <a:chExt cx="7315200" cy="304507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7315200" cy="3045079"/>
            </a:xfrm>
            <a:custGeom>
              <a:avLst/>
              <a:gdLst/>
              <a:ahLst/>
              <a:cxnLst/>
              <a:rect r="r" b="b" t="t" l="l"/>
              <a:pathLst>
                <a:path h="3045079" w="7315200">
                  <a:moveTo>
                    <a:pt x="152400" y="0"/>
                  </a:moveTo>
                  <a:lnTo>
                    <a:pt x="7162800" y="0"/>
                  </a:lnTo>
                  <a:cubicBezTo>
                    <a:pt x="7247001" y="0"/>
                    <a:pt x="7315200" y="68199"/>
                    <a:pt x="7315200" y="152400"/>
                  </a:cubicBezTo>
                  <a:lnTo>
                    <a:pt x="7315200" y="2892679"/>
                  </a:lnTo>
                  <a:cubicBezTo>
                    <a:pt x="7315200" y="2976880"/>
                    <a:pt x="7247001" y="3045079"/>
                    <a:pt x="7162800" y="3045079"/>
                  </a:cubicBezTo>
                  <a:lnTo>
                    <a:pt x="152400" y="3045079"/>
                  </a:lnTo>
                  <a:cubicBezTo>
                    <a:pt x="68199" y="3045079"/>
                    <a:pt x="0" y="2976880"/>
                    <a:pt x="0" y="2892679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7315200" cy="3045079"/>
            </a:xfrm>
            <a:custGeom>
              <a:avLst/>
              <a:gdLst/>
              <a:ahLst/>
              <a:cxnLst/>
              <a:rect r="r" b="b" t="t" l="l"/>
              <a:pathLst>
                <a:path h="3045079" w="7315200">
                  <a:moveTo>
                    <a:pt x="152400" y="0"/>
                  </a:moveTo>
                  <a:lnTo>
                    <a:pt x="7162800" y="0"/>
                  </a:lnTo>
                  <a:cubicBezTo>
                    <a:pt x="7247001" y="0"/>
                    <a:pt x="7315200" y="68199"/>
                    <a:pt x="7315200" y="152400"/>
                  </a:cubicBezTo>
                  <a:lnTo>
                    <a:pt x="7315200" y="2892679"/>
                  </a:lnTo>
                  <a:cubicBezTo>
                    <a:pt x="7315200" y="2976880"/>
                    <a:pt x="7247001" y="3045079"/>
                    <a:pt x="7162800" y="3045079"/>
                  </a:cubicBezTo>
                  <a:lnTo>
                    <a:pt x="152400" y="3045079"/>
                  </a:lnTo>
                  <a:cubicBezTo>
                    <a:pt x="68199" y="3045079"/>
                    <a:pt x="0" y="2976880"/>
                    <a:pt x="0" y="2892679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DED4"/>
              </a:solidFill>
              <a:prstDash val="solid"/>
              <a:miter/>
            </a:ln>
          </p:spPr>
        </p:sp>
      </p:grpSp>
      <p:grpSp>
        <p:nvGrpSpPr>
          <p:cNvPr name="Group 30" id="30"/>
          <p:cNvGrpSpPr/>
          <p:nvPr/>
        </p:nvGrpSpPr>
        <p:grpSpPr>
          <a:xfrm rot="0">
            <a:off x="7553325" y="7823740"/>
            <a:ext cx="1676400" cy="1066324"/>
            <a:chOff x="0" y="0"/>
            <a:chExt cx="2235200" cy="142176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2235200" cy="1421765"/>
            </a:xfrm>
            <a:custGeom>
              <a:avLst/>
              <a:gdLst/>
              <a:ahLst/>
              <a:cxnLst/>
              <a:rect r="r" b="b" t="t" l="l"/>
              <a:pathLst>
                <a:path h="1421765" w="2235200">
                  <a:moveTo>
                    <a:pt x="127000" y="0"/>
                  </a:moveTo>
                  <a:lnTo>
                    <a:pt x="2108200" y="0"/>
                  </a:lnTo>
                  <a:cubicBezTo>
                    <a:pt x="2178304" y="0"/>
                    <a:pt x="2235200" y="56896"/>
                    <a:pt x="2235200" y="127000"/>
                  </a:cubicBezTo>
                  <a:lnTo>
                    <a:pt x="2235200" y="1294765"/>
                  </a:lnTo>
                  <a:cubicBezTo>
                    <a:pt x="2235200" y="1364869"/>
                    <a:pt x="2178304" y="1421765"/>
                    <a:pt x="2108200" y="1421765"/>
                  </a:cubicBezTo>
                  <a:lnTo>
                    <a:pt x="127000" y="1421765"/>
                  </a:lnTo>
                  <a:cubicBezTo>
                    <a:pt x="56896" y="1421765"/>
                    <a:pt x="0" y="1364869"/>
                    <a:pt x="0" y="1294765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F3F7EE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35200" cy="1421765"/>
            </a:xfrm>
            <a:custGeom>
              <a:avLst/>
              <a:gdLst/>
              <a:ahLst/>
              <a:cxnLst/>
              <a:rect r="r" b="b" t="t" l="l"/>
              <a:pathLst>
                <a:path h="1421765" w="2235200">
                  <a:moveTo>
                    <a:pt x="127000" y="0"/>
                  </a:moveTo>
                  <a:lnTo>
                    <a:pt x="2108200" y="0"/>
                  </a:lnTo>
                  <a:cubicBezTo>
                    <a:pt x="2178304" y="0"/>
                    <a:pt x="2235200" y="56896"/>
                    <a:pt x="2235200" y="127000"/>
                  </a:cubicBezTo>
                  <a:lnTo>
                    <a:pt x="2235200" y="1294765"/>
                  </a:lnTo>
                  <a:cubicBezTo>
                    <a:pt x="2235200" y="1364869"/>
                    <a:pt x="2178304" y="1421765"/>
                    <a:pt x="2108200" y="1421765"/>
                  </a:cubicBezTo>
                  <a:lnTo>
                    <a:pt x="127000" y="1421765"/>
                  </a:lnTo>
                  <a:cubicBezTo>
                    <a:pt x="56896" y="1421765"/>
                    <a:pt x="0" y="1364869"/>
                    <a:pt x="0" y="1294765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3ECD9"/>
              </a:solidFill>
              <a:prstDash val="solid"/>
              <a:miter/>
            </a:ln>
          </p:spPr>
        </p:sp>
      </p:grpSp>
      <p:sp>
        <p:nvSpPr>
          <p:cNvPr name="AutoShape 33" id="33"/>
          <p:cNvSpPr/>
          <p:nvPr/>
        </p:nvSpPr>
        <p:spPr>
          <a:xfrm rot="0">
            <a:off x="4105275" y="9004364"/>
            <a:ext cx="1650968" cy="9525"/>
          </a:xfrm>
          <a:prstGeom prst="rect">
            <a:avLst/>
          </a:prstGeom>
          <a:solidFill>
            <a:srgbClr val="E7E3D9"/>
          </a:solidFill>
        </p:spPr>
      </p:sp>
      <p:sp>
        <p:nvSpPr>
          <p:cNvPr name="AutoShape 34" id="34"/>
          <p:cNvSpPr/>
          <p:nvPr/>
        </p:nvSpPr>
        <p:spPr>
          <a:xfrm rot="0">
            <a:off x="5746718" y="9013888"/>
            <a:ext cx="9525" cy="779240"/>
          </a:xfrm>
          <a:prstGeom prst="rect">
            <a:avLst/>
          </a:prstGeom>
          <a:solidFill>
            <a:srgbClr val="E7E3D9"/>
          </a:solidFill>
        </p:spPr>
      </p:sp>
      <p:sp>
        <p:nvSpPr>
          <p:cNvPr name="AutoShape 35" id="35"/>
          <p:cNvSpPr/>
          <p:nvPr/>
        </p:nvSpPr>
        <p:spPr>
          <a:xfrm rot="0">
            <a:off x="4105275" y="9793129"/>
            <a:ext cx="1650968" cy="9525"/>
          </a:xfrm>
          <a:prstGeom prst="rect">
            <a:avLst/>
          </a:prstGeom>
          <a:solidFill>
            <a:srgbClr val="E7E3D9"/>
          </a:solidFill>
        </p:spPr>
      </p:sp>
      <p:sp>
        <p:nvSpPr>
          <p:cNvPr name="AutoShape 36" id="36"/>
          <p:cNvSpPr/>
          <p:nvPr/>
        </p:nvSpPr>
        <p:spPr>
          <a:xfrm rot="0">
            <a:off x="4105275" y="9013888"/>
            <a:ext cx="28575" cy="779240"/>
          </a:xfrm>
          <a:prstGeom prst="rect">
            <a:avLst/>
          </a:prstGeom>
          <a:solidFill>
            <a:srgbClr val="5B9E2E"/>
          </a:solidFill>
        </p:spPr>
      </p:sp>
      <p:sp>
        <p:nvSpPr>
          <p:cNvPr name="AutoShape 37" id="37"/>
          <p:cNvSpPr/>
          <p:nvPr/>
        </p:nvSpPr>
        <p:spPr>
          <a:xfrm rot="0">
            <a:off x="5841968" y="9004364"/>
            <a:ext cx="1650968" cy="9525"/>
          </a:xfrm>
          <a:prstGeom prst="rect">
            <a:avLst/>
          </a:prstGeom>
          <a:solidFill>
            <a:srgbClr val="E7E3D9"/>
          </a:solidFill>
        </p:spPr>
      </p:sp>
      <p:sp>
        <p:nvSpPr>
          <p:cNvPr name="AutoShape 38" id="38"/>
          <p:cNvSpPr/>
          <p:nvPr/>
        </p:nvSpPr>
        <p:spPr>
          <a:xfrm rot="0">
            <a:off x="7483412" y="9013888"/>
            <a:ext cx="9525" cy="779240"/>
          </a:xfrm>
          <a:prstGeom prst="rect">
            <a:avLst/>
          </a:prstGeom>
          <a:solidFill>
            <a:srgbClr val="E7E3D9"/>
          </a:solidFill>
        </p:spPr>
      </p:sp>
      <p:sp>
        <p:nvSpPr>
          <p:cNvPr name="AutoShape 39" id="39"/>
          <p:cNvSpPr/>
          <p:nvPr/>
        </p:nvSpPr>
        <p:spPr>
          <a:xfrm rot="0">
            <a:off x="5841968" y="9793129"/>
            <a:ext cx="1650968" cy="9525"/>
          </a:xfrm>
          <a:prstGeom prst="rect">
            <a:avLst/>
          </a:prstGeom>
          <a:solidFill>
            <a:srgbClr val="E7E3D9"/>
          </a:solidFill>
        </p:spPr>
      </p:sp>
      <p:sp>
        <p:nvSpPr>
          <p:cNvPr name="AutoShape 40" id="40"/>
          <p:cNvSpPr/>
          <p:nvPr/>
        </p:nvSpPr>
        <p:spPr>
          <a:xfrm rot="0">
            <a:off x="5841968" y="9013888"/>
            <a:ext cx="28575" cy="779240"/>
          </a:xfrm>
          <a:prstGeom prst="rect">
            <a:avLst/>
          </a:prstGeom>
          <a:solidFill>
            <a:srgbClr val="C6A15B"/>
          </a:solidFill>
        </p:spPr>
      </p:sp>
      <p:sp>
        <p:nvSpPr>
          <p:cNvPr name="AutoShape 41" id="41"/>
          <p:cNvSpPr/>
          <p:nvPr/>
        </p:nvSpPr>
        <p:spPr>
          <a:xfrm rot="0">
            <a:off x="7578662" y="9004364"/>
            <a:ext cx="1650968" cy="9525"/>
          </a:xfrm>
          <a:prstGeom prst="rect">
            <a:avLst/>
          </a:prstGeom>
          <a:solidFill>
            <a:srgbClr val="E7E3D9"/>
          </a:solidFill>
        </p:spPr>
      </p:sp>
      <p:sp>
        <p:nvSpPr>
          <p:cNvPr name="AutoShape 42" id="42"/>
          <p:cNvSpPr/>
          <p:nvPr/>
        </p:nvSpPr>
        <p:spPr>
          <a:xfrm rot="0">
            <a:off x="9220105" y="9013888"/>
            <a:ext cx="9525" cy="779240"/>
          </a:xfrm>
          <a:prstGeom prst="rect">
            <a:avLst/>
          </a:prstGeom>
          <a:solidFill>
            <a:srgbClr val="E7E3D9"/>
          </a:solidFill>
        </p:spPr>
      </p:sp>
      <p:sp>
        <p:nvSpPr>
          <p:cNvPr name="AutoShape 43" id="43"/>
          <p:cNvSpPr/>
          <p:nvPr/>
        </p:nvSpPr>
        <p:spPr>
          <a:xfrm rot="0">
            <a:off x="7578662" y="9793129"/>
            <a:ext cx="1650968" cy="9525"/>
          </a:xfrm>
          <a:prstGeom prst="rect">
            <a:avLst/>
          </a:prstGeom>
          <a:solidFill>
            <a:srgbClr val="E7E3D9"/>
          </a:solidFill>
        </p:spPr>
      </p:sp>
      <p:sp>
        <p:nvSpPr>
          <p:cNvPr name="AutoShape 44" id="44"/>
          <p:cNvSpPr/>
          <p:nvPr/>
        </p:nvSpPr>
        <p:spPr>
          <a:xfrm rot="0">
            <a:off x="7578662" y="9013888"/>
            <a:ext cx="28575" cy="779240"/>
          </a:xfrm>
          <a:prstGeom prst="rect">
            <a:avLst/>
          </a:prstGeom>
          <a:solidFill>
            <a:srgbClr val="C6A15B"/>
          </a:solidFill>
        </p:spPr>
      </p:sp>
      <p:sp>
        <p:nvSpPr>
          <p:cNvPr name="AutoShape 45" id="45"/>
          <p:cNvSpPr/>
          <p:nvPr/>
        </p:nvSpPr>
        <p:spPr>
          <a:xfrm rot="0">
            <a:off x="0" y="12125325"/>
            <a:ext cx="9753600" cy="495300"/>
          </a:xfrm>
          <a:prstGeom prst="rect">
            <a:avLst/>
          </a:prstGeom>
          <a:solidFill>
            <a:srgbClr val="141414"/>
          </a:solidFill>
        </p:spPr>
      </p:sp>
      <p:sp>
        <p:nvSpPr>
          <p:cNvPr name="Freeform 46" id="46"/>
          <p:cNvSpPr/>
          <p:nvPr/>
        </p:nvSpPr>
        <p:spPr>
          <a:xfrm flipH="false" flipV="false" rot="0">
            <a:off x="352425" y="1922526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352425" y="2417826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8" id="48"/>
          <p:cNvSpPr/>
          <p:nvPr/>
        </p:nvSpPr>
        <p:spPr>
          <a:xfrm flipH="false" flipV="false" rot="0">
            <a:off x="352425" y="2913126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9" id="49"/>
          <p:cNvSpPr/>
          <p:nvPr/>
        </p:nvSpPr>
        <p:spPr>
          <a:xfrm flipH="false" flipV="false" rot="0">
            <a:off x="352425" y="3408426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3171825" y="4361878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6"/>
                </a:lnTo>
                <a:lnTo>
                  <a:pt x="0" y="1428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3171825" y="4685728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6"/>
                </a:lnTo>
                <a:lnTo>
                  <a:pt x="0" y="1428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2" id="52"/>
          <p:cNvSpPr/>
          <p:nvPr/>
        </p:nvSpPr>
        <p:spPr>
          <a:xfrm flipH="false" flipV="false" rot="0">
            <a:off x="3171825" y="5009579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3" id="53"/>
          <p:cNvSpPr/>
          <p:nvPr/>
        </p:nvSpPr>
        <p:spPr>
          <a:xfrm flipH="false" flipV="false" rot="0">
            <a:off x="3171825" y="5333429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3171825" y="5657279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3171825" y="5981129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3171825" y="6304979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7" id="57"/>
          <p:cNvSpPr/>
          <p:nvPr/>
        </p:nvSpPr>
        <p:spPr>
          <a:xfrm flipH="false" flipV="false" rot="0">
            <a:off x="3171825" y="6628829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3171825" y="6952679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3171825" y="7276529"/>
            <a:ext cx="142875" cy="142875"/>
          </a:xfrm>
          <a:custGeom>
            <a:avLst/>
            <a:gdLst/>
            <a:ahLst/>
            <a:cxnLst/>
            <a:rect r="r" b="b" t="t" l="l"/>
            <a:pathLst>
              <a:path h="142875" w="142875">
                <a:moveTo>
                  <a:pt x="0" y="0"/>
                </a:moveTo>
                <a:lnTo>
                  <a:pt x="142875" y="0"/>
                </a:lnTo>
                <a:lnTo>
                  <a:pt x="142875" y="142875"/>
                </a:lnTo>
                <a:lnTo>
                  <a:pt x="0" y="14287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0" id="60"/>
          <p:cNvGrpSpPr/>
          <p:nvPr/>
        </p:nvGrpSpPr>
        <p:grpSpPr>
          <a:xfrm rot="0">
            <a:off x="3924300" y="1448848"/>
            <a:ext cx="5486400" cy="3781425"/>
            <a:chOff x="0" y="0"/>
            <a:chExt cx="7315200" cy="5041900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7315200" cy="5041900"/>
            </a:xfrm>
            <a:custGeom>
              <a:avLst/>
              <a:gdLst/>
              <a:ahLst/>
              <a:cxnLst/>
              <a:rect r="r" b="b" t="t" l="l"/>
              <a:pathLst>
                <a:path h="5041900" w="7315200">
                  <a:moveTo>
                    <a:pt x="152400" y="0"/>
                  </a:moveTo>
                  <a:lnTo>
                    <a:pt x="7162800" y="0"/>
                  </a:lnTo>
                  <a:cubicBezTo>
                    <a:pt x="7247001" y="0"/>
                    <a:pt x="7315200" y="68199"/>
                    <a:pt x="7315200" y="152400"/>
                  </a:cubicBezTo>
                  <a:lnTo>
                    <a:pt x="7315200" y="4889500"/>
                  </a:lnTo>
                  <a:cubicBezTo>
                    <a:pt x="7315200" y="4973701"/>
                    <a:pt x="7247001" y="5041900"/>
                    <a:pt x="7162800" y="5041900"/>
                  </a:cubicBezTo>
                  <a:lnTo>
                    <a:pt x="152400" y="5041900"/>
                  </a:lnTo>
                  <a:cubicBezTo>
                    <a:pt x="68199" y="5041900"/>
                    <a:pt x="0" y="4973701"/>
                    <a:pt x="0" y="48895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315200" cy="5041900"/>
            </a:xfrm>
            <a:custGeom>
              <a:avLst/>
              <a:gdLst/>
              <a:ahLst/>
              <a:cxnLst/>
              <a:rect r="r" b="b" t="t" l="l"/>
              <a:pathLst>
                <a:path h="5041900" w="7315200">
                  <a:moveTo>
                    <a:pt x="152400" y="0"/>
                  </a:moveTo>
                  <a:lnTo>
                    <a:pt x="7162800" y="0"/>
                  </a:lnTo>
                  <a:cubicBezTo>
                    <a:pt x="7247001" y="0"/>
                    <a:pt x="7315200" y="68199"/>
                    <a:pt x="7315200" y="152400"/>
                  </a:cubicBezTo>
                  <a:lnTo>
                    <a:pt x="7315200" y="4889500"/>
                  </a:lnTo>
                  <a:cubicBezTo>
                    <a:pt x="7315200" y="4973701"/>
                    <a:pt x="7247001" y="5041900"/>
                    <a:pt x="7162800" y="5041900"/>
                  </a:cubicBezTo>
                  <a:lnTo>
                    <a:pt x="152400" y="5041900"/>
                  </a:lnTo>
                  <a:cubicBezTo>
                    <a:pt x="68199" y="5041900"/>
                    <a:pt x="0" y="4973701"/>
                    <a:pt x="0" y="488950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DED4"/>
              </a:solidFill>
              <a:prstDash val="solid"/>
              <a:miter/>
            </a:ln>
          </p:spPr>
        </p:sp>
      </p:grpSp>
      <p:grpSp>
        <p:nvGrpSpPr>
          <p:cNvPr name="Group 63" id="63"/>
          <p:cNvGrpSpPr/>
          <p:nvPr/>
        </p:nvGrpSpPr>
        <p:grpSpPr>
          <a:xfrm rot="0">
            <a:off x="3933825" y="1458373"/>
            <a:ext cx="5467350" cy="352425"/>
            <a:chOff x="0" y="0"/>
            <a:chExt cx="7289800" cy="469900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7289800" cy="469900"/>
            </a:xfrm>
            <a:custGeom>
              <a:avLst/>
              <a:gdLst/>
              <a:ahLst/>
              <a:cxnLst/>
              <a:rect r="r" b="b" t="t" l="l"/>
              <a:pathLst>
                <a:path h="469900" w="7289800">
                  <a:moveTo>
                    <a:pt x="0" y="0"/>
                  </a:moveTo>
                  <a:lnTo>
                    <a:pt x="7289800" y="0"/>
                  </a:lnTo>
                  <a:lnTo>
                    <a:pt x="7289800" y="469900"/>
                  </a:lnTo>
                  <a:lnTo>
                    <a:pt x="0" y="4699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41414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-19050"/>
              <a:ext cx="7289800" cy="488950"/>
            </a:xfrm>
            <a:prstGeom prst="rect">
              <a:avLst/>
            </a:prstGeom>
          </p:spPr>
          <p:txBody>
            <a:bodyPr anchor="ctr" rtlCol="false" tIns="114300" lIns="114300" bIns="114300" rIns="114300"/>
            <a:lstStyle/>
            <a:p>
              <a:pPr algn="l">
                <a:lnSpc>
                  <a:spcPts val="1679"/>
                </a:lnSpc>
              </a:pPr>
              <a:r>
                <a:rPr lang="en-US" b="true" sz="1200" spc="36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EXAMPLE: FRUIT + VEGETABLE + BERRY CAPSULE SUBSCRIPTION — $82 / MONTH</a:t>
              </a: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3933825" y="1810798"/>
            <a:ext cx="1041368" cy="333375"/>
            <a:chOff x="0" y="0"/>
            <a:chExt cx="1388491" cy="4445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1388491" cy="444500"/>
            </a:xfrm>
            <a:custGeom>
              <a:avLst/>
              <a:gdLst/>
              <a:ahLst/>
              <a:cxnLst/>
              <a:rect r="r" b="b" t="t" l="l"/>
              <a:pathLst>
                <a:path h="444500" w="1388491">
                  <a:moveTo>
                    <a:pt x="0" y="0"/>
                  </a:moveTo>
                  <a:lnTo>
                    <a:pt x="1388491" y="0"/>
                  </a:lnTo>
                  <a:lnTo>
                    <a:pt x="1388491" y="444500"/>
                  </a:lnTo>
                  <a:lnTo>
                    <a:pt x="0" y="444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EFE8"/>
            </a:solid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28575"/>
              <a:ext cx="1388491" cy="473075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l">
                <a:lnSpc>
                  <a:spcPts val="1102"/>
                </a:lnSpc>
              </a:pPr>
              <a:r>
                <a:rPr lang="en-US" b="true" sz="787" spc="15">
                  <a:solidFill>
                    <a:srgbClr val="6B675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ADULT ORDERS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4975193" y="1810798"/>
            <a:ext cx="1431893" cy="333375"/>
            <a:chOff x="0" y="0"/>
            <a:chExt cx="1909191" cy="444500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909191" cy="444500"/>
            </a:xfrm>
            <a:custGeom>
              <a:avLst/>
              <a:gdLst/>
              <a:ahLst/>
              <a:cxnLst/>
              <a:rect r="r" b="b" t="t" l="l"/>
              <a:pathLst>
                <a:path h="444500" w="1909191">
                  <a:moveTo>
                    <a:pt x="0" y="0"/>
                  </a:moveTo>
                  <a:lnTo>
                    <a:pt x="1909191" y="0"/>
                  </a:lnTo>
                  <a:lnTo>
                    <a:pt x="1909191" y="444500"/>
                  </a:lnTo>
                  <a:lnTo>
                    <a:pt x="0" y="444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EFE8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-28575"/>
              <a:ext cx="1909191" cy="473075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r">
                <a:lnSpc>
                  <a:spcPts val="1102"/>
                </a:lnSpc>
              </a:pPr>
              <a:r>
                <a:rPr lang="en-US" b="true" sz="787" spc="15">
                  <a:solidFill>
                    <a:srgbClr val="6B675F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MONTHLY REVENUE</a:t>
              </a: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6407086" y="1810798"/>
            <a:ext cx="1497044" cy="333375"/>
            <a:chOff x="0" y="0"/>
            <a:chExt cx="1996059" cy="444500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1996059" cy="444500"/>
            </a:xfrm>
            <a:custGeom>
              <a:avLst/>
              <a:gdLst/>
              <a:ahLst/>
              <a:cxnLst/>
              <a:rect r="r" b="b" t="t" l="l"/>
              <a:pathLst>
                <a:path h="444500" w="1996059">
                  <a:moveTo>
                    <a:pt x="0" y="0"/>
                  </a:moveTo>
                  <a:lnTo>
                    <a:pt x="1996059" y="0"/>
                  </a:lnTo>
                  <a:lnTo>
                    <a:pt x="1996059" y="444500"/>
                  </a:lnTo>
                  <a:lnTo>
                    <a:pt x="0" y="444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F4E7"/>
            </a:solid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28575"/>
              <a:ext cx="1996059" cy="473075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r">
                <a:lnSpc>
                  <a:spcPts val="1102"/>
                </a:lnSpc>
              </a:pPr>
              <a:r>
                <a:rPr lang="en-US" b="true" sz="787" spc="15">
                  <a:solidFill>
                    <a:srgbClr val="3F6B2E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BEND FC / MONTH (5%)</a:t>
              </a:r>
            </a:p>
          </p:txBody>
        </p:sp>
      </p:grpSp>
      <p:grpSp>
        <p:nvGrpSpPr>
          <p:cNvPr name="Group 75" id="75"/>
          <p:cNvGrpSpPr/>
          <p:nvPr/>
        </p:nvGrpSpPr>
        <p:grpSpPr>
          <a:xfrm rot="0">
            <a:off x="7904131" y="1810798"/>
            <a:ext cx="1496949" cy="333375"/>
            <a:chOff x="0" y="0"/>
            <a:chExt cx="1995932" cy="444500"/>
          </a:xfrm>
        </p:grpSpPr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1995932" cy="444500"/>
            </a:xfrm>
            <a:custGeom>
              <a:avLst/>
              <a:gdLst/>
              <a:ahLst/>
              <a:cxnLst/>
              <a:rect r="r" b="b" t="t" l="l"/>
              <a:pathLst>
                <a:path h="444500" w="1995932">
                  <a:moveTo>
                    <a:pt x="0" y="0"/>
                  </a:moveTo>
                  <a:lnTo>
                    <a:pt x="1995932" y="0"/>
                  </a:lnTo>
                  <a:lnTo>
                    <a:pt x="1995932" y="444500"/>
                  </a:lnTo>
                  <a:lnTo>
                    <a:pt x="0" y="444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431C"/>
            </a:solidFill>
          </p:spPr>
        </p:sp>
        <p:sp>
          <p:nvSpPr>
            <p:cNvPr name="TextBox 77" id="77"/>
            <p:cNvSpPr txBox="true"/>
            <p:nvPr/>
          </p:nvSpPr>
          <p:spPr>
            <a:xfrm>
              <a:off x="0" y="-28575"/>
              <a:ext cx="1995932" cy="473075"/>
            </a:xfrm>
            <a:prstGeom prst="rect">
              <a:avLst/>
            </a:prstGeom>
          </p:spPr>
          <p:txBody>
            <a:bodyPr anchor="ctr" rtlCol="false" tIns="139700" lIns="139700" bIns="139700" rIns="139700"/>
            <a:lstStyle/>
            <a:p>
              <a:pPr algn="r">
                <a:lnSpc>
                  <a:spcPts val="1102"/>
                </a:lnSpc>
              </a:pPr>
              <a:r>
                <a:rPr lang="en-US" b="true" sz="787" spc="15">
                  <a:solidFill>
                    <a:srgbClr val="CFE6BD"/>
                  </a:solidFill>
                  <a:latin typeface="Barlow Bold"/>
                  <a:ea typeface="Barlow Bold"/>
                  <a:cs typeface="Barlow Bold"/>
                  <a:sym typeface="Barlow Bold"/>
                </a:rPr>
                <a:t>BEND FC / YEAR</a:t>
              </a:r>
            </a:p>
          </p:txBody>
        </p:sp>
      </p:grpSp>
      <p:sp>
        <p:nvSpPr>
          <p:cNvPr name="AutoShape 78" id="78"/>
          <p:cNvSpPr/>
          <p:nvPr/>
        </p:nvSpPr>
        <p:spPr>
          <a:xfrm rot="0">
            <a:off x="3933825" y="2144173"/>
            <a:ext cx="1041368" cy="9525"/>
          </a:xfrm>
          <a:prstGeom prst="rect">
            <a:avLst/>
          </a:prstGeom>
          <a:solidFill>
            <a:srgbClr val="EEE9DF"/>
          </a:solidFill>
        </p:spPr>
      </p:sp>
      <p:sp>
        <p:nvSpPr>
          <p:cNvPr name="AutoShape 79" id="79"/>
          <p:cNvSpPr/>
          <p:nvPr/>
        </p:nvSpPr>
        <p:spPr>
          <a:xfrm rot="0">
            <a:off x="4975193" y="2144173"/>
            <a:ext cx="1431893" cy="9525"/>
          </a:xfrm>
          <a:prstGeom prst="rect">
            <a:avLst/>
          </a:prstGeom>
          <a:solidFill>
            <a:srgbClr val="EEE9DF"/>
          </a:solidFill>
        </p:spPr>
      </p:sp>
      <p:sp>
        <p:nvSpPr>
          <p:cNvPr name="TextBox 80" id="80"/>
          <p:cNvSpPr txBox="true"/>
          <p:nvPr/>
        </p:nvSpPr>
        <p:spPr>
          <a:xfrm rot="0">
            <a:off x="5088446" y="2238470"/>
            <a:ext cx="1316546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>
                <a:solidFill>
                  <a:srgbClr val="57534A"/>
                </a:solidFill>
                <a:latin typeface="Barlow"/>
                <a:ea typeface="Barlow"/>
                <a:cs typeface="Barlow"/>
                <a:sym typeface="Barlow"/>
              </a:rPr>
              <a:t>$2,050</a:t>
            </a:r>
          </a:p>
        </p:txBody>
      </p:sp>
      <p:grpSp>
        <p:nvGrpSpPr>
          <p:cNvPr name="Group 81" id="81"/>
          <p:cNvGrpSpPr/>
          <p:nvPr/>
        </p:nvGrpSpPr>
        <p:grpSpPr>
          <a:xfrm rot="0">
            <a:off x="6407086" y="2144173"/>
            <a:ext cx="1497044" cy="371475"/>
            <a:chOff x="0" y="0"/>
            <a:chExt cx="1996059" cy="495300"/>
          </a:xfrm>
        </p:grpSpPr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1996059" cy="495300"/>
            </a:xfrm>
            <a:custGeom>
              <a:avLst/>
              <a:gdLst/>
              <a:ahLst/>
              <a:cxnLst/>
              <a:rect r="r" b="b" t="t" l="l"/>
              <a:pathLst>
                <a:path h="495300" w="1996059">
                  <a:moveTo>
                    <a:pt x="0" y="0"/>
                  </a:moveTo>
                  <a:lnTo>
                    <a:pt x="1996059" y="0"/>
                  </a:lnTo>
                  <a:lnTo>
                    <a:pt x="1996059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FAF2"/>
            </a:solidFill>
          </p:spPr>
        </p:sp>
        <p:sp>
          <p:nvSpPr>
            <p:cNvPr name="TextBox 83" id="83"/>
            <p:cNvSpPr txBox="true"/>
            <p:nvPr/>
          </p:nvSpPr>
          <p:spPr>
            <a:xfrm>
              <a:off x="0" y="-19050"/>
              <a:ext cx="1996059" cy="514350"/>
            </a:xfrm>
            <a:prstGeom prst="rect">
              <a:avLst/>
            </a:prstGeom>
          </p:spPr>
          <p:txBody>
            <a:bodyPr anchor="t" rtlCol="false" tIns="114300" lIns="114300" bIns="114300" rIns="114300"/>
            <a:lstStyle/>
            <a:p>
              <a:pPr algn="r">
                <a:lnSpc>
                  <a:spcPts val="1679"/>
                </a:lnSpc>
              </a:pPr>
              <a:r>
                <a:rPr lang="en-US" b="true" sz="1200">
                  <a:solidFill>
                    <a:srgbClr val="3F6B2E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$103</a:t>
              </a:r>
            </a:p>
          </p:txBody>
        </p:sp>
      </p:grpSp>
      <p:sp>
        <p:nvSpPr>
          <p:cNvPr name="AutoShape 84" id="84"/>
          <p:cNvSpPr/>
          <p:nvPr/>
        </p:nvSpPr>
        <p:spPr>
          <a:xfrm rot="0">
            <a:off x="6407086" y="2144173"/>
            <a:ext cx="1497044" cy="9525"/>
          </a:xfrm>
          <a:prstGeom prst="rect">
            <a:avLst/>
          </a:prstGeom>
          <a:solidFill>
            <a:srgbClr val="E3ECD9"/>
          </a:solidFill>
        </p:spPr>
      </p:sp>
      <p:grpSp>
        <p:nvGrpSpPr>
          <p:cNvPr name="Group 85" id="85"/>
          <p:cNvGrpSpPr/>
          <p:nvPr/>
        </p:nvGrpSpPr>
        <p:grpSpPr>
          <a:xfrm rot="0">
            <a:off x="7904131" y="2144173"/>
            <a:ext cx="1496949" cy="371475"/>
            <a:chOff x="0" y="0"/>
            <a:chExt cx="1995932" cy="495300"/>
          </a:xfrm>
        </p:grpSpPr>
        <p:sp>
          <p:nvSpPr>
            <p:cNvPr name="Freeform 86" id="86"/>
            <p:cNvSpPr/>
            <p:nvPr/>
          </p:nvSpPr>
          <p:spPr>
            <a:xfrm flipH="false" flipV="false" rot="0">
              <a:off x="0" y="0"/>
              <a:ext cx="1995932" cy="495300"/>
            </a:xfrm>
            <a:custGeom>
              <a:avLst/>
              <a:gdLst/>
              <a:ahLst/>
              <a:cxnLst/>
              <a:rect r="r" b="b" t="t" l="l"/>
              <a:pathLst>
                <a:path h="495300" w="1995932">
                  <a:moveTo>
                    <a:pt x="0" y="0"/>
                  </a:moveTo>
                  <a:lnTo>
                    <a:pt x="1995932" y="0"/>
                  </a:lnTo>
                  <a:lnTo>
                    <a:pt x="1995932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7EE"/>
            </a:solidFill>
          </p:spPr>
        </p:sp>
        <p:sp>
          <p:nvSpPr>
            <p:cNvPr name="TextBox 87" id="87"/>
            <p:cNvSpPr txBox="true"/>
            <p:nvPr/>
          </p:nvSpPr>
          <p:spPr>
            <a:xfrm>
              <a:off x="0" y="-28575"/>
              <a:ext cx="1995932" cy="523875"/>
            </a:xfrm>
            <a:prstGeom prst="rect">
              <a:avLst/>
            </a:prstGeom>
          </p:spPr>
          <p:txBody>
            <a:bodyPr anchor="t" rtlCol="false" tIns="114300" lIns="114300" bIns="114300" rIns="114300"/>
            <a:lstStyle/>
            <a:p>
              <a:pPr algn="r">
                <a:lnSpc>
                  <a:spcPts val="1784"/>
                </a:lnSpc>
              </a:pPr>
              <a:r>
                <a:rPr lang="en-US" b="true" sz="1275">
                  <a:solidFill>
                    <a:srgbClr val="23431C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$1,230</a:t>
              </a:r>
            </a:p>
          </p:txBody>
        </p:sp>
      </p:grpSp>
      <p:sp>
        <p:nvSpPr>
          <p:cNvPr name="AutoShape 88" id="88"/>
          <p:cNvSpPr/>
          <p:nvPr/>
        </p:nvSpPr>
        <p:spPr>
          <a:xfrm rot="0">
            <a:off x="7904131" y="2144173"/>
            <a:ext cx="1496949" cy="9525"/>
          </a:xfrm>
          <a:prstGeom prst="rect">
            <a:avLst/>
          </a:prstGeom>
          <a:solidFill>
            <a:srgbClr val="E3ECD9"/>
          </a:solidFill>
        </p:spPr>
      </p:sp>
      <p:sp>
        <p:nvSpPr>
          <p:cNvPr name="AutoShape 89" id="89"/>
          <p:cNvSpPr/>
          <p:nvPr/>
        </p:nvSpPr>
        <p:spPr>
          <a:xfrm rot="0">
            <a:off x="3933825" y="2515648"/>
            <a:ext cx="1041368" cy="9525"/>
          </a:xfrm>
          <a:prstGeom prst="rect">
            <a:avLst/>
          </a:prstGeom>
          <a:solidFill>
            <a:srgbClr val="EEE9DF"/>
          </a:solidFill>
        </p:spPr>
      </p:sp>
      <p:sp>
        <p:nvSpPr>
          <p:cNvPr name="AutoShape 90" id="90"/>
          <p:cNvSpPr/>
          <p:nvPr/>
        </p:nvSpPr>
        <p:spPr>
          <a:xfrm rot="0">
            <a:off x="4975193" y="2515648"/>
            <a:ext cx="1431893" cy="9525"/>
          </a:xfrm>
          <a:prstGeom prst="rect">
            <a:avLst/>
          </a:prstGeom>
          <a:solidFill>
            <a:srgbClr val="EEE9DF"/>
          </a:solidFill>
        </p:spPr>
      </p:sp>
      <p:sp>
        <p:nvSpPr>
          <p:cNvPr name="TextBox 91" id="91"/>
          <p:cNvSpPr txBox="true"/>
          <p:nvPr/>
        </p:nvSpPr>
        <p:spPr>
          <a:xfrm rot="0">
            <a:off x="5088446" y="2609945"/>
            <a:ext cx="1316546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>
                <a:solidFill>
                  <a:srgbClr val="57534A"/>
                </a:solidFill>
                <a:latin typeface="Barlow"/>
                <a:ea typeface="Barlow"/>
                <a:cs typeface="Barlow"/>
                <a:sym typeface="Barlow"/>
              </a:rPr>
              <a:t>$4,100</a:t>
            </a:r>
          </a:p>
        </p:txBody>
      </p:sp>
      <p:grpSp>
        <p:nvGrpSpPr>
          <p:cNvPr name="Group 92" id="92"/>
          <p:cNvGrpSpPr/>
          <p:nvPr/>
        </p:nvGrpSpPr>
        <p:grpSpPr>
          <a:xfrm rot="0">
            <a:off x="6407086" y="2515648"/>
            <a:ext cx="1497044" cy="371475"/>
            <a:chOff x="0" y="0"/>
            <a:chExt cx="1996059" cy="495300"/>
          </a:xfrm>
        </p:grpSpPr>
        <p:sp>
          <p:nvSpPr>
            <p:cNvPr name="Freeform 93" id="93"/>
            <p:cNvSpPr/>
            <p:nvPr/>
          </p:nvSpPr>
          <p:spPr>
            <a:xfrm flipH="false" flipV="false" rot="0">
              <a:off x="0" y="0"/>
              <a:ext cx="1996059" cy="495300"/>
            </a:xfrm>
            <a:custGeom>
              <a:avLst/>
              <a:gdLst/>
              <a:ahLst/>
              <a:cxnLst/>
              <a:rect r="r" b="b" t="t" l="l"/>
              <a:pathLst>
                <a:path h="495300" w="1996059">
                  <a:moveTo>
                    <a:pt x="0" y="0"/>
                  </a:moveTo>
                  <a:lnTo>
                    <a:pt x="1996059" y="0"/>
                  </a:lnTo>
                  <a:lnTo>
                    <a:pt x="1996059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FAF2"/>
            </a:solidFill>
          </p:spPr>
        </p:sp>
        <p:sp>
          <p:nvSpPr>
            <p:cNvPr name="TextBox 94" id="94"/>
            <p:cNvSpPr txBox="true"/>
            <p:nvPr/>
          </p:nvSpPr>
          <p:spPr>
            <a:xfrm>
              <a:off x="0" y="-19050"/>
              <a:ext cx="1996059" cy="514350"/>
            </a:xfrm>
            <a:prstGeom prst="rect">
              <a:avLst/>
            </a:prstGeom>
          </p:spPr>
          <p:txBody>
            <a:bodyPr anchor="t" rtlCol="false" tIns="114300" lIns="114300" bIns="114300" rIns="114300"/>
            <a:lstStyle/>
            <a:p>
              <a:pPr algn="r">
                <a:lnSpc>
                  <a:spcPts val="1679"/>
                </a:lnSpc>
              </a:pPr>
              <a:r>
                <a:rPr lang="en-US" b="true" sz="1200">
                  <a:solidFill>
                    <a:srgbClr val="3F6B2E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$205</a:t>
              </a:r>
            </a:p>
          </p:txBody>
        </p:sp>
      </p:grpSp>
      <p:sp>
        <p:nvSpPr>
          <p:cNvPr name="AutoShape 95" id="95"/>
          <p:cNvSpPr/>
          <p:nvPr/>
        </p:nvSpPr>
        <p:spPr>
          <a:xfrm rot="0">
            <a:off x="6407086" y="2515648"/>
            <a:ext cx="1497044" cy="9525"/>
          </a:xfrm>
          <a:prstGeom prst="rect">
            <a:avLst/>
          </a:prstGeom>
          <a:solidFill>
            <a:srgbClr val="E3ECD9"/>
          </a:solidFill>
        </p:spPr>
      </p:sp>
      <p:grpSp>
        <p:nvGrpSpPr>
          <p:cNvPr name="Group 96" id="96"/>
          <p:cNvGrpSpPr/>
          <p:nvPr/>
        </p:nvGrpSpPr>
        <p:grpSpPr>
          <a:xfrm rot="0">
            <a:off x="7904131" y="2515648"/>
            <a:ext cx="1496949" cy="371475"/>
            <a:chOff x="0" y="0"/>
            <a:chExt cx="1995932" cy="495300"/>
          </a:xfrm>
        </p:grpSpPr>
        <p:sp>
          <p:nvSpPr>
            <p:cNvPr name="Freeform 97" id="97"/>
            <p:cNvSpPr/>
            <p:nvPr/>
          </p:nvSpPr>
          <p:spPr>
            <a:xfrm flipH="false" flipV="false" rot="0">
              <a:off x="0" y="0"/>
              <a:ext cx="1995932" cy="495300"/>
            </a:xfrm>
            <a:custGeom>
              <a:avLst/>
              <a:gdLst/>
              <a:ahLst/>
              <a:cxnLst/>
              <a:rect r="r" b="b" t="t" l="l"/>
              <a:pathLst>
                <a:path h="495300" w="1995932">
                  <a:moveTo>
                    <a:pt x="0" y="0"/>
                  </a:moveTo>
                  <a:lnTo>
                    <a:pt x="1995932" y="0"/>
                  </a:lnTo>
                  <a:lnTo>
                    <a:pt x="1995932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7EE"/>
            </a:solidFill>
          </p:spPr>
        </p:sp>
        <p:sp>
          <p:nvSpPr>
            <p:cNvPr name="TextBox 98" id="98"/>
            <p:cNvSpPr txBox="true"/>
            <p:nvPr/>
          </p:nvSpPr>
          <p:spPr>
            <a:xfrm>
              <a:off x="0" y="-28575"/>
              <a:ext cx="1995932" cy="523875"/>
            </a:xfrm>
            <a:prstGeom prst="rect">
              <a:avLst/>
            </a:prstGeom>
          </p:spPr>
          <p:txBody>
            <a:bodyPr anchor="t" rtlCol="false" tIns="114300" lIns="114300" bIns="114300" rIns="114300"/>
            <a:lstStyle/>
            <a:p>
              <a:pPr algn="r">
                <a:lnSpc>
                  <a:spcPts val="1784"/>
                </a:lnSpc>
              </a:pPr>
              <a:r>
                <a:rPr lang="en-US" b="true" sz="1275">
                  <a:solidFill>
                    <a:srgbClr val="23431C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$2,460</a:t>
              </a:r>
            </a:p>
          </p:txBody>
        </p:sp>
      </p:grpSp>
      <p:sp>
        <p:nvSpPr>
          <p:cNvPr name="AutoShape 99" id="99"/>
          <p:cNvSpPr/>
          <p:nvPr/>
        </p:nvSpPr>
        <p:spPr>
          <a:xfrm rot="0">
            <a:off x="7904131" y="2515648"/>
            <a:ext cx="1496949" cy="9525"/>
          </a:xfrm>
          <a:prstGeom prst="rect">
            <a:avLst/>
          </a:prstGeom>
          <a:solidFill>
            <a:srgbClr val="E3ECD9"/>
          </a:solidFill>
        </p:spPr>
      </p:sp>
      <p:sp>
        <p:nvSpPr>
          <p:cNvPr name="AutoShape 100" id="100"/>
          <p:cNvSpPr/>
          <p:nvPr/>
        </p:nvSpPr>
        <p:spPr>
          <a:xfrm rot="0">
            <a:off x="3933825" y="2887123"/>
            <a:ext cx="1041368" cy="9525"/>
          </a:xfrm>
          <a:prstGeom prst="rect">
            <a:avLst/>
          </a:prstGeom>
          <a:solidFill>
            <a:srgbClr val="EEE9DF"/>
          </a:solidFill>
        </p:spPr>
      </p:sp>
      <p:sp>
        <p:nvSpPr>
          <p:cNvPr name="AutoShape 101" id="101"/>
          <p:cNvSpPr/>
          <p:nvPr/>
        </p:nvSpPr>
        <p:spPr>
          <a:xfrm rot="0">
            <a:off x="4975193" y="2887123"/>
            <a:ext cx="1431893" cy="9525"/>
          </a:xfrm>
          <a:prstGeom prst="rect">
            <a:avLst/>
          </a:prstGeom>
          <a:solidFill>
            <a:srgbClr val="EEE9DF"/>
          </a:solidFill>
        </p:spPr>
      </p:sp>
      <p:sp>
        <p:nvSpPr>
          <p:cNvPr name="TextBox 102" id="102"/>
          <p:cNvSpPr txBox="true"/>
          <p:nvPr/>
        </p:nvSpPr>
        <p:spPr>
          <a:xfrm rot="0">
            <a:off x="5088446" y="2981420"/>
            <a:ext cx="1316546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>
                <a:solidFill>
                  <a:srgbClr val="57534A"/>
                </a:solidFill>
                <a:latin typeface="Barlow"/>
                <a:ea typeface="Barlow"/>
                <a:cs typeface="Barlow"/>
                <a:sym typeface="Barlow"/>
              </a:rPr>
              <a:t>$8,200</a:t>
            </a:r>
          </a:p>
        </p:txBody>
      </p:sp>
      <p:grpSp>
        <p:nvGrpSpPr>
          <p:cNvPr name="Group 103" id="103"/>
          <p:cNvGrpSpPr/>
          <p:nvPr/>
        </p:nvGrpSpPr>
        <p:grpSpPr>
          <a:xfrm rot="0">
            <a:off x="6407086" y="2887123"/>
            <a:ext cx="1497044" cy="371475"/>
            <a:chOff x="0" y="0"/>
            <a:chExt cx="1996059" cy="495300"/>
          </a:xfrm>
        </p:grpSpPr>
        <p:sp>
          <p:nvSpPr>
            <p:cNvPr name="Freeform 104" id="104"/>
            <p:cNvSpPr/>
            <p:nvPr/>
          </p:nvSpPr>
          <p:spPr>
            <a:xfrm flipH="false" flipV="false" rot="0">
              <a:off x="0" y="0"/>
              <a:ext cx="1996059" cy="495300"/>
            </a:xfrm>
            <a:custGeom>
              <a:avLst/>
              <a:gdLst/>
              <a:ahLst/>
              <a:cxnLst/>
              <a:rect r="r" b="b" t="t" l="l"/>
              <a:pathLst>
                <a:path h="495300" w="1996059">
                  <a:moveTo>
                    <a:pt x="0" y="0"/>
                  </a:moveTo>
                  <a:lnTo>
                    <a:pt x="1996059" y="0"/>
                  </a:lnTo>
                  <a:lnTo>
                    <a:pt x="1996059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FAF2"/>
            </a:solidFill>
          </p:spPr>
        </p:sp>
        <p:sp>
          <p:nvSpPr>
            <p:cNvPr name="TextBox 105" id="105"/>
            <p:cNvSpPr txBox="true"/>
            <p:nvPr/>
          </p:nvSpPr>
          <p:spPr>
            <a:xfrm>
              <a:off x="0" y="-19050"/>
              <a:ext cx="1996059" cy="514350"/>
            </a:xfrm>
            <a:prstGeom prst="rect">
              <a:avLst/>
            </a:prstGeom>
          </p:spPr>
          <p:txBody>
            <a:bodyPr anchor="t" rtlCol="false" tIns="114300" lIns="114300" bIns="114300" rIns="114300"/>
            <a:lstStyle/>
            <a:p>
              <a:pPr algn="r">
                <a:lnSpc>
                  <a:spcPts val="1679"/>
                </a:lnSpc>
              </a:pPr>
              <a:r>
                <a:rPr lang="en-US" b="true" sz="1200">
                  <a:solidFill>
                    <a:srgbClr val="3F6B2E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$410</a:t>
              </a:r>
            </a:p>
          </p:txBody>
        </p:sp>
      </p:grpSp>
      <p:sp>
        <p:nvSpPr>
          <p:cNvPr name="AutoShape 106" id="106"/>
          <p:cNvSpPr/>
          <p:nvPr/>
        </p:nvSpPr>
        <p:spPr>
          <a:xfrm rot="0">
            <a:off x="6407086" y="2887123"/>
            <a:ext cx="1497044" cy="9525"/>
          </a:xfrm>
          <a:prstGeom prst="rect">
            <a:avLst/>
          </a:prstGeom>
          <a:solidFill>
            <a:srgbClr val="E3ECD9"/>
          </a:solidFill>
        </p:spPr>
      </p:sp>
      <p:grpSp>
        <p:nvGrpSpPr>
          <p:cNvPr name="Group 107" id="107"/>
          <p:cNvGrpSpPr/>
          <p:nvPr/>
        </p:nvGrpSpPr>
        <p:grpSpPr>
          <a:xfrm rot="0">
            <a:off x="7904131" y="2887123"/>
            <a:ext cx="1496949" cy="371475"/>
            <a:chOff x="0" y="0"/>
            <a:chExt cx="1995932" cy="495300"/>
          </a:xfrm>
        </p:grpSpPr>
        <p:sp>
          <p:nvSpPr>
            <p:cNvPr name="Freeform 108" id="108"/>
            <p:cNvSpPr/>
            <p:nvPr/>
          </p:nvSpPr>
          <p:spPr>
            <a:xfrm flipH="false" flipV="false" rot="0">
              <a:off x="0" y="0"/>
              <a:ext cx="1995932" cy="495300"/>
            </a:xfrm>
            <a:custGeom>
              <a:avLst/>
              <a:gdLst/>
              <a:ahLst/>
              <a:cxnLst/>
              <a:rect r="r" b="b" t="t" l="l"/>
              <a:pathLst>
                <a:path h="495300" w="1995932">
                  <a:moveTo>
                    <a:pt x="0" y="0"/>
                  </a:moveTo>
                  <a:lnTo>
                    <a:pt x="1995932" y="0"/>
                  </a:lnTo>
                  <a:lnTo>
                    <a:pt x="1995932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7EE"/>
            </a:solidFill>
          </p:spPr>
        </p:sp>
        <p:sp>
          <p:nvSpPr>
            <p:cNvPr name="TextBox 109" id="109"/>
            <p:cNvSpPr txBox="true"/>
            <p:nvPr/>
          </p:nvSpPr>
          <p:spPr>
            <a:xfrm>
              <a:off x="0" y="-28575"/>
              <a:ext cx="1995932" cy="523875"/>
            </a:xfrm>
            <a:prstGeom prst="rect">
              <a:avLst/>
            </a:prstGeom>
          </p:spPr>
          <p:txBody>
            <a:bodyPr anchor="t" rtlCol="false" tIns="114300" lIns="114300" bIns="114300" rIns="114300"/>
            <a:lstStyle/>
            <a:p>
              <a:pPr algn="r">
                <a:lnSpc>
                  <a:spcPts val="1784"/>
                </a:lnSpc>
              </a:pPr>
              <a:r>
                <a:rPr lang="en-US" b="true" sz="1275">
                  <a:solidFill>
                    <a:srgbClr val="23431C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$4,920</a:t>
              </a:r>
            </a:p>
          </p:txBody>
        </p:sp>
      </p:grpSp>
      <p:sp>
        <p:nvSpPr>
          <p:cNvPr name="AutoShape 110" id="110"/>
          <p:cNvSpPr/>
          <p:nvPr/>
        </p:nvSpPr>
        <p:spPr>
          <a:xfrm rot="0">
            <a:off x="7904131" y="2887123"/>
            <a:ext cx="1496949" cy="9525"/>
          </a:xfrm>
          <a:prstGeom prst="rect">
            <a:avLst/>
          </a:prstGeom>
          <a:solidFill>
            <a:srgbClr val="E3ECD9"/>
          </a:solidFill>
        </p:spPr>
      </p:sp>
      <p:sp>
        <p:nvSpPr>
          <p:cNvPr name="AutoShape 111" id="111"/>
          <p:cNvSpPr/>
          <p:nvPr/>
        </p:nvSpPr>
        <p:spPr>
          <a:xfrm rot="0">
            <a:off x="3933825" y="3258598"/>
            <a:ext cx="1041368" cy="9525"/>
          </a:xfrm>
          <a:prstGeom prst="rect">
            <a:avLst/>
          </a:prstGeom>
          <a:solidFill>
            <a:srgbClr val="EEE9DF"/>
          </a:solidFill>
        </p:spPr>
      </p:sp>
      <p:sp>
        <p:nvSpPr>
          <p:cNvPr name="AutoShape 112" id="112"/>
          <p:cNvSpPr/>
          <p:nvPr/>
        </p:nvSpPr>
        <p:spPr>
          <a:xfrm rot="0">
            <a:off x="4975193" y="3258598"/>
            <a:ext cx="1431893" cy="9525"/>
          </a:xfrm>
          <a:prstGeom prst="rect">
            <a:avLst/>
          </a:prstGeom>
          <a:solidFill>
            <a:srgbClr val="EEE9DF"/>
          </a:solidFill>
        </p:spPr>
      </p:sp>
      <p:sp>
        <p:nvSpPr>
          <p:cNvPr name="TextBox 113" id="113"/>
          <p:cNvSpPr txBox="true"/>
          <p:nvPr/>
        </p:nvSpPr>
        <p:spPr>
          <a:xfrm rot="0">
            <a:off x="5088446" y="3352895"/>
            <a:ext cx="1316546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>
                <a:solidFill>
                  <a:srgbClr val="57534A"/>
                </a:solidFill>
                <a:latin typeface="Barlow"/>
                <a:ea typeface="Barlow"/>
                <a:cs typeface="Barlow"/>
                <a:sym typeface="Barlow"/>
              </a:rPr>
              <a:t>$20,500</a:t>
            </a:r>
          </a:p>
        </p:txBody>
      </p:sp>
      <p:grpSp>
        <p:nvGrpSpPr>
          <p:cNvPr name="Group 114" id="114"/>
          <p:cNvGrpSpPr/>
          <p:nvPr/>
        </p:nvGrpSpPr>
        <p:grpSpPr>
          <a:xfrm rot="0">
            <a:off x="6407086" y="3258598"/>
            <a:ext cx="1497044" cy="371475"/>
            <a:chOff x="0" y="0"/>
            <a:chExt cx="1996059" cy="495300"/>
          </a:xfrm>
        </p:grpSpPr>
        <p:sp>
          <p:nvSpPr>
            <p:cNvPr name="Freeform 115" id="115"/>
            <p:cNvSpPr/>
            <p:nvPr/>
          </p:nvSpPr>
          <p:spPr>
            <a:xfrm flipH="false" flipV="false" rot="0">
              <a:off x="0" y="0"/>
              <a:ext cx="1996059" cy="495300"/>
            </a:xfrm>
            <a:custGeom>
              <a:avLst/>
              <a:gdLst/>
              <a:ahLst/>
              <a:cxnLst/>
              <a:rect r="r" b="b" t="t" l="l"/>
              <a:pathLst>
                <a:path h="495300" w="1996059">
                  <a:moveTo>
                    <a:pt x="0" y="0"/>
                  </a:moveTo>
                  <a:lnTo>
                    <a:pt x="1996059" y="0"/>
                  </a:lnTo>
                  <a:lnTo>
                    <a:pt x="1996059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FAF2"/>
            </a:solidFill>
          </p:spPr>
        </p:sp>
        <p:sp>
          <p:nvSpPr>
            <p:cNvPr name="TextBox 116" id="116"/>
            <p:cNvSpPr txBox="true"/>
            <p:nvPr/>
          </p:nvSpPr>
          <p:spPr>
            <a:xfrm>
              <a:off x="0" y="-19050"/>
              <a:ext cx="1996059" cy="514350"/>
            </a:xfrm>
            <a:prstGeom prst="rect">
              <a:avLst/>
            </a:prstGeom>
          </p:spPr>
          <p:txBody>
            <a:bodyPr anchor="t" rtlCol="false" tIns="114300" lIns="114300" bIns="114300" rIns="114300"/>
            <a:lstStyle/>
            <a:p>
              <a:pPr algn="r">
                <a:lnSpc>
                  <a:spcPts val="1679"/>
                </a:lnSpc>
              </a:pPr>
              <a:r>
                <a:rPr lang="en-US" b="true" sz="1200">
                  <a:solidFill>
                    <a:srgbClr val="3F6B2E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$1,025</a:t>
              </a:r>
            </a:p>
          </p:txBody>
        </p:sp>
      </p:grpSp>
      <p:sp>
        <p:nvSpPr>
          <p:cNvPr name="AutoShape 117" id="117"/>
          <p:cNvSpPr/>
          <p:nvPr/>
        </p:nvSpPr>
        <p:spPr>
          <a:xfrm rot="0">
            <a:off x="6407086" y="3258598"/>
            <a:ext cx="1497044" cy="9525"/>
          </a:xfrm>
          <a:prstGeom prst="rect">
            <a:avLst/>
          </a:prstGeom>
          <a:solidFill>
            <a:srgbClr val="E3ECD9"/>
          </a:solidFill>
        </p:spPr>
      </p:sp>
      <p:grpSp>
        <p:nvGrpSpPr>
          <p:cNvPr name="Group 118" id="118"/>
          <p:cNvGrpSpPr/>
          <p:nvPr/>
        </p:nvGrpSpPr>
        <p:grpSpPr>
          <a:xfrm rot="0">
            <a:off x="7904131" y="3258598"/>
            <a:ext cx="1496949" cy="371475"/>
            <a:chOff x="0" y="0"/>
            <a:chExt cx="1995932" cy="495300"/>
          </a:xfrm>
        </p:grpSpPr>
        <p:sp>
          <p:nvSpPr>
            <p:cNvPr name="Freeform 119" id="119"/>
            <p:cNvSpPr/>
            <p:nvPr/>
          </p:nvSpPr>
          <p:spPr>
            <a:xfrm flipH="false" flipV="false" rot="0">
              <a:off x="0" y="0"/>
              <a:ext cx="1995932" cy="495300"/>
            </a:xfrm>
            <a:custGeom>
              <a:avLst/>
              <a:gdLst/>
              <a:ahLst/>
              <a:cxnLst/>
              <a:rect r="r" b="b" t="t" l="l"/>
              <a:pathLst>
                <a:path h="495300" w="1995932">
                  <a:moveTo>
                    <a:pt x="0" y="0"/>
                  </a:moveTo>
                  <a:lnTo>
                    <a:pt x="1995932" y="0"/>
                  </a:lnTo>
                  <a:lnTo>
                    <a:pt x="1995932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7EE"/>
            </a:solidFill>
          </p:spPr>
        </p:sp>
        <p:sp>
          <p:nvSpPr>
            <p:cNvPr name="TextBox 120" id="120"/>
            <p:cNvSpPr txBox="true"/>
            <p:nvPr/>
          </p:nvSpPr>
          <p:spPr>
            <a:xfrm>
              <a:off x="0" y="-28575"/>
              <a:ext cx="1995932" cy="523875"/>
            </a:xfrm>
            <a:prstGeom prst="rect">
              <a:avLst/>
            </a:prstGeom>
          </p:spPr>
          <p:txBody>
            <a:bodyPr anchor="t" rtlCol="false" tIns="114300" lIns="114300" bIns="114300" rIns="114300"/>
            <a:lstStyle/>
            <a:p>
              <a:pPr algn="r">
                <a:lnSpc>
                  <a:spcPts val="1784"/>
                </a:lnSpc>
              </a:pPr>
              <a:r>
                <a:rPr lang="en-US" b="true" sz="1275">
                  <a:solidFill>
                    <a:srgbClr val="23431C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$12,300</a:t>
              </a:r>
            </a:p>
          </p:txBody>
        </p:sp>
      </p:grpSp>
      <p:sp>
        <p:nvSpPr>
          <p:cNvPr name="AutoShape 121" id="121"/>
          <p:cNvSpPr/>
          <p:nvPr/>
        </p:nvSpPr>
        <p:spPr>
          <a:xfrm rot="0">
            <a:off x="7904131" y="3258598"/>
            <a:ext cx="1496949" cy="9525"/>
          </a:xfrm>
          <a:prstGeom prst="rect">
            <a:avLst/>
          </a:prstGeom>
          <a:solidFill>
            <a:srgbClr val="E3ECD9"/>
          </a:solidFill>
        </p:spPr>
      </p:sp>
      <p:sp>
        <p:nvSpPr>
          <p:cNvPr name="AutoShape 122" id="122"/>
          <p:cNvSpPr/>
          <p:nvPr/>
        </p:nvSpPr>
        <p:spPr>
          <a:xfrm rot="0">
            <a:off x="3933825" y="3630073"/>
            <a:ext cx="1041368" cy="9525"/>
          </a:xfrm>
          <a:prstGeom prst="rect">
            <a:avLst/>
          </a:prstGeom>
          <a:solidFill>
            <a:srgbClr val="EEE9DF"/>
          </a:solidFill>
        </p:spPr>
      </p:sp>
      <p:sp>
        <p:nvSpPr>
          <p:cNvPr name="AutoShape 123" id="123"/>
          <p:cNvSpPr/>
          <p:nvPr/>
        </p:nvSpPr>
        <p:spPr>
          <a:xfrm rot="0">
            <a:off x="4975193" y="3630073"/>
            <a:ext cx="1431893" cy="9525"/>
          </a:xfrm>
          <a:prstGeom prst="rect">
            <a:avLst/>
          </a:prstGeom>
          <a:solidFill>
            <a:srgbClr val="EEE9DF"/>
          </a:solidFill>
        </p:spPr>
      </p:sp>
      <p:sp>
        <p:nvSpPr>
          <p:cNvPr name="TextBox 124" id="124"/>
          <p:cNvSpPr txBox="true"/>
          <p:nvPr/>
        </p:nvSpPr>
        <p:spPr>
          <a:xfrm rot="0">
            <a:off x="5088446" y="3724370"/>
            <a:ext cx="1316546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>
                <a:solidFill>
                  <a:srgbClr val="57534A"/>
                </a:solidFill>
                <a:latin typeface="Barlow"/>
                <a:ea typeface="Barlow"/>
                <a:cs typeface="Barlow"/>
                <a:sym typeface="Barlow"/>
              </a:rPr>
              <a:t>$41,000</a:t>
            </a:r>
          </a:p>
        </p:txBody>
      </p:sp>
      <p:grpSp>
        <p:nvGrpSpPr>
          <p:cNvPr name="Group 125" id="125"/>
          <p:cNvGrpSpPr/>
          <p:nvPr/>
        </p:nvGrpSpPr>
        <p:grpSpPr>
          <a:xfrm rot="0">
            <a:off x="6407086" y="3630073"/>
            <a:ext cx="1497044" cy="371475"/>
            <a:chOff x="0" y="0"/>
            <a:chExt cx="1996059" cy="495300"/>
          </a:xfrm>
        </p:grpSpPr>
        <p:sp>
          <p:nvSpPr>
            <p:cNvPr name="Freeform 126" id="126"/>
            <p:cNvSpPr/>
            <p:nvPr/>
          </p:nvSpPr>
          <p:spPr>
            <a:xfrm flipH="false" flipV="false" rot="0">
              <a:off x="0" y="0"/>
              <a:ext cx="1996059" cy="495300"/>
            </a:xfrm>
            <a:custGeom>
              <a:avLst/>
              <a:gdLst/>
              <a:ahLst/>
              <a:cxnLst/>
              <a:rect r="r" b="b" t="t" l="l"/>
              <a:pathLst>
                <a:path h="495300" w="1996059">
                  <a:moveTo>
                    <a:pt x="0" y="0"/>
                  </a:moveTo>
                  <a:lnTo>
                    <a:pt x="1996059" y="0"/>
                  </a:lnTo>
                  <a:lnTo>
                    <a:pt x="1996059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FAF2"/>
            </a:solidFill>
          </p:spPr>
        </p:sp>
        <p:sp>
          <p:nvSpPr>
            <p:cNvPr name="TextBox 127" id="127"/>
            <p:cNvSpPr txBox="true"/>
            <p:nvPr/>
          </p:nvSpPr>
          <p:spPr>
            <a:xfrm>
              <a:off x="0" y="-19050"/>
              <a:ext cx="1996059" cy="514350"/>
            </a:xfrm>
            <a:prstGeom prst="rect">
              <a:avLst/>
            </a:prstGeom>
          </p:spPr>
          <p:txBody>
            <a:bodyPr anchor="t" rtlCol="false" tIns="114300" lIns="114300" bIns="114300" rIns="114300"/>
            <a:lstStyle/>
            <a:p>
              <a:pPr algn="r">
                <a:lnSpc>
                  <a:spcPts val="1679"/>
                </a:lnSpc>
              </a:pPr>
              <a:r>
                <a:rPr lang="en-US" b="true" sz="1200">
                  <a:solidFill>
                    <a:srgbClr val="3F6B2E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$2,050</a:t>
              </a:r>
            </a:p>
          </p:txBody>
        </p:sp>
      </p:grpSp>
      <p:sp>
        <p:nvSpPr>
          <p:cNvPr name="AutoShape 128" id="128"/>
          <p:cNvSpPr/>
          <p:nvPr/>
        </p:nvSpPr>
        <p:spPr>
          <a:xfrm rot="0">
            <a:off x="6407086" y="3630073"/>
            <a:ext cx="1497044" cy="9525"/>
          </a:xfrm>
          <a:prstGeom prst="rect">
            <a:avLst/>
          </a:prstGeom>
          <a:solidFill>
            <a:srgbClr val="E3ECD9"/>
          </a:solidFill>
        </p:spPr>
      </p:sp>
      <p:grpSp>
        <p:nvGrpSpPr>
          <p:cNvPr name="Group 129" id="129"/>
          <p:cNvGrpSpPr/>
          <p:nvPr/>
        </p:nvGrpSpPr>
        <p:grpSpPr>
          <a:xfrm rot="0">
            <a:off x="7904131" y="3630073"/>
            <a:ext cx="1496949" cy="371475"/>
            <a:chOff x="0" y="0"/>
            <a:chExt cx="1995932" cy="495300"/>
          </a:xfrm>
        </p:grpSpPr>
        <p:sp>
          <p:nvSpPr>
            <p:cNvPr name="Freeform 130" id="130"/>
            <p:cNvSpPr/>
            <p:nvPr/>
          </p:nvSpPr>
          <p:spPr>
            <a:xfrm flipH="false" flipV="false" rot="0">
              <a:off x="0" y="0"/>
              <a:ext cx="1995932" cy="495300"/>
            </a:xfrm>
            <a:custGeom>
              <a:avLst/>
              <a:gdLst/>
              <a:ahLst/>
              <a:cxnLst/>
              <a:rect r="r" b="b" t="t" l="l"/>
              <a:pathLst>
                <a:path h="495300" w="1995932">
                  <a:moveTo>
                    <a:pt x="0" y="0"/>
                  </a:moveTo>
                  <a:lnTo>
                    <a:pt x="1995932" y="0"/>
                  </a:lnTo>
                  <a:lnTo>
                    <a:pt x="1995932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7EE"/>
            </a:solidFill>
          </p:spPr>
        </p:sp>
        <p:sp>
          <p:nvSpPr>
            <p:cNvPr name="TextBox 131" id="131"/>
            <p:cNvSpPr txBox="true"/>
            <p:nvPr/>
          </p:nvSpPr>
          <p:spPr>
            <a:xfrm>
              <a:off x="0" y="-28575"/>
              <a:ext cx="1995932" cy="523875"/>
            </a:xfrm>
            <a:prstGeom prst="rect">
              <a:avLst/>
            </a:prstGeom>
          </p:spPr>
          <p:txBody>
            <a:bodyPr anchor="t" rtlCol="false" tIns="114300" lIns="114300" bIns="114300" rIns="114300"/>
            <a:lstStyle/>
            <a:p>
              <a:pPr algn="r">
                <a:lnSpc>
                  <a:spcPts val="1784"/>
                </a:lnSpc>
              </a:pPr>
              <a:r>
                <a:rPr lang="en-US" b="true" sz="1275">
                  <a:solidFill>
                    <a:srgbClr val="23431C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$24,600</a:t>
              </a:r>
            </a:p>
          </p:txBody>
        </p:sp>
      </p:grpSp>
      <p:sp>
        <p:nvSpPr>
          <p:cNvPr name="AutoShape 132" id="132"/>
          <p:cNvSpPr/>
          <p:nvPr/>
        </p:nvSpPr>
        <p:spPr>
          <a:xfrm rot="0">
            <a:off x="7904131" y="3630073"/>
            <a:ext cx="1496949" cy="9525"/>
          </a:xfrm>
          <a:prstGeom prst="rect">
            <a:avLst/>
          </a:prstGeom>
          <a:solidFill>
            <a:srgbClr val="E3ECD9"/>
          </a:solidFill>
        </p:spPr>
      </p:sp>
      <p:sp>
        <p:nvSpPr>
          <p:cNvPr name="AutoShape 133" id="133"/>
          <p:cNvSpPr/>
          <p:nvPr/>
        </p:nvSpPr>
        <p:spPr>
          <a:xfrm rot="0">
            <a:off x="3933825" y="4001548"/>
            <a:ext cx="1041368" cy="9525"/>
          </a:xfrm>
          <a:prstGeom prst="rect">
            <a:avLst/>
          </a:prstGeom>
          <a:solidFill>
            <a:srgbClr val="EEE9DF"/>
          </a:solidFill>
        </p:spPr>
      </p:sp>
      <p:sp>
        <p:nvSpPr>
          <p:cNvPr name="AutoShape 134" id="134"/>
          <p:cNvSpPr/>
          <p:nvPr/>
        </p:nvSpPr>
        <p:spPr>
          <a:xfrm rot="0">
            <a:off x="4975193" y="4001548"/>
            <a:ext cx="1431893" cy="9525"/>
          </a:xfrm>
          <a:prstGeom prst="rect">
            <a:avLst/>
          </a:prstGeom>
          <a:solidFill>
            <a:srgbClr val="EEE9DF"/>
          </a:solidFill>
        </p:spPr>
      </p:sp>
      <p:sp>
        <p:nvSpPr>
          <p:cNvPr name="TextBox 135" id="135"/>
          <p:cNvSpPr txBox="true"/>
          <p:nvPr/>
        </p:nvSpPr>
        <p:spPr>
          <a:xfrm rot="0">
            <a:off x="5088446" y="4095845"/>
            <a:ext cx="1316546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>
                <a:solidFill>
                  <a:srgbClr val="57534A"/>
                </a:solidFill>
                <a:latin typeface="Barlow"/>
                <a:ea typeface="Barlow"/>
                <a:cs typeface="Barlow"/>
                <a:sym typeface="Barlow"/>
              </a:rPr>
              <a:t>$61,500</a:t>
            </a:r>
          </a:p>
        </p:txBody>
      </p:sp>
      <p:grpSp>
        <p:nvGrpSpPr>
          <p:cNvPr name="Group 136" id="136"/>
          <p:cNvGrpSpPr/>
          <p:nvPr/>
        </p:nvGrpSpPr>
        <p:grpSpPr>
          <a:xfrm rot="0">
            <a:off x="6407086" y="4001548"/>
            <a:ext cx="1497044" cy="371475"/>
            <a:chOff x="0" y="0"/>
            <a:chExt cx="1996059" cy="495300"/>
          </a:xfrm>
        </p:grpSpPr>
        <p:sp>
          <p:nvSpPr>
            <p:cNvPr name="Freeform 137" id="137"/>
            <p:cNvSpPr/>
            <p:nvPr/>
          </p:nvSpPr>
          <p:spPr>
            <a:xfrm flipH="false" flipV="false" rot="0">
              <a:off x="0" y="0"/>
              <a:ext cx="1996059" cy="495300"/>
            </a:xfrm>
            <a:custGeom>
              <a:avLst/>
              <a:gdLst/>
              <a:ahLst/>
              <a:cxnLst/>
              <a:rect r="r" b="b" t="t" l="l"/>
              <a:pathLst>
                <a:path h="495300" w="1996059">
                  <a:moveTo>
                    <a:pt x="0" y="0"/>
                  </a:moveTo>
                  <a:lnTo>
                    <a:pt x="1996059" y="0"/>
                  </a:lnTo>
                  <a:lnTo>
                    <a:pt x="1996059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FAF2"/>
            </a:solidFill>
          </p:spPr>
        </p:sp>
        <p:sp>
          <p:nvSpPr>
            <p:cNvPr name="TextBox 138" id="138"/>
            <p:cNvSpPr txBox="true"/>
            <p:nvPr/>
          </p:nvSpPr>
          <p:spPr>
            <a:xfrm>
              <a:off x="0" y="-19050"/>
              <a:ext cx="1996059" cy="514350"/>
            </a:xfrm>
            <a:prstGeom prst="rect">
              <a:avLst/>
            </a:prstGeom>
          </p:spPr>
          <p:txBody>
            <a:bodyPr anchor="t" rtlCol="false" tIns="114300" lIns="114300" bIns="114300" rIns="114300"/>
            <a:lstStyle/>
            <a:p>
              <a:pPr algn="r">
                <a:lnSpc>
                  <a:spcPts val="1679"/>
                </a:lnSpc>
              </a:pPr>
              <a:r>
                <a:rPr lang="en-US" b="true" sz="1200">
                  <a:solidFill>
                    <a:srgbClr val="3F6B2E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$3,075</a:t>
              </a:r>
            </a:p>
          </p:txBody>
        </p:sp>
      </p:grpSp>
      <p:sp>
        <p:nvSpPr>
          <p:cNvPr name="AutoShape 139" id="139"/>
          <p:cNvSpPr/>
          <p:nvPr/>
        </p:nvSpPr>
        <p:spPr>
          <a:xfrm rot="0">
            <a:off x="6407086" y="4001548"/>
            <a:ext cx="1497044" cy="9525"/>
          </a:xfrm>
          <a:prstGeom prst="rect">
            <a:avLst/>
          </a:prstGeom>
          <a:solidFill>
            <a:srgbClr val="E3ECD9"/>
          </a:solidFill>
        </p:spPr>
      </p:sp>
      <p:grpSp>
        <p:nvGrpSpPr>
          <p:cNvPr name="Group 140" id="140"/>
          <p:cNvGrpSpPr/>
          <p:nvPr/>
        </p:nvGrpSpPr>
        <p:grpSpPr>
          <a:xfrm rot="0">
            <a:off x="7904131" y="4001548"/>
            <a:ext cx="1496949" cy="371475"/>
            <a:chOff x="0" y="0"/>
            <a:chExt cx="1995932" cy="495300"/>
          </a:xfrm>
        </p:grpSpPr>
        <p:sp>
          <p:nvSpPr>
            <p:cNvPr name="Freeform 141" id="141"/>
            <p:cNvSpPr/>
            <p:nvPr/>
          </p:nvSpPr>
          <p:spPr>
            <a:xfrm flipH="false" flipV="false" rot="0">
              <a:off x="0" y="0"/>
              <a:ext cx="1995932" cy="495300"/>
            </a:xfrm>
            <a:custGeom>
              <a:avLst/>
              <a:gdLst/>
              <a:ahLst/>
              <a:cxnLst/>
              <a:rect r="r" b="b" t="t" l="l"/>
              <a:pathLst>
                <a:path h="495300" w="1995932">
                  <a:moveTo>
                    <a:pt x="0" y="0"/>
                  </a:moveTo>
                  <a:lnTo>
                    <a:pt x="1995932" y="0"/>
                  </a:lnTo>
                  <a:lnTo>
                    <a:pt x="1995932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7EE"/>
            </a:solidFill>
          </p:spPr>
        </p:sp>
        <p:sp>
          <p:nvSpPr>
            <p:cNvPr name="TextBox 142" id="142"/>
            <p:cNvSpPr txBox="true"/>
            <p:nvPr/>
          </p:nvSpPr>
          <p:spPr>
            <a:xfrm>
              <a:off x="0" y="-28575"/>
              <a:ext cx="1995932" cy="523875"/>
            </a:xfrm>
            <a:prstGeom prst="rect">
              <a:avLst/>
            </a:prstGeom>
          </p:spPr>
          <p:txBody>
            <a:bodyPr anchor="t" rtlCol="false" tIns="114300" lIns="114300" bIns="114300" rIns="114300"/>
            <a:lstStyle/>
            <a:p>
              <a:pPr algn="r">
                <a:lnSpc>
                  <a:spcPts val="1784"/>
                </a:lnSpc>
              </a:pPr>
              <a:r>
                <a:rPr lang="en-US" b="true" sz="1275">
                  <a:solidFill>
                    <a:srgbClr val="23431C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$36,900</a:t>
              </a:r>
            </a:p>
          </p:txBody>
        </p:sp>
      </p:grpSp>
      <p:sp>
        <p:nvSpPr>
          <p:cNvPr name="AutoShape 143" id="143"/>
          <p:cNvSpPr/>
          <p:nvPr/>
        </p:nvSpPr>
        <p:spPr>
          <a:xfrm rot="0">
            <a:off x="7904131" y="4001548"/>
            <a:ext cx="1496949" cy="9525"/>
          </a:xfrm>
          <a:prstGeom prst="rect">
            <a:avLst/>
          </a:prstGeom>
          <a:solidFill>
            <a:srgbClr val="E3ECD9"/>
          </a:solidFill>
        </p:spPr>
      </p:sp>
      <p:sp>
        <p:nvSpPr>
          <p:cNvPr name="AutoShape 144" id="144"/>
          <p:cNvSpPr/>
          <p:nvPr/>
        </p:nvSpPr>
        <p:spPr>
          <a:xfrm rot="0">
            <a:off x="3933825" y="4373023"/>
            <a:ext cx="1041368" cy="9525"/>
          </a:xfrm>
          <a:prstGeom prst="rect">
            <a:avLst/>
          </a:prstGeom>
          <a:solidFill>
            <a:srgbClr val="EEE9DF"/>
          </a:solidFill>
        </p:spPr>
      </p:sp>
      <p:sp>
        <p:nvSpPr>
          <p:cNvPr name="AutoShape 145" id="145"/>
          <p:cNvSpPr/>
          <p:nvPr/>
        </p:nvSpPr>
        <p:spPr>
          <a:xfrm rot="0">
            <a:off x="4975193" y="4373023"/>
            <a:ext cx="1431893" cy="9525"/>
          </a:xfrm>
          <a:prstGeom prst="rect">
            <a:avLst/>
          </a:prstGeom>
          <a:solidFill>
            <a:srgbClr val="EEE9DF"/>
          </a:solidFill>
        </p:spPr>
      </p:sp>
      <p:sp>
        <p:nvSpPr>
          <p:cNvPr name="TextBox 146" id="146"/>
          <p:cNvSpPr txBox="true"/>
          <p:nvPr/>
        </p:nvSpPr>
        <p:spPr>
          <a:xfrm rot="0">
            <a:off x="5088446" y="4467320"/>
            <a:ext cx="1316546" cy="173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470"/>
              </a:lnSpc>
            </a:pPr>
            <a:r>
              <a:rPr lang="en-US" sz="1050">
                <a:solidFill>
                  <a:srgbClr val="57534A"/>
                </a:solidFill>
                <a:latin typeface="Barlow"/>
                <a:ea typeface="Barlow"/>
                <a:cs typeface="Barlow"/>
                <a:sym typeface="Barlow"/>
              </a:rPr>
              <a:t>$82,000</a:t>
            </a:r>
          </a:p>
        </p:txBody>
      </p:sp>
      <p:grpSp>
        <p:nvGrpSpPr>
          <p:cNvPr name="Group 147" id="147"/>
          <p:cNvGrpSpPr/>
          <p:nvPr/>
        </p:nvGrpSpPr>
        <p:grpSpPr>
          <a:xfrm rot="0">
            <a:off x="6407086" y="4373023"/>
            <a:ext cx="1497044" cy="371475"/>
            <a:chOff x="0" y="0"/>
            <a:chExt cx="1996059" cy="495300"/>
          </a:xfrm>
        </p:grpSpPr>
        <p:sp>
          <p:nvSpPr>
            <p:cNvPr name="Freeform 148" id="148"/>
            <p:cNvSpPr/>
            <p:nvPr/>
          </p:nvSpPr>
          <p:spPr>
            <a:xfrm flipH="false" flipV="false" rot="0">
              <a:off x="0" y="0"/>
              <a:ext cx="1996059" cy="495300"/>
            </a:xfrm>
            <a:custGeom>
              <a:avLst/>
              <a:gdLst/>
              <a:ahLst/>
              <a:cxnLst/>
              <a:rect r="r" b="b" t="t" l="l"/>
              <a:pathLst>
                <a:path h="495300" w="1996059">
                  <a:moveTo>
                    <a:pt x="0" y="0"/>
                  </a:moveTo>
                  <a:lnTo>
                    <a:pt x="1996059" y="0"/>
                  </a:lnTo>
                  <a:lnTo>
                    <a:pt x="1996059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6FAF2"/>
            </a:solidFill>
          </p:spPr>
        </p:sp>
        <p:sp>
          <p:nvSpPr>
            <p:cNvPr name="TextBox 149" id="149"/>
            <p:cNvSpPr txBox="true"/>
            <p:nvPr/>
          </p:nvSpPr>
          <p:spPr>
            <a:xfrm>
              <a:off x="0" y="-19050"/>
              <a:ext cx="1996059" cy="514350"/>
            </a:xfrm>
            <a:prstGeom prst="rect">
              <a:avLst/>
            </a:prstGeom>
          </p:spPr>
          <p:txBody>
            <a:bodyPr anchor="t" rtlCol="false" tIns="114300" lIns="114300" bIns="114300" rIns="114300"/>
            <a:lstStyle/>
            <a:p>
              <a:pPr algn="r">
                <a:lnSpc>
                  <a:spcPts val="1679"/>
                </a:lnSpc>
              </a:pPr>
              <a:r>
                <a:rPr lang="en-US" b="true" sz="1200">
                  <a:solidFill>
                    <a:srgbClr val="3F6B2E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$4,100</a:t>
              </a:r>
            </a:p>
          </p:txBody>
        </p:sp>
      </p:grpSp>
      <p:sp>
        <p:nvSpPr>
          <p:cNvPr name="AutoShape 150" id="150"/>
          <p:cNvSpPr/>
          <p:nvPr/>
        </p:nvSpPr>
        <p:spPr>
          <a:xfrm rot="0">
            <a:off x="6407086" y="4373023"/>
            <a:ext cx="1497044" cy="9525"/>
          </a:xfrm>
          <a:prstGeom prst="rect">
            <a:avLst/>
          </a:prstGeom>
          <a:solidFill>
            <a:srgbClr val="E3ECD9"/>
          </a:solidFill>
        </p:spPr>
      </p:sp>
      <p:grpSp>
        <p:nvGrpSpPr>
          <p:cNvPr name="Group 151" id="151"/>
          <p:cNvGrpSpPr/>
          <p:nvPr/>
        </p:nvGrpSpPr>
        <p:grpSpPr>
          <a:xfrm rot="0">
            <a:off x="7904131" y="4373023"/>
            <a:ext cx="1496949" cy="371475"/>
            <a:chOff x="0" y="0"/>
            <a:chExt cx="1995932" cy="495300"/>
          </a:xfrm>
        </p:grpSpPr>
        <p:sp>
          <p:nvSpPr>
            <p:cNvPr name="Freeform 152" id="152"/>
            <p:cNvSpPr/>
            <p:nvPr/>
          </p:nvSpPr>
          <p:spPr>
            <a:xfrm flipH="false" flipV="false" rot="0">
              <a:off x="0" y="0"/>
              <a:ext cx="1995932" cy="495300"/>
            </a:xfrm>
            <a:custGeom>
              <a:avLst/>
              <a:gdLst/>
              <a:ahLst/>
              <a:cxnLst/>
              <a:rect r="r" b="b" t="t" l="l"/>
              <a:pathLst>
                <a:path h="495300" w="1995932">
                  <a:moveTo>
                    <a:pt x="0" y="0"/>
                  </a:moveTo>
                  <a:lnTo>
                    <a:pt x="1995932" y="0"/>
                  </a:lnTo>
                  <a:lnTo>
                    <a:pt x="1995932" y="495300"/>
                  </a:lnTo>
                  <a:lnTo>
                    <a:pt x="0" y="4953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3F7EE"/>
            </a:solidFill>
          </p:spPr>
        </p:sp>
        <p:sp>
          <p:nvSpPr>
            <p:cNvPr name="TextBox 153" id="153"/>
            <p:cNvSpPr txBox="true"/>
            <p:nvPr/>
          </p:nvSpPr>
          <p:spPr>
            <a:xfrm>
              <a:off x="0" y="-28575"/>
              <a:ext cx="1995932" cy="523875"/>
            </a:xfrm>
            <a:prstGeom prst="rect">
              <a:avLst/>
            </a:prstGeom>
          </p:spPr>
          <p:txBody>
            <a:bodyPr anchor="t" rtlCol="false" tIns="114300" lIns="114300" bIns="114300" rIns="114300"/>
            <a:lstStyle/>
            <a:p>
              <a:pPr algn="r">
                <a:lnSpc>
                  <a:spcPts val="1784"/>
                </a:lnSpc>
              </a:pPr>
              <a:r>
                <a:rPr lang="en-US" b="true" sz="1275">
                  <a:solidFill>
                    <a:srgbClr val="23431C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$49,200</a:t>
              </a:r>
            </a:p>
          </p:txBody>
        </p:sp>
      </p:grpSp>
      <p:sp>
        <p:nvSpPr>
          <p:cNvPr name="AutoShape 154" id="154"/>
          <p:cNvSpPr/>
          <p:nvPr/>
        </p:nvSpPr>
        <p:spPr>
          <a:xfrm rot="0">
            <a:off x="7904131" y="4373023"/>
            <a:ext cx="1496949" cy="9525"/>
          </a:xfrm>
          <a:prstGeom prst="rect">
            <a:avLst/>
          </a:prstGeom>
          <a:solidFill>
            <a:srgbClr val="E3ECD9"/>
          </a:solidFill>
        </p:spPr>
      </p:sp>
      <p:grpSp>
        <p:nvGrpSpPr>
          <p:cNvPr name="Group 155" id="155"/>
          <p:cNvGrpSpPr/>
          <p:nvPr/>
        </p:nvGrpSpPr>
        <p:grpSpPr>
          <a:xfrm rot="0">
            <a:off x="3933825" y="4744498"/>
            <a:ext cx="1041368" cy="542734"/>
            <a:chOff x="0" y="0"/>
            <a:chExt cx="1388491" cy="723646"/>
          </a:xfrm>
        </p:grpSpPr>
        <p:sp>
          <p:nvSpPr>
            <p:cNvPr name="Freeform 156" id="156"/>
            <p:cNvSpPr/>
            <p:nvPr/>
          </p:nvSpPr>
          <p:spPr>
            <a:xfrm flipH="false" flipV="false" rot="0">
              <a:off x="0" y="0"/>
              <a:ext cx="1388491" cy="723646"/>
            </a:xfrm>
            <a:custGeom>
              <a:avLst/>
              <a:gdLst/>
              <a:ahLst/>
              <a:cxnLst/>
              <a:rect r="r" b="b" t="t" l="l"/>
              <a:pathLst>
                <a:path h="723646" w="1388491">
                  <a:moveTo>
                    <a:pt x="0" y="0"/>
                  </a:moveTo>
                  <a:lnTo>
                    <a:pt x="1388491" y="0"/>
                  </a:lnTo>
                  <a:lnTo>
                    <a:pt x="1388491" y="723646"/>
                  </a:lnTo>
                  <a:lnTo>
                    <a:pt x="0" y="72364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9F4"/>
            </a:solidFill>
          </p:spPr>
        </p:sp>
        <p:sp>
          <p:nvSpPr>
            <p:cNvPr name="TextBox 157" id="157"/>
            <p:cNvSpPr txBox="true"/>
            <p:nvPr/>
          </p:nvSpPr>
          <p:spPr>
            <a:xfrm>
              <a:off x="0" y="-28575"/>
              <a:ext cx="1388491" cy="752221"/>
            </a:xfrm>
            <a:prstGeom prst="rect">
              <a:avLst/>
            </a:prstGeom>
          </p:spPr>
          <p:txBody>
            <a:bodyPr anchor="ctr" rtlCol="false" tIns="165100" lIns="165100" bIns="165100" rIns="165100"/>
            <a:lstStyle/>
            <a:p>
              <a:pPr algn="ctr">
                <a:lnSpc>
                  <a:spcPts val="2100"/>
                </a:lnSpc>
              </a:pPr>
              <a:r>
                <a:rPr lang="en-US" b="true" sz="1500">
                  <a:solidFill>
                    <a:srgbClr val="141414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1,500</a:t>
              </a:r>
            </a:p>
          </p:txBody>
        </p:sp>
      </p:grpSp>
      <p:sp>
        <p:nvSpPr>
          <p:cNvPr name="AutoShape 158" id="158"/>
          <p:cNvSpPr/>
          <p:nvPr/>
        </p:nvSpPr>
        <p:spPr>
          <a:xfrm rot="0">
            <a:off x="3933825" y="4744498"/>
            <a:ext cx="1041368" cy="19050"/>
          </a:xfrm>
          <a:prstGeom prst="rect">
            <a:avLst/>
          </a:prstGeom>
          <a:solidFill>
            <a:srgbClr val="23431C"/>
          </a:solidFill>
        </p:spPr>
      </p:sp>
      <p:grpSp>
        <p:nvGrpSpPr>
          <p:cNvPr name="Group 159" id="159"/>
          <p:cNvGrpSpPr/>
          <p:nvPr/>
        </p:nvGrpSpPr>
        <p:grpSpPr>
          <a:xfrm rot="0">
            <a:off x="4975193" y="4744498"/>
            <a:ext cx="1431893" cy="476250"/>
            <a:chOff x="0" y="0"/>
            <a:chExt cx="1909191" cy="635000"/>
          </a:xfrm>
        </p:grpSpPr>
        <p:sp>
          <p:nvSpPr>
            <p:cNvPr name="Freeform 160" id="160"/>
            <p:cNvSpPr/>
            <p:nvPr/>
          </p:nvSpPr>
          <p:spPr>
            <a:xfrm flipH="false" flipV="false" rot="0">
              <a:off x="0" y="0"/>
              <a:ext cx="1909191" cy="635000"/>
            </a:xfrm>
            <a:custGeom>
              <a:avLst/>
              <a:gdLst/>
              <a:ahLst/>
              <a:cxnLst/>
              <a:rect r="r" b="b" t="t" l="l"/>
              <a:pathLst>
                <a:path h="635000" w="1909191">
                  <a:moveTo>
                    <a:pt x="0" y="0"/>
                  </a:moveTo>
                  <a:lnTo>
                    <a:pt x="1909191" y="0"/>
                  </a:lnTo>
                  <a:lnTo>
                    <a:pt x="1909191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AF9F4"/>
            </a:solidFill>
          </p:spPr>
        </p:sp>
        <p:sp>
          <p:nvSpPr>
            <p:cNvPr name="TextBox 161" id="161"/>
            <p:cNvSpPr txBox="true"/>
            <p:nvPr/>
          </p:nvSpPr>
          <p:spPr>
            <a:xfrm>
              <a:off x="0" y="-19050"/>
              <a:ext cx="1909191" cy="654050"/>
            </a:xfrm>
            <a:prstGeom prst="rect">
              <a:avLst/>
            </a:prstGeom>
          </p:spPr>
          <p:txBody>
            <a:bodyPr anchor="t" rtlCol="false" tIns="165100" lIns="165100" bIns="165100" rIns="165100"/>
            <a:lstStyle/>
            <a:p>
              <a:pPr algn="r">
                <a:lnSpc>
                  <a:spcPts val="1470"/>
                </a:lnSpc>
              </a:pPr>
              <a:r>
                <a:rPr lang="en-US" b="true" sz="1050">
                  <a:solidFill>
                    <a:srgbClr val="141414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$123,000</a:t>
              </a:r>
            </a:p>
          </p:txBody>
        </p:sp>
      </p:grpSp>
      <p:sp>
        <p:nvSpPr>
          <p:cNvPr name="AutoShape 162" id="162"/>
          <p:cNvSpPr/>
          <p:nvPr/>
        </p:nvSpPr>
        <p:spPr>
          <a:xfrm rot="0">
            <a:off x="4975193" y="4744498"/>
            <a:ext cx="1431893" cy="19050"/>
          </a:xfrm>
          <a:prstGeom prst="rect">
            <a:avLst/>
          </a:prstGeom>
          <a:solidFill>
            <a:srgbClr val="23431C"/>
          </a:solidFill>
        </p:spPr>
      </p:sp>
      <p:grpSp>
        <p:nvGrpSpPr>
          <p:cNvPr name="Group 163" id="163"/>
          <p:cNvGrpSpPr/>
          <p:nvPr/>
        </p:nvGrpSpPr>
        <p:grpSpPr>
          <a:xfrm rot="0">
            <a:off x="6407086" y="4744498"/>
            <a:ext cx="1497044" cy="476250"/>
            <a:chOff x="0" y="0"/>
            <a:chExt cx="1996059" cy="635000"/>
          </a:xfrm>
        </p:grpSpPr>
        <p:sp>
          <p:nvSpPr>
            <p:cNvPr name="Freeform 164" id="164"/>
            <p:cNvSpPr/>
            <p:nvPr/>
          </p:nvSpPr>
          <p:spPr>
            <a:xfrm flipH="false" flipV="false" rot="0">
              <a:off x="0" y="0"/>
              <a:ext cx="1996059" cy="635000"/>
            </a:xfrm>
            <a:custGeom>
              <a:avLst/>
              <a:gdLst/>
              <a:ahLst/>
              <a:cxnLst/>
              <a:rect r="r" b="b" t="t" l="l"/>
              <a:pathLst>
                <a:path h="635000" w="1996059">
                  <a:moveTo>
                    <a:pt x="0" y="0"/>
                  </a:moveTo>
                  <a:lnTo>
                    <a:pt x="1996059" y="0"/>
                  </a:lnTo>
                  <a:lnTo>
                    <a:pt x="1996059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F6B2E"/>
            </a:solidFill>
          </p:spPr>
        </p:sp>
        <p:sp>
          <p:nvSpPr>
            <p:cNvPr name="TextBox 165" id="165"/>
            <p:cNvSpPr txBox="true"/>
            <p:nvPr/>
          </p:nvSpPr>
          <p:spPr>
            <a:xfrm>
              <a:off x="0" y="-28575"/>
              <a:ext cx="1996059" cy="663575"/>
            </a:xfrm>
            <a:prstGeom prst="rect">
              <a:avLst/>
            </a:prstGeom>
          </p:spPr>
          <p:txBody>
            <a:bodyPr anchor="t" rtlCol="false" tIns="165100" lIns="165100" bIns="165100" rIns="165100"/>
            <a:lstStyle/>
            <a:p>
              <a:pPr algn="r">
                <a:lnSpc>
                  <a:spcPts val="1889"/>
                </a:lnSpc>
              </a:pPr>
              <a:r>
                <a:rPr lang="en-US" b="true" sz="1350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$6,150</a:t>
              </a:r>
            </a:p>
          </p:txBody>
        </p:sp>
      </p:grpSp>
      <p:sp>
        <p:nvSpPr>
          <p:cNvPr name="AutoShape 166" id="166"/>
          <p:cNvSpPr/>
          <p:nvPr/>
        </p:nvSpPr>
        <p:spPr>
          <a:xfrm rot="0">
            <a:off x="6407086" y="4744498"/>
            <a:ext cx="1497044" cy="19050"/>
          </a:xfrm>
          <a:prstGeom prst="rect">
            <a:avLst/>
          </a:prstGeom>
          <a:solidFill>
            <a:srgbClr val="23431C"/>
          </a:solidFill>
        </p:spPr>
      </p:sp>
      <p:grpSp>
        <p:nvGrpSpPr>
          <p:cNvPr name="Group 167" id="167"/>
          <p:cNvGrpSpPr/>
          <p:nvPr/>
        </p:nvGrpSpPr>
        <p:grpSpPr>
          <a:xfrm rot="0">
            <a:off x="7904131" y="4744498"/>
            <a:ext cx="1496949" cy="476250"/>
            <a:chOff x="0" y="0"/>
            <a:chExt cx="1995932" cy="635000"/>
          </a:xfrm>
        </p:grpSpPr>
        <p:sp>
          <p:nvSpPr>
            <p:cNvPr name="Freeform 168" id="168"/>
            <p:cNvSpPr/>
            <p:nvPr/>
          </p:nvSpPr>
          <p:spPr>
            <a:xfrm flipH="false" flipV="false" rot="0">
              <a:off x="0" y="0"/>
              <a:ext cx="1995932" cy="635000"/>
            </a:xfrm>
            <a:custGeom>
              <a:avLst/>
              <a:gdLst/>
              <a:ahLst/>
              <a:cxnLst/>
              <a:rect r="r" b="b" t="t" l="l"/>
              <a:pathLst>
                <a:path h="635000" w="1995932">
                  <a:moveTo>
                    <a:pt x="0" y="0"/>
                  </a:moveTo>
                  <a:lnTo>
                    <a:pt x="1995932" y="0"/>
                  </a:lnTo>
                  <a:lnTo>
                    <a:pt x="1995932" y="635000"/>
                  </a:lnTo>
                  <a:lnTo>
                    <a:pt x="0" y="635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3431C"/>
            </a:solidFill>
          </p:spPr>
        </p:sp>
        <p:sp>
          <p:nvSpPr>
            <p:cNvPr name="TextBox 169" id="169"/>
            <p:cNvSpPr txBox="true"/>
            <p:nvPr/>
          </p:nvSpPr>
          <p:spPr>
            <a:xfrm>
              <a:off x="0" y="-38100"/>
              <a:ext cx="1995932" cy="673100"/>
            </a:xfrm>
            <a:prstGeom prst="rect">
              <a:avLst/>
            </a:prstGeom>
          </p:spPr>
          <p:txBody>
            <a:bodyPr anchor="b" rtlCol="false" tIns="139700" lIns="139700" bIns="139700" rIns="139700"/>
            <a:lstStyle/>
            <a:p>
              <a:pPr algn="r">
                <a:lnSpc>
                  <a:spcPts val="2310"/>
                </a:lnSpc>
              </a:pPr>
              <a:r>
                <a:rPr lang="en-US" b="true" sz="1650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$73,800</a:t>
              </a:r>
            </a:p>
          </p:txBody>
        </p:sp>
      </p:grpSp>
      <p:sp>
        <p:nvSpPr>
          <p:cNvPr name="AutoShape 170" id="170"/>
          <p:cNvSpPr/>
          <p:nvPr/>
        </p:nvSpPr>
        <p:spPr>
          <a:xfrm rot="0">
            <a:off x="7904131" y="4744498"/>
            <a:ext cx="1496949" cy="19050"/>
          </a:xfrm>
          <a:prstGeom prst="rect">
            <a:avLst/>
          </a:prstGeom>
          <a:solidFill>
            <a:srgbClr val="23431C"/>
          </a:solidFill>
        </p:spPr>
      </p:sp>
      <p:sp>
        <p:nvSpPr>
          <p:cNvPr name="Freeform 171" id="171"/>
          <p:cNvSpPr/>
          <p:nvPr/>
        </p:nvSpPr>
        <p:spPr>
          <a:xfrm flipH="false" flipV="false" rot="0">
            <a:off x="4505325" y="6452140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2" id="172"/>
          <p:cNvSpPr/>
          <p:nvPr/>
        </p:nvSpPr>
        <p:spPr>
          <a:xfrm flipH="false" flipV="false" rot="0">
            <a:off x="5213318" y="6671215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3" id="173"/>
          <p:cNvSpPr/>
          <p:nvPr/>
        </p:nvSpPr>
        <p:spPr>
          <a:xfrm flipH="false" flipV="false" rot="0">
            <a:off x="5864257" y="6452140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4" id="174"/>
          <p:cNvSpPr/>
          <p:nvPr/>
        </p:nvSpPr>
        <p:spPr>
          <a:xfrm flipH="false" flipV="false" rot="0">
            <a:off x="6572250" y="6671215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5" id="175"/>
          <p:cNvSpPr/>
          <p:nvPr/>
        </p:nvSpPr>
        <p:spPr>
          <a:xfrm flipH="false" flipV="false" rot="0">
            <a:off x="7223093" y="6452140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6" id="176"/>
          <p:cNvSpPr/>
          <p:nvPr/>
        </p:nvSpPr>
        <p:spPr>
          <a:xfrm flipH="false" flipV="false" rot="0">
            <a:off x="7931182" y="6671215"/>
            <a:ext cx="190500" cy="190500"/>
          </a:xfrm>
          <a:custGeom>
            <a:avLst/>
            <a:gdLst/>
            <a:ahLst/>
            <a:cxnLst/>
            <a:rect r="r" b="b" t="t" l="l"/>
            <a:pathLst>
              <a:path h="190500" w="190500">
                <a:moveTo>
                  <a:pt x="0" y="0"/>
                </a:moveTo>
                <a:lnTo>
                  <a:pt x="190500" y="0"/>
                </a:lnTo>
                <a:lnTo>
                  <a:pt x="190500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7" id="177"/>
          <p:cNvSpPr/>
          <p:nvPr/>
        </p:nvSpPr>
        <p:spPr>
          <a:xfrm flipH="false" flipV="false" rot="0">
            <a:off x="8582025" y="6423565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8" id="178"/>
          <p:cNvSpPr/>
          <p:nvPr/>
        </p:nvSpPr>
        <p:spPr>
          <a:xfrm flipH="false" flipV="false" rot="0">
            <a:off x="-405757" y="7505129"/>
            <a:ext cx="4392914" cy="3629801"/>
          </a:xfrm>
          <a:custGeom>
            <a:avLst/>
            <a:gdLst/>
            <a:ahLst/>
            <a:cxnLst/>
            <a:rect r="r" b="b" t="t" l="l"/>
            <a:pathLst>
              <a:path h="3629801" w="4392914">
                <a:moveTo>
                  <a:pt x="0" y="0"/>
                </a:moveTo>
                <a:lnTo>
                  <a:pt x="4392914" y="0"/>
                </a:lnTo>
                <a:lnTo>
                  <a:pt x="4392914" y="3629801"/>
                </a:lnTo>
                <a:lnTo>
                  <a:pt x="0" y="3629801"/>
                </a:lnTo>
                <a:lnTo>
                  <a:pt x="0" y="0"/>
                </a:lnTo>
                <a:close/>
              </a:path>
            </a:pathLst>
          </a:custGeom>
          <a:blipFill>
            <a:blip r:embed="rId33"/>
            <a:stretch>
              <a:fillRect l="0" t="-10511" r="0" b="-10511"/>
            </a:stretch>
          </a:blipFill>
        </p:spPr>
      </p:sp>
      <p:sp>
        <p:nvSpPr>
          <p:cNvPr name="TextBox 179" id="179"/>
          <p:cNvSpPr txBox="true"/>
          <p:nvPr/>
        </p:nvSpPr>
        <p:spPr>
          <a:xfrm rot="0">
            <a:off x="266700" y="304800"/>
            <a:ext cx="30480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b="true" sz="1125" spc="179">
                <a:solidFill>
                  <a:srgbClr val="9A968D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WHY BEND FC CHOSE</a:t>
            </a:r>
          </a:p>
        </p:txBody>
      </p:sp>
      <p:sp>
        <p:nvSpPr>
          <p:cNvPr name="TextBox 180" id="180"/>
          <p:cNvSpPr txBox="true"/>
          <p:nvPr/>
        </p:nvSpPr>
        <p:spPr>
          <a:xfrm rot="0">
            <a:off x="266700" y="600075"/>
            <a:ext cx="3048000" cy="291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0"/>
              </a:lnSpc>
            </a:pPr>
            <a:r>
              <a:rPr lang="en-US" b="true" sz="3300">
                <a:solidFill>
                  <a:srgbClr val="C6A15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JUICE PLUS+</a:t>
            </a:r>
          </a:p>
        </p:txBody>
      </p:sp>
      <p:sp>
        <p:nvSpPr>
          <p:cNvPr name="TextBox 181" id="181"/>
          <p:cNvSpPr txBox="true"/>
          <p:nvPr/>
        </p:nvSpPr>
        <p:spPr>
          <a:xfrm rot="0">
            <a:off x="266700" y="986695"/>
            <a:ext cx="3048000" cy="659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1"/>
              </a:lnSpc>
            </a:pPr>
            <a:r>
              <a:rPr lang="en-US" sz="1087">
                <a:solidFill>
                  <a:srgbClr val="CFCCC4"/>
                </a:solidFill>
                <a:latin typeface="Barlow"/>
                <a:ea typeface="Barlow"/>
                <a:cs typeface="Barlow"/>
                <a:sym typeface="Barlow"/>
              </a:rPr>
              <a:t>Great athletes are built long before they step onto the field. Daily habits — not game day — decide who finishes strong.</a:t>
            </a:r>
          </a:p>
        </p:txBody>
      </p:sp>
      <p:sp>
        <p:nvSpPr>
          <p:cNvPr name="TextBox 182" id="182"/>
          <p:cNvSpPr txBox="true"/>
          <p:nvPr/>
        </p:nvSpPr>
        <p:spPr>
          <a:xfrm rot="0">
            <a:off x="752475" y="1817751"/>
            <a:ext cx="1726406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48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TRAINING MATTERS.</a:t>
            </a:r>
          </a:p>
        </p:txBody>
      </p:sp>
      <p:sp>
        <p:nvSpPr>
          <p:cNvPr name="TextBox 183" id="183"/>
          <p:cNvSpPr txBox="true"/>
          <p:nvPr/>
        </p:nvSpPr>
        <p:spPr>
          <a:xfrm rot="0">
            <a:off x="752475" y="1989201"/>
            <a:ext cx="1726406" cy="19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6"/>
              </a:lnSpc>
            </a:pPr>
            <a:r>
              <a:rPr lang="en-US" sz="975">
                <a:solidFill>
                  <a:srgbClr val="B4B0A8"/>
                </a:solidFill>
                <a:latin typeface="Barlow"/>
                <a:ea typeface="Barlow"/>
                <a:cs typeface="Barlow"/>
                <a:sym typeface="Barlow"/>
              </a:rPr>
              <a:t>Hard work builds the foundation.</a:t>
            </a:r>
          </a:p>
        </p:txBody>
      </p:sp>
      <p:sp>
        <p:nvSpPr>
          <p:cNvPr name="TextBox 184" id="184"/>
          <p:cNvSpPr txBox="true"/>
          <p:nvPr/>
        </p:nvSpPr>
        <p:spPr>
          <a:xfrm rot="0">
            <a:off x="752475" y="2313051"/>
            <a:ext cx="201558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48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SLEEP MATTERS.</a:t>
            </a:r>
          </a:p>
        </p:txBody>
      </p:sp>
      <p:sp>
        <p:nvSpPr>
          <p:cNvPr name="TextBox 185" id="185"/>
          <p:cNvSpPr txBox="true"/>
          <p:nvPr/>
        </p:nvSpPr>
        <p:spPr>
          <a:xfrm rot="0">
            <a:off x="752475" y="2484501"/>
            <a:ext cx="2015585" cy="19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6"/>
              </a:lnSpc>
            </a:pPr>
            <a:r>
              <a:rPr lang="en-US" sz="975">
                <a:solidFill>
                  <a:srgbClr val="B4B0A8"/>
                </a:solidFill>
                <a:latin typeface="Barlow"/>
                <a:ea typeface="Barlow"/>
                <a:cs typeface="Barlow"/>
                <a:sym typeface="Barlow"/>
              </a:rPr>
              <a:t>Rest helps the body recover and grow.</a:t>
            </a:r>
          </a:p>
        </p:txBody>
      </p:sp>
      <p:sp>
        <p:nvSpPr>
          <p:cNvPr name="TextBox 186" id="186"/>
          <p:cNvSpPr txBox="true"/>
          <p:nvPr/>
        </p:nvSpPr>
        <p:spPr>
          <a:xfrm rot="0">
            <a:off x="752475" y="2808351"/>
            <a:ext cx="1358551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48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HYDRATION MATTERS.</a:t>
            </a:r>
          </a:p>
        </p:txBody>
      </p:sp>
      <p:sp>
        <p:nvSpPr>
          <p:cNvPr name="TextBox 187" id="187"/>
          <p:cNvSpPr txBox="true"/>
          <p:nvPr/>
        </p:nvSpPr>
        <p:spPr>
          <a:xfrm rot="0">
            <a:off x="752475" y="2979801"/>
            <a:ext cx="1358551" cy="195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6"/>
              </a:lnSpc>
            </a:pPr>
            <a:r>
              <a:rPr lang="en-US" sz="975">
                <a:solidFill>
                  <a:srgbClr val="B4B0A8"/>
                </a:solidFill>
                <a:latin typeface="Barlow"/>
                <a:ea typeface="Barlow"/>
                <a:cs typeface="Barlow"/>
                <a:sym typeface="Barlow"/>
              </a:rPr>
              <a:t>Water fuels performance.</a:t>
            </a:r>
          </a:p>
        </p:txBody>
      </p:sp>
      <p:sp>
        <p:nvSpPr>
          <p:cNvPr name="TextBox 188" id="188"/>
          <p:cNvSpPr txBox="true"/>
          <p:nvPr/>
        </p:nvSpPr>
        <p:spPr>
          <a:xfrm rot="0">
            <a:off x="752475" y="3303651"/>
            <a:ext cx="2562225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48">
                <a:solidFill>
                  <a:srgbClr val="C6A15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NUTRITION MATTERS.</a:t>
            </a:r>
          </a:p>
        </p:txBody>
      </p:sp>
      <p:sp>
        <p:nvSpPr>
          <p:cNvPr name="TextBox 189" id="189"/>
          <p:cNvSpPr txBox="true"/>
          <p:nvPr/>
        </p:nvSpPr>
        <p:spPr>
          <a:xfrm rot="0">
            <a:off x="752475" y="3475101"/>
            <a:ext cx="2562225" cy="3628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6"/>
              </a:lnSpc>
            </a:pPr>
            <a:r>
              <a:rPr lang="en-US" sz="975">
                <a:solidFill>
                  <a:srgbClr val="CFCCC4"/>
                </a:solidFill>
                <a:latin typeface="Barlow"/>
                <a:ea typeface="Barlow"/>
                <a:cs typeface="Barlow"/>
                <a:sym typeface="Barlow"/>
              </a:rPr>
              <a:t>Whole-food nutrition fuels healthy bodies, strong minds, and better performance.</a:t>
            </a:r>
          </a:p>
        </p:txBody>
      </p:sp>
      <p:sp>
        <p:nvSpPr>
          <p:cNvPr name="TextBox 190" id="190"/>
          <p:cNvSpPr txBox="true"/>
          <p:nvPr/>
        </p:nvSpPr>
        <p:spPr>
          <a:xfrm rot="0">
            <a:off x="266700" y="3990404"/>
            <a:ext cx="304800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48">
                <a:solidFill>
                  <a:srgbClr val="C6A15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DIG DEEPER — RESEARCH IT YOURSELF</a:t>
            </a:r>
          </a:p>
        </p:txBody>
      </p:sp>
      <p:sp>
        <p:nvSpPr>
          <p:cNvPr name="TextBox 191" id="191"/>
          <p:cNvSpPr txBox="true"/>
          <p:nvPr/>
        </p:nvSpPr>
        <p:spPr>
          <a:xfrm rot="0">
            <a:off x="266700" y="4314253"/>
            <a:ext cx="117376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b="true" sz="1162">
                <a:solidFill>
                  <a:srgbClr val="F2EFE8"/>
                </a:solidFill>
                <a:latin typeface="Barlow Bold"/>
                <a:ea typeface="Barlow Bold"/>
                <a:cs typeface="Barlow Bold"/>
                <a:sym typeface="Barlow Bold"/>
              </a:rPr>
              <a:t>About Juice Plus+</a:t>
            </a:r>
          </a:p>
        </p:txBody>
      </p:sp>
      <p:sp>
        <p:nvSpPr>
          <p:cNvPr name="TextBox 192" id="192"/>
          <p:cNvSpPr txBox="true"/>
          <p:nvPr/>
        </p:nvSpPr>
        <p:spPr>
          <a:xfrm rot="0">
            <a:off x="266700" y="4638103"/>
            <a:ext cx="93373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b="true" sz="1162">
                <a:solidFill>
                  <a:srgbClr val="F2EFE8"/>
                </a:solidFill>
                <a:latin typeface="Barlow Bold"/>
                <a:ea typeface="Barlow Bold"/>
                <a:cs typeface="Barlow Bold"/>
                <a:sym typeface="Barlow Bold"/>
              </a:rPr>
              <a:t>Healthy Starts</a:t>
            </a:r>
          </a:p>
        </p:txBody>
      </p:sp>
      <p:sp>
        <p:nvSpPr>
          <p:cNvPr name="TextBox 193" id="193"/>
          <p:cNvSpPr txBox="true"/>
          <p:nvPr/>
        </p:nvSpPr>
        <p:spPr>
          <a:xfrm rot="0">
            <a:off x="266700" y="4961954"/>
            <a:ext cx="32889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b="true" sz="1162">
                <a:solidFill>
                  <a:srgbClr val="F2EFE8"/>
                </a:solidFill>
                <a:latin typeface="Barlow Bold"/>
                <a:ea typeface="Barlow Bold"/>
                <a:cs typeface="Barlow Bold"/>
                <a:sym typeface="Barlow Bold"/>
              </a:rPr>
              <a:t>FAQs</a:t>
            </a:r>
          </a:p>
        </p:txBody>
      </p:sp>
      <p:sp>
        <p:nvSpPr>
          <p:cNvPr name="TextBox 194" id="194"/>
          <p:cNvSpPr txBox="true"/>
          <p:nvPr/>
        </p:nvSpPr>
        <p:spPr>
          <a:xfrm rot="0">
            <a:off x="266700" y="5285804"/>
            <a:ext cx="104536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b="true" sz="1162">
                <a:solidFill>
                  <a:srgbClr val="F2EFE8"/>
                </a:solidFill>
                <a:latin typeface="Barlow Bold"/>
                <a:ea typeface="Barlow Bold"/>
                <a:cs typeface="Barlow Bold"/>
                <a:sym typeface="Barlow Bold"/>
              </a:rPr>
              <a:t>Ask the Experts</a:t>
            </a:r>
          </a:p>
        </p:txBody>
      </p:sp>
      <p:sp>
        <p:nvSpPr>
          <p:cNvPr name="TextBox 195" id="195"/>
          <p:cNvSpPr txBox="true"/>
          <p:nvPr/>
        </p:nvSpPr>
        <p:spPr>
          <a:xfrm rot="0">
            <a:off x="266700" y="5609654"/>
            <a:ext cx="1782985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b="true" sz="1162">
                <a:solidFill>
                  <a:srgbClr val="F2EFE8"/>
                </a:solidFill>
                <a:latin typeface="Barlow Bold"/>
                <a:ea typeface="Barlow Bold"/>
                <a:cs typeface="Barlow Bold"/>
                <a:sym typeface="Barlow Bold"/>
              </a:rPr>
              <a:t>Research &amp; Clinical Studies</a:t>
            </a:r>
          </a:p>
        </p:txBody>
      </p:sp>
      <p:sp>
        <p:nvSpPr>
          <p:cNvPr name="TextBox 196" id="196"/>
          <p:cNvSpPr txBox="true"/>
          <p:nvPr/>
        </p:nvSpPr>
        <p:spPr>
          <a:xfrm rot="0">
            <a:off x="266700" y="5933504"/>
            <a:ext cx="557974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b="true" sz="1162">
                <a:solidFill>
                  <a:srgbClr val="F2EFE8"/>
                </a:solidFill>
                <a:latin typeface="Barlow Bold"/>
                <a:ea typeface="Barlow Bold"/>
                <a:cs typeface="Barlow Bold"/>
                <a:sym typeface="Barlow Bold"/>
              </a:rPr>
              <a:t>Benefits</a:t>
            </a:r>
          </a:p>
        </p:txBody>
      </p:sp>
      <p:sp>
        <p:nvSpPr>
          <p:cNvPr name="TextBox 197" id="197"/>
          <p:cNvSpPr txBox="true"/>
          <p:nvPr/>
        </p:nvSpPr>
        <p:spPr>
          <a:xfrm rot="0">
            <a:off x="266700" y="6257354"/>
            <a:ext cx="749808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b="true" sz="1162">
                <a:solidFill>
                  <a:srgbClr val="F2EFE8"/>
                </a:solidFill>
                <a:latin typeface="Barlow Bold"/>
                <a:ea typeface="Barlow Bold"/>
                <a:cs typeface="Barlow Bold"/>
                <a:sym typeface="Barlow Bold"/>
              </a:rPr>
              <a:t>Ingredients</a:t>
            </a:r>
          </a:p>
        </p:txBody>
      </p:sp>
      <p:sp>
        <p:nvSpPr>
          <p:cNvPr name="TextBox 198" id="198"/>
          <p:cNvSpPr txBox="true"/>
          <p:nvPr/>
        </p:nvSpPr>
        <p:spPr>
          <a:xfrm rot="0">
            <a:off x="266700" y="6581204"/>
            <a:ext cx="524351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b="true" sz="1162">
                <a:solidFill>
                  <a:srgbClr val="F2EFE8"/>
                </a:solidFill>
                <a:latin typeface="Barlow Bold"/>
                <a:ea typeface="Barlow Bold"/>
                <a:cs typeface="Barlow Bold"/>
                <a:sym typeface="Barlow Bold"/>
              </a:rPr>
              <a:t>Recipes</a:t>
            </a:r>
          </a:p>
        </p:txBody>
      </p:sp>
      <p:sp>
        <p:nvSpPr>
          <p:cNvPr name="TextBox 199" id="199"/>
          <p:cNvSpPr txBox="true"/>
          <p:nvPr/>
        </p:nvSpPr>
        <p:spPr>
          <a:xfrm rot="0">
            <a:off x="266700" y="6905054"/>
            <a:ext cx="292036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b="true" sz="1162">
                <a:solidFill>
                  <a:srgbClr val="F2EFE8"/>
                </a:solidFill>
                <a:latin typeface="Barlow Bold"/>
                <a:ea typeface="Barlow Bold"/>
                <a:cs typeface="Barlow Bold"/>
                <a:sym typeface="Barlow Bold"/>
              </a:rPr>
              <a:t>Blog</a:t>
            </a:r>
          </a:p>
        </p:txBody>
      </p:sp>
      <p:sp>
        <p:nvSpPr>
          <p:cNvPr name="TextBox 200" id="200"/>
          <p:cNvSpPr txBox="true"/>
          <p:nvPr/>
        </p:nvSpPr>
        <p:spPr>
          <a:xfrm rot="0">
            <a:off x="266700" y="7228904"/>
            <a:ext cx="491109" cy="209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7"/>
              </a:lnSpc>
            </a:pPr>
            <a:r>
              <a:rPr lang="en-US" b="true" sz="1162">
                <a:solidFill>
                  <a:srgbClr val="F2EFE8"/>
                </a:solidFill>
                <a:latin typeface="Barlow Bold"/>
                <a:ea typeface="Barlow Bold"/>
                <a:cs typeface="Barlow Bold"/>
                <a:sym typeface="Barlow Bold"/>
              </a:rPr>
              <a:t>RE:SET</a:t>
            </a:r>
          </a:p>
        </p:txBody>
      </p:sp>
      <p:sp>
        <p:nvSpPr>
          <p:cNvPr name="TextBox 201" id="201"/>
          <p:cNvSpPr txBox="true"/>
          <p:nvPr/>
        </p:nvSpPr>
        <p:spPr>
          <a:xfrm rot="0">
            <a:off x="266700" y="10885075"/>
            <a:ext cx="3048000" cy="43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67"/>
              </a:lnSpc>
            </a:pPr>
            <a:r>
              <a:rPr lang="en-US" sz="1262">
                <a:solidFill>
                  <a:srgbClr val="C6A15B"/>
                </a:solidFill>
                <a:latin typeface="Barlow"/>
                <a:ea typeface="Barlow"/>
                <a:cs typeface="Barlow"/>
                <a:sym typeface="Barlow"/>
              </a:rPr>
              <a:t>All resources live under your Bend FC store: </a:t>
            </a:r>
            <a:r>
              <a:rPr lang="en-US" b="true" sz="1262">
                <a:solidFill>
                  <a:srgbClr val="C6A15B"/>
                </a:solidFill>
                <a:latin typeface="Barlow Bold"/>
                <a:ea typeface="Barlow Bold"/>
                <a:cs typeface="Barlow Bold"/>
                <a:sym typeface="Barlow Bold"/>
              </a:rPr>
              <a:t>bendfc.juiceplus.com</a:t>
            </a:r>
          </a:p>
        </p:txBody>
      </p:sp>
      <p:sp>
        <p:nvSpPr>
          <p:cNvPr name="TextBox 202" id="202"/>
          <p:cNvSpPr txBox="true"/>
          <p:nvPr/>
        </p:nvSpPr>
        <p:spPr>
          <a:xfrm rot="0">
            <a:off x="266700" y="11527631"/>
            <a:ext cx="3048000" cy="3500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53"/>
              </a:lnSpc>
            </a:pPr>
            <a:r>
              <a:rPr lang="en-US" b="true" sz="1425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TOGETHER WE'RE INVESTING IN </a:t>
            </a:r>
            <a:r>
              <a:rPr lang="en-US" b="true" sz="1425">
                <a:solidFill>
                  <a:srgbClr val="8EC94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HEALTHIER KIDS</a:t>
            </a:r>
            <a:r>
              <a:rPr lang="en-US" b="true" sz="1425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AND A </a:t>
            </a:r>
            <a:r>
              <a:rPr lang="en-US" b="true" sz="1425">
                <a:solidFill>
                  <a:srgbClr val="C6A15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STRONGER SOCCER COMMUNITY.</a:t>
            </a:r>
          </a:p>
        </p:txBody>
      </p:sp>
      <p:grpSp>
        <p:nvGrpSpPr>
          <p:cNvPr name="Group 203" id="203"/>
          <p:cNvGrpSpPr/>
          <p:nvPr/>
        </p:nvGrpSpPr>
        <p:grpSpPr>
          <a:xfrm rot="0">
            <a:off x="3924300" y="552783"/>
            <a:ext cx="3902583" cy="498253"/>
            <a:chOff x="0" y="0"/>
            <a:chExt cx="5203444" cy="664337"/>
          </a:xfrm>
        </p:grpSpPr>
        <p:sp>
          <p:nvSpPr>
            <p:cNvPr name="TextBox 204" id="204"/>
            <p:cNvSpPr txBox="true"/>
            <p:nvPr/>
          </p:nvSpPr>
          <p:spPr>
            <a:xfrm rot="0">
              <a:off x="0" y="57150"/>
              <a:ext cx="5203444" cy="36588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499"/>
                </a:lnSpc>
              </a:pPr>
              <a:r>
                <a:rPr lang="en-US" b="true" sz="2550">
                  <a:solidFill>
                    <a:srgbClr val="141414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HOW YOUR ORDERS HELP BEND FC</a:t>
              </a:r>
            </a:p>
          </p:txBody>
        </p:sp>
        <p:sp>
          <p:nvSpPr>
            <p:cNvPr name="TextBox 205" id="205"/>
            <p:cNvSpPr txBox="true"/>
            <p:nvPr/>
          </p:nvSpPr>
          <p:spPr>
            <a:xfrm rot="0">
              <a:off x="0" y="432562"/>
              <a:ext cx="5203444" cy="231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364"/>
                </a:lnSpc>
              </a:pPr>
              <a:r>
                <a:rPr lang="en-US" b="true" sz="975" spc="19">
                  <a:solidFill>
                    <a:srgbClr val="6B675F"/>
                  </a:solidFill>
                  <a:latin typeface="Barlow Semi-Bold"/>
                  <a:ea typeface="Barlow Semi-Bold"/>
                  <a:cs typeface="Barlow Semi-Bold"/>
                  <a:sym typeface="Barlow Semi-Bold"/>
                </a:rPr>
                <a:t>EXAMPLES BASED ON THE 2026 JUICE PLUS+ COMPENSATION PLAN*</a:t>
              </a:r>
            </a:p>
          </p:txBody>
        </p:sp>
      </p:grpSp>
      <p:sp>
        <p:nvSpPr>
          <p:cNvPr name="TextBox 206" id="206"/>
          <p:cNvSpPr txBox="true"/>
          <p:nvPr/>
        </p:nvSpPr>
        <p:spPr>
          <a:xfrm rot="0">
            <a:off x="8169783" y="400050"/>
            <a:ext cx="1143000" cy="220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40"/>
              </a:lnSpc>
            </a:pPr>
            <a:r>
              <a:rPr lang="en-US" b="true" sz="3300">
                <a:solidFill>
                  <a:srgbClr val="C6A15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5%</a:t>
            </a:r>
          </a:p>
        </p:txBody>
      </p:sp>
      <p:sp>
        <p:nvSpPr>
          <p:cNvPr name="TextBox 207" id="207"/>
          <p:cNvSpPr txBox="true"/>
          <p:nvPr/>
        </p:nvSpPr>
        <p:spPr>
          <a:xfrm rot="0">
            <a:off x="8172450" y="801910"/>
            <a:ext cx="1143000" cy="361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48"/>
              </a:lnSpc>
            </a:pPr>
            <a:r>
              <a:rPr lang="en-US" b="true" sz="825" spc="41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OF EVERY QUALIFYING ORDER GOES BACK TO BEND FC</a:t>
            </a:r>
          </a:p>
        </p:txBody>
      </p:sp>
      <p:sp>
        <p:nvSpPr>
          <p:cNvPr name="TextBox 208" id="208"/>
          <p:cNvSpPr txBox="true"/>
          <p:nvPr/>
        </p:nvSpPr>
        <p:spPr>
          <a:xfrm rot="0">
            <a:off x="3924300" y="5287423"/>
            <a:ext cx="5486400" cy="488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07"/>
              </a:lnSpc>
            </a:pPr>
            <a:r>
              <a:rPr lang="en-US" sz="862">
                <a:solidFill>
                  <a:srgbClr val="6B675F"/>
                </a:solidFill>
                <a:latin typeface="Barlow"/>
                <a:ea typeface="Barlow"/>
                <a:cs typeface="Barlow"/>
                <a:sym typeface="Barlow"/>
              </a:rPr>
              <a:t>Based on a Fruit + Vegetable + Berry capsule subscription at </a:t>
            </a:r>
            <a:r>
              <a:rPr lang="en-US" b="true" sz="862">
                <a:solidFill>
                  <a:srgbClr val="6B675F"/>
                </a:solidFill>
                <a:latin typeface="Barlow Bold"/>
                <a:ea typeface="Barlow Bold"/>
                <a:cs typeface="Barlow Bold"/>
                <a:sym typeface="Barlow Bold"/>
              </a:rPr>
              <a:t>$82/month</a:t>
            </a:r>
            <a:r>
              <a:rPr lang="en-US" sz="862">
                <a:solidFill>
                  <a:srgbClr val="6B675F"/>
                </a:solidFill>
                <a:latin typeface="Barlow"/>
                <a:ea typeface="Barlow"/>
                <a:cs typeface="Barlow"/>
                <a:sym typeface="Barlow"/>
              </a:rPr>
              <a:t>. Bend FC receives </a:t>
            </a:r>
            <a:r>
              <a:rPr lang="en-US" b="true" sz="862">
                <a:solidFill>
                  <a:srgbClr val="6B675F"/>
                </a:solidFill>
                <a:latin typeface="Barlow Bold"/>
                <a:ea typeface="Barlow Bold"/>
                <a:cs typeface="Barlow Bold"/>
                <a:sym typeface="Barlow Bold"/>
              </a:rPr>
              <a:t>5% of monthly revenue.</a:t>
            </a:r>
            <a:r>
              <a:rPr lang="en-US" sz="862">
                <a:solidFill>
                  <a:srgbClr val="6B675F"/>
                </a:solidFill>
                <a:latin typeface="Barlow"/>
                <a:ea typeface="Barlow"/>
                <a:cs typeface="Barlow"/>
                <a:sym typeface="Barlow"/>
              </a:rPr>
              <a:t> Example: 1,500 orders × $82 = </a:t>
            </a:r>
            <a:r>
              <a:rPr lang="en-US" b="true" sz="862">
                <a:solidFill>
                  <a:srgbClr val="6B675F"/>
                </a:solidFill>
                <a:latin typeface="Barlow Bold"/>
                <a:ea typeface="Barlow Bold"/>
                <a:cs typeface="Barlow Bold"/>
                <a:sym typeface="Barlow Bold"/>
              </a:rPr>
              <a:t>$123,000/month</a:t>
            </a:r>
            <a:r>
              <a:rPr lang="en-US" sz="862">
                <a:solidFill>
                  <a:srgbClr val="6B675F"/>
                </a:solidFill>
                <a:latin typeface="Barlow"/>
                <a:ea typeface="Barlow"/>
                <a:cs typeface="Barlow"/>
                <a:sym typeface="Barlow"/>
              </a:rPr>
              <a:t> × 5% = </a:t>
            </a:r>
            <a:r>
              <a:rPr lang="en-US" b="true" sz="862">
                <a:solidFill>
                  <a:srgbClr val="6B675F"/>
                </a:solidFill>
                <a:latin typeface="Barlow Bold"/>
                <a:ea typeface="Barlow Bold"/>
                <a:cs typeface="Barlow Bold"/>
                <a:sym typeface="Barlow Bold"/>
              </a:rPr>
              <a:t>$6,150/month</a:t>
            </a:r>
            <a:r>
              <a:rPr lang="en-US" sz="862">
                <a:solidFill>
                  <a:srgbClr val="6B675F"/>
                </a:solidFill>
                <a:latin typeface="Barlow"/>
                <a:ea typeface="Barlow"/>
                <a:cs typeface="Barlow"/>
                <a:sym typeface="Barlow"/>
              </a:rPr>
              <a:t> = </a:t>
            </a:r>
            <a:r>
              <a:rPr lang="en-US" b="true" sz="862">
                <a:solidFill>
                  <a:srgbClr val="6B675F"/>
                </a:solidFill>
                <a:latin typeface="Barlow Bold"/>
                <a:ea typeface="Barlow Bold"/>
                <a:cs typeface="Barlow Bold"/>
                <a:sym typeface="Barlow Bold"/>
              </a:rPr>
              <a:t>$73,800/year.</a:t>
            </a:r>
            <a:r>
              <a:rPr lang="en-US" sz="862">
                <a:solidFill>
                  <a:srgbClr val="6B675F"/>
                </a:solidFill>
                <a:latin typeface="Barlow"/>
                <a:ea typeface="Barlow"/>
                <a:cs typeface="Barlow"/>
                <a:sym typeface="Barlow"/>
              </a:rPr>
              <a:t> Figures assume ongoing subscriptions renew each year.*</a:t>
            </a:r>
          </a:p>
        </p:txBody>
      </p:sp>
      <p:sp>
        <p:nvSpPr>
          <p:cNvPr name="TextBox 209" id="209"/>
          <p:cNvSpPr txBox="true"/>
          <p:nvPr/>
        </p:nvSpPr>
        <p:spPr>
          <a:xfrm rot="0">
            <a:off x="4105275" y="6061615"/>
            <a:ext cx="5124450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b="true" sz="1425" spc="28">
                <a:solidFill>
                  <a:srgbClr val="2F5E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THE POWER OF RECURRING SUBSCRIPTIONS</a:t>
            </a:r>
          </a:p>
        </p:txBody>
      </p:sp>
      <p:sp>
        <p:nvSpPr>
          <p:cNvPr name="TextBox 210" id="210"/>
          <p:cNvSpPr txBox="true"/>
          <p:nvPr/>
        </p:nvSpPr>
        <p:spPr>
          <a:xfrm rot="0">
            <a:off x="4105275" y="6728365"/>
            <a:ext cx="104775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275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250 FAMILIES</a:t>
            </a:r>
          </a:p>
        </p:txBody>
      </p:sp>
      <p:sp>
        <p:nvSpPr>
          <p:cNvPr name="TextBox 211" id="211"/>
          <p:cNvSpPr txBox="true"/>
          <p:nvPr/>
        </p:nvSpPr>
        <p:spPr>
          <a:xfrm rot="0">
            <a:off x="4105275" y="6928390"/>
            <a:ext cx="1047750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6B675F"/>
                </a:solidFill>
                <a:latin typeface="Barlow"/>
                <a:ea typeface="Barlow"/>
                <a:cs typeface="Barlow"/>
                <a:sym typeface="Barlow"/>
              </a:rPr>
              <a:t>subscribe</a:t>
            </a:r>
          </a:p>
        </p:txBody>
      </p:sp>
      <p:sp>
        <p:nvSpPr>
          <p:cNvPr name="TextBox 212" id="212"/>
          <p:cNvSpPr txBox="true"/>
          <p:nvPr/>
        </p:nvSpPr>
        <p:spPr>
          <a:xfrm rot="0">
            <a:off x="5464207" y="6728365"/>
            <a:ext cx="104775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275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90% RENEW</a:t>
            </a:r>
          </a:p>
        </p:txBody>
      </p:sp>
      <p:sp>
        <p:nvSpPr>
          <p:cNvPr name="TextBox 213" id="213"/>
          <p:cNvSpPr txBox="true"/>
          <p:nvPr/>
        </p:nvSpPr>
        <p:spPr>
          <a:xfrm rot="0">
            <a:off x="5464207" y="6928390"/>
            <a:ext cx="1047750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6B675F"/>
                </a:solidFill>
                <a:latin typeface="Barlow"/>
                <a:ea typeface="Barlow"/>
                <a:cs typeface="Barlow"/>
                <a:sym typeface="Barlow"/>
              </a:rPr>
              <a:t>each year</a:t>
            </a:r>
          </a:p>
        </p:txBody>
      </p:sp>
      <p:sp>
        <p:nvSpPr>
          <p:cNvPr name="TextBox 214" id="214"/>
          <p:cNvSpPr txBox="true"/>
          <p:nvPr/>
        </p:nvSpPr>
        <p:spPr>
          <a:xfrm rot="0">
            <a:off x="6823043" y="6728365"/>
            <a:ext cx="104775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275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RECURRING</a:t>
            </a:r>
          </a:p>
        </p:txBody>
      </p:sp>
      <p:sp>
        <p:nvSpPr>
          <p:cNvPr name="TextBox 215" id="215"/>
          <p:cNvSpPr txBox="true"/>
          <p:nvPr/>
        </p:nvSpPr>
        <p:spPr>
          <a:xfrm rot="0">
            <a:off x="6823043" y="6928390"/>
            <a:ext cx="1047750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60"/>
              </a:lnSpc>
            </a:pPr>
            <a:r>
              <a:rPr lang="en-US" sz="900">
                <a:solidFill>
                  <a:srgbClr val="6B675F"/>
                </a:solidFill>
                <a:latin typeface="Barlow"/>
                <a:ea typeface="Barlow"/>
                <a:cs typeface="Barlow"/>
                <a:sym typeface="Barlow"/>
              </a:rPr>
              <a:t>earnings</a:t>
            </a:r>
          </a:p>
        </p:txBody>
      </p:sp>
      <p:sp>
        <p:nvSpPr>
          <p:cNvPr name="TextBox 216" id="216"/>
          <p:cNvSpPr txBox="true"/>
          <p:nvPr/>
        </p:nvSpPr>
        <p:spPr>
          <a:xfrm rot="0">
            <a:off x="8181975" y="6699790"/>
            <a:ext cx="104775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"/>
              </a:lnSpc>
            </a:pPr>
            <a:r>
              <a:rPr lang="en-US" b="true" sz="1275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STRONGER</a:t>
            </a:r>
          </a:p>
          <a:p>
            <a:pPr algn="ctr">
              <a:lnSpc>
                <a:spcPts val="1784"/>
              </a:lnSpc>
            </a:pPr>
            <a:r>
              <a:rPr lang="en-US" b="true" sz="1275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BEND FC</a:t>
            </a:r>
          </a:p>
        </p:txBody>
      </p:sp>
      <p:sp>
        <p:nvSpPr>
          <p:cNvPr name="TextBox 217" id="217"/>
          <p:cNvSpPr txBox="true"/>
          <p:nvPr/>
        </p:nvSpPr>
        <p:spPr>
          <a:xfrm rot="0">
            <a:off x="4105275" y="7195090"/>
            <a:ext cx="512445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4"/>
              </a:lnSpc>
            </a:pPr>
            <a:r>
              <a:rPr lang="en-US" b="true" sz="975">
                <a:solidFill>
                  <a:srgbClr val="43403A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Unlike one-time fundraisers, your support continues </a:t>
            </a:r>
            <a:r>
              <a:rPr lang="en-US" b="true" sz="975">
                <a:solidFill>
                  <a:srgbClr val="2F5E22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year after year.</a:t>
            </a:r>
          </a:p>
        </p:txBody>
      </p:sp>
      <p:sp>
        <p:nvSpPr>
          <p:cNvPr name="TextBox 218" id="218"/>
          <p:cNvSpPr txBox="true"/>
          <p:nvPr/>
        </p:nvSpPr>
        <p:spPr>
          <a:xfrm rot="0">
            <a:off x="4105275" y="7842790"/>
            <a:ext cx="329565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5"/>
              </a:lnSpc>
            </a:pPr>
            <a:r>
              <a:rPr lang="en-US" b="true" sz="1425" spc="28">
                <a:solidFill>
                  <a:srgbClr val="2F5E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MORE THAN A SUPPLEMENT</a:t>
            </a:r>
          </a:p>
        </p:txBody>
      </p:sp>
      <p:sp>
        <p:nvSpPr>
          <p:cNvPr name="TextBox 219" id="219"/>
          <p:cNvSpPr txBox="true"/>
          <p:nvPr/>
        </p:nvSpPr>
        <p:spPr>
          <a:xfrm rot="0">
            <a:off x="4105275" y="8042815"/>
            <a:ext cx="3295650" cy="735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2"/>
              </a:lnSpc>
            </a:pPr>
            <a:r>
              <a:rPr lang="en-US" sz="960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Healthy Starts sparks the daily habits that build young athletes — taking Juice Plus+ each day alongside better </a:t>
            </a:r>
            <a:r>
              <a:rPr lang="en-US" b="true" sz="960">
                <a:solidFill>
                  <a:srgbClr val="43403A"/>
                </a:solidFill>
                <a:latin typeface="Barlow Bold"/>
                <a:ea typeface="Barlow Bold"/>
                <a:cs typeface="Barlow Bold"/>
                <a:sym typeface="Barlow Bold"/>
              </a:rPr>
              <a:t>nutrition, hydration, fitness &amp; sleep.</a:t>
            </a:r>
            <a:r>
              <a:rPr lang="en-US" sz="960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 It supports every stage from childhood to young adulthood.</a:t>
            </a:r>
          </a:p>
        </p:txBody>
      </p:sp>
      <p:sp>
        <p:nvSpPr>
          <p:cNvPr name="TextBox 220" id="220"/>
          <p:cNvSpPr txBox="true"/>
          <p:nvPr/>
        </p:nvSpPr>
        <p:spPr>
          <a:xfrm rot="0">
            <a:off x="7677150" y="8033290"/>
            <a:ext cx="1428750" cy="184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80"/>
              </a:lnSpc>
            </a:pPr>
            <a:r>
              <a:rPr lang="en-US" b="true" sz="2850">
                <a:solidFill>
                  <a:srgbClr val="2F5E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89%</a:t>
            </a:r>
          </a:p>
        </p:txBody>
      </p:sp>
      <p:sp>
        <p:nvSpPr>
          <p:cNvPr name="TextBox 221" id="221"/>
          <p:cNvSpPr txBox="true"/>
          <p:nvPr/>
        </p:nvSpPr>
        <p:spPr>
          <a:xfrm rot="0">
            <a:off x="7677150" y="8246554"/>
            <a:ext cx="1428750" cy="5387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3"/>
              </a:lnSpc>
            </a:pPr>
            <a:r>
              <a:rPr lang="en-US" sz="787">
                <a:solidFill>
                  <a:srgbClr val="4A473F"/>
                </a:solidFill>
                <a:latin typeface="Barlow"/>
                <a:ea typeface="Barlow"/>
                <a:cs typeface="Barlow"/>
                <a:sym typeface="Barlow"/>
              </a:rPr>
              <a:t>of families say Healthy Starts made their young person more aware of their health &amp; wellness.*</a:t>
            </a:r>
          </a:p>
        </p:txBody>
      </p:sp>
      <p:sp>
        <p:nvSpPr>
          <p:cNvPr name="TextBox 222" id="222"/>
          <p:cNvSpPr txBox="true"/>
          <p:nvPr/>
        </p:nvSpPr>
        <p:spPr>
          <a:xfrm rot="0">
            <a:off x="4238625" y="9071039"/>
            <a:ext cx="140331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 spc="19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CHILDHOOD · 4–12</a:t>
            </a:r>
          </a:p>
        </p:txBody>
      </p:sp>
      <p:sp>
        <p:nvSpPr>
          <p:cNvPr name="TextBox 223" id="223"/>
          <p:cNvSpPr txBox="true"/>
          <p:nvPr/>
        </p:nvSpPr>
        <p:spPr>
          <a:xfrm rot="0">
            <a:off x="4238625" y="9261538"/>
            <a:ext cx="1403318" cy="303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"/>
              </a:lnSpc>
            </a:pPr>
            <a:r>
              <a:rPr lang="en-US" sz="862">
                <a:solidFill>
                  <a:srgbClr val="5B574E"/>
                </a:solidFill>
                <a:latin typeface="Barlow"/>
                <a:ea typeface="Barlow"/>
                <a:cs typeface="Barlow"/>
                <a:sym typeface="Barlow"/>
              </a:rPr>
              <a:t>Child order — builds healthy habits while bodies grow.</a:t>
            </a:r>
          </a:p>
        </p:txBody>
      </p:sp>
      <p:sp>
        <p:nvSpPr>
          <p:cNvPr name="TextBox 224" id="224"/>
          <p:cNvSpPr txBox="true"/>
          <p:nvPr/>
        </p:nvSpPr>
        <p:spPr>
          <a:xfrm rot="0">
            <a:off x="5975318" y="9071039"/>
            <a:ext cx="140331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 spc="19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TEEN YEARS · 13–18</a:t>
            </a:r>
          </a:p>
        </p:txBody>
      </p:sp>
      <p:sp>
        <p:nvSpPr>
          <p:cNvPr name="TextBox 225" id="225"/>
          <p:cNvSpPr txBox="true"/>
          <p:nvPr/>
        </p:nvSpPr>
        <p:spPr>
          <a:xfrm rot="0">
            <a:off x="5975318" y="9261538"/>
            <a:ext cx="1403318" cy="44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"/>
              </a:lnSpc>
            </a:pPr>
            <a:r>
              <a:rPr lang="en-US" sz="862">
                <a:solidFill>
                  <a:srgbClr val="5B574E"/>
                </a:solidFill>
                <a:latin typeface="Barlow"/>
                <a:ea typeface="Barlow"/>
                <a:cs typeface="Barlow"/>
                <a:sym typeface="Barlow"/>
              </a:rPr>
              <a:t>Adult order — fuels growth spurts, training loads &amp; focus.</a:t>
            </a:r>
          </a:p>
        </p:txBody>
      </p:sp>
      <p:sp>
        <p:nvSpPr>
          <p:cNvPr name="TextBox 226" id="226"/>
          <p:cNvSpPr txBox="true"/>
          <p:nvPr/>
        </p:nvSpPr>
        <p:spPr>
          <a:xfrm rot="0">
            <a:off x="7712012" y="9071039"/>
            <a:ext cx="140331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64"/>
              </a:lnSpc>
            </a:pPr>
            <a:r>
              <a:rPr lang="en-US" b="true" sz="975" spc="19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YOUNG ADULT · 19–25</a:t>
            </a:r>
          </a:p>
        </p:txBody>
      </p:sp>
      <p:sp>
        <p:nvSpPr>
          <p:cNvPr name="TextBox 227" id="227"/>
          <p:cNvSpPr txBox="true"/>
          <p:nvPr/>
        </p:nvSpPr>
        <p:spPr>
          <a:xfrm rot="0">
            <a:off x="7712012" y="9261538"/>
            <a:ext cx="1403318" cy="408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21"/>
              </a:lnSpc>
            </a:pPr>
            <a:r>
              <a:rPr lang="en-US" sz="862">
                <a:solidFill>
                  <a:srgbClr val="5B574E"/>
                </a:solidFill>
                <a:latin typeface="Barlow"/>
                <a:ea typeface="Barlow"/>
                <a:cs typeface="Barlow"/>
                <a:sym typeface="Barlow"/>
              </a:rPr>
              <a:t>Adult order — sustains performance through college &amp; club.</a:t>
            </a:r>
          </a:p>
        </p:txBody>
      </p:sp>
      <p:grpSp>
        <p:nvGrpSpPr>
          <p:cNvPr name="Group 228" id="228"/>
          <p:cNvGrpSpPr/>
          <p:nvPr/>
        </p:nvGrpSpPr>
        <p:grpSpPr>
          <a:xfrm rot="0">
            <a:off x="3914775" y="10164699"/>
            <a:ext cx="5486305" cy="948976"/>
            <a:chOff x="0" y="0"/>
            <a:chExt cx="7315073" cy="1265301"/>
          </a:xfrm>
        </p:grpSpPr>
        <p:grpSp>
          <p:nvGrpSpPr>
            <p:cNvPr name="Group 229" id="229"/>
            <p:cNvGrpSpPr/>
            <p:nvPr/>
          </p:nvGrpSpPr>
          <p:grpSpPr>
            <a:xfrm rot="0">
              <a:off x="0" y="0"/>
              <a:ext cx="2353691" cy="1265301"/>
              <a:chOff x="0" y="0"/>
              <a:chExt cx="2353691" cy="1265301"/>
            </a:xfrm>
          </p:grpSpPr>
          <p:sp>
            <p:nvSpPr>
              <p:cNvPr name="Freeform 230" id="230"/>
              <p:cNvSpPr/>
              <p:nvPr/>
            </p:nvSpPr>
            <p:spPr>
              <a:xfrm flipH="false" flipV="false" rot="0">
                <a:off x="0" y="0"/>
                <a:ext cx="2353691" cy="1265301"/>
              </a:xfrm>
              <a:custGeom>
                <a:avLst/>
                <a:gdLst/>
                <a:ahLst/>
                <a:cxnLst/>
                <a:rect r="r" b="b" t="t" l="l"/>
                <a:pathLst>
                  <a:path h="1265301" w="2353691">
                    <a:moveTo>
                      <a:pt x="127000" y="0"/>
                    </a:moveTo>
                    <a:lnTo>
                      <a:pt x="2226691" y="0"/>
                    </a:lnTo>
                    <a:cubicBezTo>
                      <a:pt x="2296795" y="0"/>
                      <a:pt x="2353691" y="56896"/>
                      <a:pt x="2353691" y="127000"/>
                    </a:cubicBezTo>
                    <a:lnTo>
                      <a:pt x="2353691" y="1138301"/>
                    </a:lnTo>
                    <a:cubicBezTo>
                      <a:pt x="2353691" y="1208405"/>
                      <a:pt x="2296795" y="1265301"/>
                      <a:pt x="2226691" y="1265301"/>
                    </a:cubicBezTo>
                    <a:lnTo>
                      <a:pt x="127000" y="1265301"/>
                    </a:lnTo>
                    <a:cubicBezTo>
                      <a:pt x="56896" y="1265301"/>
                      <a:pt x="0" y="1208405"/>
                      <a:pt x="0" y="1138301"/>
                    </a:cubicBezTo>
                    <a:lnTo>
                      <a:pt x="0" y="127000"/>
                    </a:lnTo>
                    <a:cubicBezTo>
                      <a:pt x="0" y="56896"/>
                      <a:pt x="56896" y="0"/>
                      <a:pt x="127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31" id="231"/>
              <p:cNvSpPr/>
              <p:nvPr/>
            </p:nvSpPr>
            <p:spPr>
              <a:xfrm flipH="false" flipV="false" rot="0">
                <a:off x="0" y="0"/>
                <a:ext cx="2353691" cy="1265301"/>
              </a:xfrm>
              <a:custGeom>
                <a:avLst/>
                <a:gdLst/>
                <a:ahLst/>
                <a:cxnLst/>
                <a:rect r="r" b="b" t="t" l="l"/>
                <a:pathLst>
                  <a:path h="1265301" w="2353691">
                    <a:moveTo>
                      <a:pt x="127000" y="0"/>
                    </a:moveTo>
                    <a:lnTo>
                      <a:pt x="2226691" y="0"/>
                    </a:lnTo>
                    <a:cubicBezTo>
                      <a:pt x="2296795" y="0"/>
                      <a:pt x="2353691" y="56896"/>
                      <a:pt x="2353691" y="127000"/>
                    </a:cubicBezTo>
                    <a:lnTo>
                      <a:pt x="2353691" y="1138301"/>
                    </a:lnTo>
                    <a:cubicBezTo>
                      <a:pt x="2353691" y="1208405"/>
                      <a:pt x="2296795" y="1265301"/>
                      <a:pt x="2226691" y="1265301"/>
                    </a:cubicBezTo>
                    <a:lnTo>
                      <a:pt x="127000" y="1265301"/>
                    </a:lnTo>
                    <a:cubicBezTo>
                      <a:pt x="56896" y="1265301"/>
                      <a:pt x="0" y="1208405"/>
                      <a:pt x="0" y="1138301"/>
                    </a:cubicBezTo>
                    <a:lnTo>
                      <a:pt x="0" y="127000"/>
                    </a:lnTo>
                    <a:cubicBezTo>
                      <a:pt x="0" y="56896"/>
                      <a:pt x="56896" y="0"/>
                      <a:pt x="1270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E2DED4"/>
                </a:solidFill>
                <a:prstDash val="solid"/>
                <a:miter/>
              </a:ln>
            </p:spPr>
          </p:sp>
        </p:grpSp>
        <p:grpSp>
          <p:nvGrpSpPr>
            <p:cNvPr name="Group 232" id="232"/>
            <p:cNvGrpSpPr/>
            <p:nvPr/>
          </p:nvGrpSpPr>
          <p:grpSpPr>
            <a:xfrm rot="0">
              <a:off x="2480691" y="0"/>
              <a:ext cx="2353691" cy="1265301"/>
              <a:chOff x="0" y="0"/>
              <a:chExt cx="2353691" cy="1265301"/>
            </a:xfrm>
          </p:grpSpPr>
          <p:sp>
            <p:nvSpPr>
              <p:cNvPr name="Freeform 233" id="233"/>
              <p:cNvSpPr/>
              <p:nvPr/>
            </p:nvSpPr>
            <p:spPr>
              <a:xfrm flipH="false" flipV="false" rot="0">
                <a:off x="0" y="0"/>
                <a:ext cx="2353691" cy="1265301"/>
              </a:xfrm>
              <a:custGeom>
                <a:avLst/>
                <a:gdLst/>
                <a:ahLst/>
                <a:cxnLst/>
                <a:rect r="r" b="b" t="t" l="l"/>
                <a:pathLst>
                  <a:path h="1265301" w="2353691">
                    <a:moveTo>
                      <a:pt x="127000" y="0"/>
                    </a:moveTo>
                    <a:lnTo>
                      <a:pt x="2226691" y="0"/>
                    </a:lnTo>
                    <a:cubicBezTo>
                      <a:pt x="2296795" y="0"/>
                      <a:pt x="2353691" y="56896"/>
                      <a:pt x="2353691" y="127000"/>
                    </a:cubicBezTo>
                    <a:lnTo>
                      <a:pt x="2353691" y="1138301"/>
                    </a:lnTo>
                    <a:cubicBezTo>
                      <a:pt x="2353691" y="1208405"/>
                      <a:pt x="2296795" y="1265301"/>
                      <a:pt x="2226691" y="1265301"/>
                    </a:cubicBezTo>
                    <a:lnTo>
                      <a:pt x="127000" y="1265301"/>
                    </a:lnTo>
                    <a:cubicBezTo>
                      <a:pt x="56896" y="1265301"/>
                      <a:pt x="0" y="1208405"/>
                      <a:pt x="0" y="1138301"/>
                    </a:cubicBezTo>
                    <a:lnTo>
                      <a:pt x="0" y="127000"/>
                    </a:lnTo>
                    <a:cubicBezTo>
                      <a:pt x="0" y="56896"/>
                      <a:pt x="56896" y="0"/>
                      <a:pt x="127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34" id="234"/>
              <p:cNvSpPr/>
              <p:nvPr/>
            </p:nvSpPr>
            <p:spPr>
              <a:xfrm flipH="false" flipV="false" rot="0">
                <a:off x="0" y="0"/>
                <a:ext cx="2353691" cy="1265301"/>
              </a:xfrm>
              <a:custGeom>
                <a:avLst/>
                <a:gdLst/>
                <a:ahLst/>
                <a:cxnLst/>
                <a:rect r="r" b="b" t="t" l="l"/>
                <a:pathLst>
                  <a:path h="1265301" w="2353691">
                    <a:moveTo>
                      <a:pt x="127000" y="0"/>
                    </a:moveTo>
                    <a:lnTo>
                      <a:pt x="2226691" y="0"/>
                    </a:lnTo>
                    <a:cubicBezTo>
                      <a:pt x="2296795" y="0"/>
                      <a:pt x="2353691" y="56896"/>
                      <a:pt x="2353691" y="127000"/>
                    </a:cubicBezTo>
                    <a:lnTo>
                      <a:pt x="2353691" y="1138301"/>
                    </a:lnTo>
                    <a:cubicBezTo>
                      <a:pt x="2353691" y="1208405"/>
                      <a:pt x="2296795" y="1265301"/>
                      <a:pt x="2226691" y="1265301"/>
                    </a:cubicBezTo>
                    <a:lnTo>
                      <a:pt x="127000" y="1265301"/>
                    </a:lnTo>
                    <a:cubicBezTo>
                      <a:pt x="56896" y="1265301"/>
                      <a:pt x="0" y="1208405"/>
                      <a:pt x="0" y="1138301"/>
                    </a:cubicBezTo>
                    <a:lnTo>
                      <a:pt x="0" y="127000"/>
                    </a:lnTo>
                    <a:cubicBezTo>
                      <a:pt x="0" y="56896"/>
                      <a:pt x="56896" y="0"/>
                      <a:pt x="1270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E2DED4"/>
                </a:solidFill>
                <a:prstDash val="solid"/>
                <a:miter/>
              </a:ln>
            </p:spPr>
          </p:sp>
        </p:grpSp>
        <p:grpSp>
          <p:nvGrpSpPr>
            <p:cNvPr name="Group 235" id="235"/>
            <p:cNvGrpSpPr/>
            <p:nvPr/>
          </p:nvGrpSpPr>
          <p:grpSpPr>
            <a:xfrm rot="0">
              <a:off x="4961382" y="0"/>
              <a:ext cx="2353691" cy="1265301"/>
              <a:chOff x="0" y="0"/>
              <a:chExt cx="2353691" cy="1265301"/>
            </a:xfrm>
          </p:grpSpPr>
          <p:sp>
            <p:nvSpPr>
              <p:cNvPr name="Freeform 236" id="236"/>
              <p:cNvSpPr/>
              <p:nvPr/>
            </p:nvSpPr>
            <p:spPr>
              <a:xfrm flipH="false" flipV="false" rot="0">
                <a:off x="0" y="0"/>
                <a:ext cx="2353691" cy="1265301"/>
              </a:xfrm>
              <a:custGeom>
                <a:avLst/>
                <a:gdLst/>
                <a:ahLst/>
                <a:cxnLst/>
                <a:rect r="r" b="b" t="t" l="l"/>
                <a:pathLst>
                  <a:path h="1265301" w="2353691">
                    <a:moveTo>
                      <a:pt x="127000" y="0"/>
                    </a:moveTo>
                    <a:lnTo>
                      <a:pt x="2226691" y="0"/>
                    </a:lnTo>
                    <a:cubicBezTo>
                      <a:pt x="2296795" y="0"/>
                      <a:pt x="2353691" y="56896"/>
                      <a:pt x="2353691" y="127000"/>
                    </a:cubicBezTo>
                    <a:lnTo>
                      <a:pt x="2353691" y="1138301"/>
                    </a:lnTo>
                    <a:cubicBezTo>
                      <a:pt x="2353691" y="1208405"/>
                      <a:pt x="2296795" y="1265301"/>
                      <a:pt x="2226691" y="1265301"/>
                    </a:cubicBezTo>
                    <a:lnTo>
                      <a:pt x="127000" y="1265301"/>
                    </a:lnTo>
                    <a:cubicBezTo>
                      <a:pt x="56896" y="1265301"/>
                      <a:pt x="0" y="1208405"/>
                      <a:pt x="0" y="1138301"/>
                    </a:cubicBezTo>
                    <a:lnTo>
                      <a:pt x="0" y="127000"/>
                    </a:lnTo>
                    <a:cubicBezTo>
                      <a:pt x="0" y="56896"/>
                      <a:pt x="56896" y="0"/>
                      <a:pt x="127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37" id="237"/>
              <p:cNvSpPr/>
              <p:nvPr/>
            </p:nvSpPr>
            <p:spPr>
              <a:xfrm flipH="false" flipV="false" rot="0">
                <a:off x="0" y="0"/>
                <a:ext cx="2353691" cy="1265301"/>
              </a:xfrm>
              <a:custGeom>
                <a:avLst/>
                <a:gdLst/>
                <a:ahLst/>
                <a:cxnLst/>
                <a:rect r="r" b="b" t="t" l="l"/>
                <a:pathLst>
                  <a:path h="1265301" w="2353691">
                    <a:moveTo>
                      <a:pt x="127000" y="0"/>
                    </a:moveTo>
                    <a:lnTo>
                      <a:pt x="2226691" y="0"/>
                    </a:lnTo>
                    <a:cubicBezTo>
                      <a:pt x="2296795" y="0"/>
                      <a:pt x="2353691" y="56896"/>
                      <a:pt x="2353691" y="127000"/>
                    </a:cubicBezTo>
                    <a:lnTo>
                      <a:pt x="2353691" y="1138301"/>
                    </a:lnTo>
                    <a:cubicBezTo>
                      <a:pt x="2353691" y="1208405"/>
                      <a:pt x="2296795" y="1265301"/>
                      <a:pt x="2226691" y="1265301"/>
                    </a:cubicBezTo>
                    <a:lnTo>
                      <a:pt x="127000" y="1265301"/>
                    </a:lnTo>
                    <a:cubicBezTo>
                      <a:pt x="56896" y="1265301"/>
                      <a:pt x="0" y="1208405"/>
                      <a:pt x="0" y="1138301"/>
                    </a:cubicBezTo>
                    <a:lnTo>
                      <a:pt x="0" y="127000"/>
                    </a:lnTo>
                    <a:cubicBezTo>
                      <a:pt x="0" y="56896"/>
                      <a:pt x="56896" y="0"/>
                      <a:pt x="127000" y="0"/>
                    </a:cubicBez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9525" cap="sq">
                <a:solidFill>
                  <a:srgbClr val="E2DED4"/>
                </a:solidFill>
                <a:prstDash val="solid"/>
                <a:miter/>
              </a:ln>
            </p:spPr>
          </p:sp>
        </p:grpSp>
        <p:sp>
          <p:nvSpPr>
            <p:cNvPr name="Freeform 238" id="238"/>
            <p:cNvSpPr/>
            <p:nvPr/>
          </p:nvSpPr>
          <p:spPr>
            <a:xfrm flipH="false" flipV="false" rot="0">
              <a:off x="177800" y="16510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4">
                <a:extLst>
                  <a:ext uri="{96DAC541-7B7A-43D3-8B79-37D633B846F1}">
                    <asvg:svgBlip xmlns:asvg="http://schemas.microsoft.com/office/drawing/2016/SVG/main" r:embed="rId35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39" id="239"/>
            <p:cNvSpPr/>
            <p:nvPr/>
          </p:nvSpPr>
          <p:spPr>
            <a:xfrm flipH="false" flipV="false" rot="0">
              <a:off x="2658491" y="16510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6">
                <a:extLst>
                  <a:ext uri="{96DAC541-7B7A-43D3-8B79-37D633B846F1}">
                    <asvg:svgBlip xmlns:asvg="http://schemas.microsoft.com/office/drawing/2016/SVG/main" r:embed="rId3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40" id="240"/>
            <p:cNvSpPr/>
            <p:nvPr/>
          </p:nvSpPr>
          <p:spPr>
            <a:xfrm flipH="false" flipV="false" rot="0">
              <a:off x="5139182" y="165100"/>
              <a:ext cx="228600" cy="228600"/>
            </a:xfrm>
            <a:custGeom>
              <a:avLst/>
              <a:gdLst/>
              <a:ahLst/>
              <a:cxnLst/>
              <a:rect r="r" b="b" t="t" l="l"/>
              <a:pathLst>
                <a:path h="228600" w="228600">
                  <a:moveTo>
                    <a:pt x="0" y="0"/>
                  </a:moveTo>
                  <a:lnTo>
                    <a:pt x="228600" y="0"/>
                  </a:lnTo>
                  <a:lnTo>
                    <a:pt x="228600" y="228600"/>
                  </a:lnTo>
                  <a:lnTo>
                    <a:pt x="0" y="228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8">
                <a:extLst>
                  <a:ext uri="{96DAC541-7B7A-43D3-8B79-37D633B846F1}">
                    <asvg:svgBlip xmlns:asvg="http://schemas.microsoft.com/office/drawing/2016/SVG/main" r:embed="rId39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241" id="241"/>
            <p:cNvSpPr txBox="true"/>
            <p:nvPr/>
          </p:nvSpPr>
          <p:spPr>
            <a:xfrm rot="0">
              <a:off x="508000" y="152400"/>
              <a:ext cx="1046988" cy="234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17"/>
                </a:lnSpc>
              </a:pPr>
              <a:r>
                <a:rPr lang="en-US" b="true" sz="1012" spc="30">
                  <a:solidFill>
                    <a:srgbClr val="141414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WHO CAN JOIN?</a:t>
              </a:r>
            </a:p>
          </p:txBody>
        </p:sp>
        <p:sp>
          <p:nvSpPr>
            <p:cNvPr name="TextBox 242" id="242"/>
            <p:cNvSpPr txBox="true"/>
            <p:nvPr/>
          </p:nvSpPr>
          <p:spPr>
            <a:xfrm rot="0">
              <a:off x="177800" y="438150"/>
              <a:ext cx="1998091" cy="662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65"/>
                </a:lnSpc>
              </a:pPr>
              <a:r>
                <a:rPr lang="en-US" sz="937">
                  <a:solidFill>
                    <a:srgbClr val="4A473F"/>
                  </a:solidFill>
                  <a:latin typeface="Barlow"/>
                  <a:ea typeface="Barlow"/>
                  <a:cs typeface="Barlow"/>
                  <a:sym typeface="Barlow"/>
                </a:rPr>
                <a:t>Adults 18+ enroll &amp; gift Healthy Starts to a child or young adult ages 4–25.</a:t>
              </a:r>
            </a:p>
          </p:txBody>
        </p:sp>
        <p:sp>
          <p:nvSpPr>
            <p:cNvPr name="TextBox 243" id="243"/>
            <p:cNvSpPr txBox="true"/>
            <p:nvPr/>
          </p:nvSpPr>
          <p:spPr>
            <a:xfrm rot="0">
              <a:off x="2988691" y="152400"/>
              <a:ext cx="903478" cy="234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17"/>
                </a:lnSpc>
              </a:pPr>
              <a:r>
                <a:rPr lang="en-US" b="true" sz="1012" spc="30">
                  <a:solidFill>
                    <a:srgbClr val="141414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ONE ADDRESS</a:t>
              </a:r>
            </a:p>
          </p:txBody>
        </p:sp>
        <p:sp>
          <p:nvSpPr>
            <p:cNvPr name="TextBox 244" id="244"/>
            <p:cNvSpPr txBox="true"/>
            <p:nvPr/>
          </p:nvSpPr>
          <p:spPr>
            <a:xfrm rot="0">
              <a:off x="2658491" y="438150"/>
              <a:ext cx="1998091" cy="662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65"/>
                </a:lnSpc>
              </a:pPr>
              <a:r>
                <a:rPr lang="en-US" sz="937">
                  <a:solidFill>
                    <a:srgbClr val="4A473F"/>
                  </a:solidFill>
                  <a:latin typeface="Barlow"/>
                  <a:ea typeface="Barlow"/>
                  <a:cs typeface="Barlow"/>
                  <a:sym typeface="Barlow"/>
                </a:rPr>
                <a:t>All products (adult &amp; child) ship to the same address for easy convenience.</a:t>
              </a:r>
            </a:p>
          </p:txBody>
        </p:sp>
        <p:sp>
          <p:nvSpPr>
            <p:cNvPr name="TextBox 245" id="245"/>
            <p:cNvSpPr txBox="true"/>
            <p:nvPr/>
          </p:nvSpPr>
          <p:spPr>
            <a:xfrm rot="0">
              <a:off x="5469382" y="152400"/>
              <a:ext cx="1381125" cy="234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417"/>
                </a:lnSpc>
              </a:pPr>
              <a:r>
                <a:rPr lang="en-US" b="true" sz="1012" spc="30">
                  <a:solidFill>
                    <a:srgbClr val="141414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SAFE &amp; RESEARCHED</a:t>
              </a:r>
            </a:p>
          </p:txBody>
        </p:sp>
        <p:sp>
          <p:nvSpPr>
            <p:cNvPr name="TextBox 246" id="246"/>
            <p:cNvSpPr txBox="true"/>
            <p:nvPr/>
          </p:nvSpPr>
          <p:spPr>
            <a:xfrm rot="0">
              <a:off x="5139182" y="438150"/>
              <a:ext cx="1998091" cy="662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265"/>
                </a:lnSpc>
              </a:pPr>
              <a:r>
                <a:rPr lang="en-US" sz="937">
                  <a:solidFill>
                    <a:srgbClr val="4A473F"/>
                  </a:solidFill>
                  <a:latin typeface="Barlow"/>
                  <a:ea typeface="Barlow"/>
                  <a:cs typeface="Barlow"/>
                  <a:sym typeface="Barlow"/>
                </a:rPr>
                <a:t>Whole-food, plant-based nutrition backed by 40+ published studies.</a:t>
              </a:r>
            </a:p>
          </p:txBody>
        </p:sp>
      </p:grpSp>
      <p:sp>
        <p:nvSpPr>
          <p:cNvPr name="TextBox 247" id="247"/>
          <p:cNvSpPr txBox="true"/>
          <p:nvPr/>
        </p:nvSpPr>
        <p:spPr>
          <a:xfrm rot="0">
            <a:off x="2137112" y="12268200"/>
            <a:ext cx="5303758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b="true" sz="1125" spc="22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QUESTIONS? CONTACT James @ james.traynor@bendfctimbers.com or visit </a:t>
            </a:r>
            <a:r>
              <a:rPr lang="en-US" b="true" sz="1125" spc="22">
                <a:solidFill>
                  <a:srgbClr val="8EC94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bendfc.juiceplus.com</a:t>
            </a:r>
          </a:p>
        </p:txBody>
      </p:sp>
      <p:sp>
        <p:nvSpPr>
          <p:cNvPr name="TextBox 248" id="248"/>
          <p:cNvSpPr txBox="true"/>
          <p:nvPr/>
        </p:nvSpPr>
        <p:spPr>
          <a:xfrm rot="0">
            <a:off x="3933825" y="2199418"/>
            <a:ext cx="1041368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25</a:t>
            </a:r>
          </a:p>
        </p:txBody>
      </p:sp>
      <p:sp>
        <p:nvSpPr>
          <p:cNvPr name="TextBox 249" id="249"/>
          <p:cNvSpPr txBox="true"/>
          <p:nvPr/>
        </p:nvSpPr>
        <p:spPr>
          <a:xfrm rot="0">
            <a:off x="3933825" y="2570893"/>
            <a:ext cx="1041368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50</a:t>
            </a:r>
          </a:p>
        </p:txBody>
      </p:sp>
      <p:sp>
        <p:nvSpPr>
          <p:cNvPr name="TextBox 250" id="250"/>
          <p:cNvSpPr txBox="true"/>
          <p:nvPr/>
        </p:nvSpPr>
        <p:spPr>
          <a:xfrm rot="0">
            <a:off x="3933825" y="2942368"/>
            <a:ext cx="1041368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100</a:t>
            </a:r>
          </a:p>
        </p:txBody>
      </p:sp>
      <p:sp>
        <p:nvSpPr>
          <p:cNvPr name="TextBox 251" id="251"/>
          <p:cNvSpPr txBox="true"/>
          <p:nvPr/>
        </p:nvSpPr>
        <p:spPr>
          <a:xfrm rot="0">
            <a:off x="3933825" y="3313843"/>
            <a:ext cx="1041368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250</a:t>
            </a:r>
          </a:p>
        </p:txBody>
      </p:sp>
      <p:sp>
        <p:nvSpPr>
          <p:cNvPr name="TextBox 252" id="252"/>
          <p:cNvSpPr txBox="true"/>
          <p:nvPr/>
        </p:nvSpPr>
        <p:spPr>
          <a:xfrm rot="0">
            <a:off x="3933825" y="3685318"/>
            <a:ext cx="1041368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500</a:t>
            </a:r>
          </a:p>
        </p:txBody>
      </p:sp>
      <p:sp>
        <p:nvSpPr>
          <p:cNvPr name="TextBox 253" id="253"/>
          <p:cNvSpPr txBox="true"/>
          <p:nvPr/>
        </p:nvSpPr>
        <p:spPr>
          <a:xfrm rot="0">
            <a:off x="3933825" y="4056793"/>
            <a:ext cx="1041368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750</a:t>
            </a:r>
          </a:p>
        </p:txBody>
      </p:sp>
      <p:sp>
        <p:nvSpPr>
          <p:cNvPr name="TextBox 254" id="254"/>
          <p:cNvSpPr txBox="true"/>
          <p:nvPr/>
        </p:nvSpPr>
        <p:spPr>
          <a:xfrm rot="0">
            <a:off x="3933825" y="4428268"/>
            <a:ext cx="1041368" cy="232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89"/>
              </a:lnSpc>
            </a:pPr>
            <a:r>
              <a:rPr lang="en-US" b="true" sz="1350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1,000</a:t>
            </a:r>
          </a:p>
        </p:txBody>
      </p:sp>
      <p:sp>
        <p:nvSpPr>
          <p:cNvPr name="TextBox 255" id="255"/>
          <p:cNvSpPr txBox="true"/>
          <p:nvPr/>
        </p:nvSpPr>
        <p:spPr>
          <a:xfrm rot="0">
            <a:off x="9412319" y="12401550"/>
            <a:ext cx="207931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825">
                <a:solidFill>
                  <a:srgbClr val="807C73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2 / 4</a:t>
            </a:r>
          </a:p>
        </p:txBody>
      </p:sp>
      <p:sp>
        <p:nvSpPr>
          <p:cNvPr name="TextBox 256" id="256"/>
          <p:cNvSpPr txBox="true"/>
          <p:nvPr/>
        </p:nvSpPr>
        <p:spPr>
          <a:xfrm rot="0">
            <a:off x="3933825" y="11386423"/>
            <a:ext cx="5467255" cy="3067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u="sng">
                <a:gradFill>
                  <a:gsLst>
                    <a:gs pos="0">
                      <a:srgbClr val="004AAD">
                        <a:alpha val="100000"/>
                      </a:srgbClr>
                    </a:gs>
                    <a:gs pos="100000">
                      <a:srgbClr val="CB6CE6">
                        <a:alpha val="100000"/>
                      </a:srgbClr>
                    </a:gs>
                  </a:gsLst>
                  <a:lin ang="0"/>
                </a:gradFill>
                <a:latin typeface="Anton"/>
                <a:ea typeface="Anton"/>
                <a:cs typeface="Anton"/>
                <a:sym typeface="Anton"/>
                <a:hlinkClick r:id="rId40" tooltip="https://www.youtube.com/@juiceplus"/>
              </a:rPr>
              <a:t>Click Here To View The JuicePlus+ YouTube Channel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9753600" cy="12620625"/>
          </a:xfrm>
          <a:prstGeom prst="rect">
            <a:avLst/>
          </a:prstGeom>
          <a:solidFill>
            <a:srgbClr val="141414"/>
          </a:solidFill>
        </p:spPr>
      </p:sp>
      <p:grpSp>
        <p:nvGrpSpPr>
          <p:cNvPr name="Group 3" id="3"/>
          <p:cNvGrpSpPr/>
          <p:nvPr/>
        </p:nvGrpSpPr>
        <p:grpSpPr>
          <a:xfrm rot="0">
            <a:off x="381000" y="2486311"/>
            <a:ext cx="2162175" cy="1028128"/>
            <a:chOff x="0" y="0"/>
            <a:chExt cx="2882900" cy="13708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882900" cy="1370838"/>
            </a:xfrm>
            <a:custGeom>
              <a:avLst/>
              <a:gdLst/>
              <a:ahLst/>
              <a:cxnLst/>
              <a:rect r="r" b="b" t="t" l="l"/>
              <a:pathLst>
                <a:path h="1370838" w="2882900">
                  <a:moveTo>
                    <a:pt x="127000" y="0"/>
                  </a:moveTo>
                  <a:lnTo>
                    <a:pt x="2755900" y="0"/>
                  </a:lnTo>
                  <a:cubicBezTo>
                    <a:pt x="2826004" y="0"/>
                    <a:pt x="2882900" y="56896"/>
                    <a:pt x="2882900" y="127000"/>
                  </a:cubicBezTo>
                  <a:lnTo>
                    <a:pt x="2882900" y="1243838"/>
                  </a:lnTo>
                  <a:cubicBezTo>
                    <a:pt x="2882900" y="1313942"/>
                    <a:pt x="2826004" y="1370838"/>
                    <a:pt x="2755900" y="1370838"/>
                  </a:cubicBezTo>
                  <a:lnTo>
                    <a:pt x="127000" y="1370838"/>
                  </a:lnTo>
                  <a:cubicBezTo>
                    <a:pt x="56896" y="1370838"/>
                    <a:pt x="0" y="1313942"/>
                    <a:pt x="0" y="1243838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882900" cy="1370838"/>
            </a:xfrm>
            <a:custGeom>
              <a:avLst/>
              <a:gdLst/>
              <a:ahLst/>
              <a:cxnLst/>
              <a:rect r="r" b="b" t="t" l="l"/>
              <a:pathLst>
                <a:path h="1370838" w="2882900">
                  <a:moveTo>
                    <a:pt x="127000" y="0"/>
                  </a:moveTo>
                  <a:lnTo>
                    <a:pt x="2755900" y="0"/>
                  </a:lnTo>
                  <a:cubicBezTo>
                    <a:pt x="2826004" y="0"/>
                    <a:pt x="2882900" y="56896"/>
                    <a:pt x="2882900" y="127000"/>
                  </a:cubicBezTo>
                  <a:lnTo>
                    <a:pt x="2882900" y="1243838"/>
                  </a:lnTo>
                  <a:cubicBezTo>
                    <a:pt x="2882900" y="1313942"/>
                    <a:pt x="2826004" y="1370838"/>
                    <a:pt x="2755900" y="1370838"/>
                  </a:cubicBezTo>
                  <a:lnTo>
                    <a:pt x="127000" y="1370838"/>
                  </a:lnTo>
                  <a:cubicBezTo>
                    <a:pt x="56896" y="1370838"/>
                    <a:pt x="0" y="1313942"/>
                    <a:pt x="0" y="1243838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F2F2F"/>
              </a:solidFill>
              <a:prstDash val="solid"/>
              <a:miter/>
            </a:ln>
          </p:spPr>
        </p:sp>
      </p:grpSp>
      <p:sp>
        <p:nvSpPr>
          <p:cNvPr name="TextBox 6" id="6"/>
          <p:cNvSpPr txBox="true"/>
          <p:nvPr/>
        </p:nvSpPr>
        <p:spPr>
          <a:xfrm rot="0">
            <a:off x="523875" y="2705386"/>
            <a:ext cx="1876425" cy="16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b="true" sz="2550">
                <a:solidFill>
                  <a:srgbClr val="8EC94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40+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3875" y="2916746"/>
            <a:ext cx="1876425" cy="48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8"/>
              </a:lnSpc>
            </a:pPr>
            <a:r>
              <a:rPr lang="en-US" sz="103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peer-reviewed publications — the majority randomized clinical trials.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2657475" y="2486311"/>
            <a:ext cx="2162175" cy="1028128"/>
            <a:chOff x="0" y="0"/>
            <a:chExt cx="2882900" cy="137083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82900" cy="1370838"/>
            </a:xfrm>
            <a:custGeom>
              <a:avLst/>
              <a:gdLst/>
              <a:ahLst/>
              <a:cxnLst/>
              <a:rect r="r" b="b" t="t" l="l"/>
              <a:pathLst>
                <a:path h="1370838" w="2882900">
                  <a:moveTo>
                    <a:pt x="127000" y="0"/>
                  </a:moveTo>
                  <a:lnTo>
                    <a:pt x="2755900" y="0"/>
                  </a:lnTo>
                  <a:cubicBezTo>
                    <a:pt x="2826004" y="0"/>
                    <a:pt x="2882900" y="56896"/>
                    <a:pt x="2882900" y="127000"/>
                  </a:cubicBezTo>
                  <a:lnTo>
                    <a:pt x="2882900" y="1243838"/>
                  </a:lnTo>
                  <a:cubicBezTo>
                    <a:pt x="2882900" y="1313942"/>
                    <a:pt x="2826004" y="1370838"/>
                    <a:pt x="2755900" y="1370838"/>
                  </a:cubicBezTo>
                  <a:lnTo>
                    <a:pt x="127000" y="1370838"/>
                  </a:lnTo>
                  <a:cubicBezTo>
                    <a:pt x="56896" y="1370838"/>
                    <a:pt x="0" y="1313942"/>
                    <a:pt x="0" y="1243838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82900" cy="1370838"/>
            </a:xfrm>
            <a:custGeom>
              <a:avLst/>
              <a:gdLst/>
              <a:ahLst/>
              <a:cxnLst/>
              <a:rect r="r" b="b" t="t" l="l"/>
              <a:pathLst>
                <a:path h="1370838" w="2882900">
                  <a:moveTo>
                    <a:pt x="127000" y="0"/>
                  </a:moveTo>
                  <a:lnTo>
                    <a:pt x="2755900" y="0"/>
                  </a:lnTo>
                  <a:cubicBezTo>
                    <a:pt x="2826004" y="0"/>
                    <a:pt x="2882900" y="56896"/>
                    <a:pt x="2882900" y="127000"/>
                  </a:cubicBezTo>
                  <a:lnTo>
                    <a:pt x="2882900" y="1243838"/>
                  </a:lnTo>
                  <a:cubicBezTo>
                    <a:pt x="2882900" y="1313942"/>
                    <a:pt x="2826004" y="1370838"/>
                    <a:pt x="2755900" y="1370838"/>
                  </a:cubicBezTo>
                  <a:lnTo>
                    <a:pt x="127000" y="1370838"/>
                  </a:lnTo>
                  <a:cubicBezTo>
                    <a:pt x="56896" y="1370838"/>
                    <a:pt x="0" y="1313942"/>
                    <a:pt x="0" y="1243838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F2F2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2800350" y="2705386"/>
            <a:ext cx="1876425" cy="16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b="true" sz="2550">
                <a:solidFill>
                  <a:srgbClr val="C6A15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≈200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800350" y="2916746"/>
            <a:ext cx="1876425" cy="48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8"/>
              </a:lnSpc>
            </a:pPr>
            <a:r>
              <a:rPr lang="en-US" sz="103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research-program impact factor. A strong program scores just 10–15.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4933950" y="2486311"/>
            <a:ext cx="2162175" cy="1028128"/>
            <a:chOff x="0" y="0"/>
            <a:chExt cx="2882900" cy="13708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82900" cy="1370838"/>
            </a:xfrm>
            <a:custGeom>
              <a:avLst/>
              <a:gdLst/>
              <a:ahLst/>
              <a:cxnLst/>
              <a:rect r="r" b="b" t="t" l="l"/>
              <a:pathLst>
                <a:path h="1370838" w="2882900">
                  <a:moveTo>
                    <a:pt x="127000" y="0"/>
                  </a:moveTo>
                  <a:lnTo>
                    <a:pt x="2755900" y="0"/>
                  </a:lnTo>
                  <a:cubicBezTo>
                    <a:pt x="2826004" y="0"/>
                    <a:pt x="2882900" y="56896"/>
                    <a:pt x="2882900" y="127000"/>
                  </a:cubicBezTo>
                  <a:lnTo>
                    <a:pt x="2882900" y="1243838"/>
                  </a:lnTo>
                  <a:cubicBezTo>
                    <a:pt x="2882900" y="1313942"/>
                    <a:pt x="2826004" y="1370838"/>
                    <a:pt x="2755900" y="1370838"/>
                  </a:cubicBezTo>
                  <a:lnTo>
                    <a:pt x="127000" y="1370838"/>
                  </a:lnTo>
                  <a:cubicBezTo>
                    <a:pt x="56896" y="1370838"/>
                    <a:pt x="0" y="1313942"/>
                    <a:pt x="0" y="1243838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882900" cy="1370838"/>
            </a:xfrm>
            <a:custGeom>
              <a:avLst/>
              <a:gdLst/>
              <a:ahLst/>
              <a:cxnLst/>
              <a:rect r="r" b="b" t="t" l="l"/>
              <a:pathLst>
                <a:path h="1370838" w="2882900">
                  <a:moveTo>
                    <a:pt x="127000" y="0"/>
                  </a:moveTo>
                  <a:lnTo>
                    <a:pt x="2755900" y="0"/>
                  </a:lnTo>
                  <a:cubicBezTo>
                    <a:pt x="2826004" y="0"/>
                    <a:pt x="2882900" y="56896"/>
                    <a:pt x="2882900" y="127000"/>
                  </a:cubicBezTo>
                  <a:lnTo>
                    <a:pt x="2882900" y="1243838"/>
                  </a:lnTo>
                  <a:cubicBezTo>
                    <a:pt x="2882900" y="1313942"/>
                    <a:pt x="2826004" y="1370838"/>
                    <a:pt x="2755900" y="1370838"/>
                  </a:cubicBezTo>
                  <a:lnTo>
                    <a:pt x="127000" y="1370838"/>
                  </a:lnTo>
                  <a:cubicBezTo>
                    <a:pt x="56896" y="1370838"/>
                    <a:pt x="0" y="1313942"/>
                    <a:pt x="0" y="1243838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F2F2F"/>
              </a:solidFill>
              <a:prstDash val="solid"/>
              <a:miter/>
            </a:ln>
          </p:spPr>
        </p:sp>
      </p:grpSp>
      <p:sp>
        <p:nvSpPr>
          <p:cNvPr name="TextBox 16" id="16"/>
          <p:cNvSpPr txBox="true"/>
          <p:nvPr/>
        </p:nvSpPr>
        <p:spPr>
          <a:xfrm rot="0">
            <a:off x="5076825" y="2705386"/>
            <a:ext cx="1876425" cy="16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b="true" sz="2550">
                <a:solidFill>
                  <a:srgbClr val="8EC94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40+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076825" y="2916746"/>
            <a:ext cx="1876425" cy="48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8"/>
              </a:lnSpc>
            </a:pPr>
            <a:r>
              <a:rPr lang="en-US" sz="103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universities &amp; medical centers worldwide — Harvard, Yale-Griffin, King's College London.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210425" y="2486311"/>
            <a:ext cx="2162175" cy="1028128"/>
            <a:chOff x="0" y="0"/>
            <a:chExt cx="2882900" cy="137083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882900" cy="1370838"/>
            </a:xfrm>
            <a:custGeom>
              <a:avLst/>
              <a:gdLst/>
              <a:ahLst/>
              <a:cxnLst/>
              <a:rect r="r" b="b" t="t" l="l"/>
              <a:pathLst>
                <a:path h="1370838" w="2882900">
                  <a:moveTo>
                    <a:pt x="127000" y="0"/>
                  </a:moveTo>
                  <a:lnTo>
                    <a:pt x="2755900" y="0"/>
                  </a:lnTo>
                  <a:cubicBezTo>
                    <a:pt x="2826004" y="0"/>
                    <a:pt x="2882900" y="56896"/>
                    <a:pt x="2882900" y="127000"/>
                  </a:cubicBezTo>
                  <a:lnTo>
                    <a:pt x="2882900" y="1243838"/>
                  </a:lnTo>
                  <a:cubicBezTo>
                    <a:pt x="2882900" y="1313942"/>
                    <a:pt x="2826004" y="1370838"/>
                    <a:pt x="2755900" y="1370838"/>
                  </a:cubicBezTo>
                  <a:lnTo>
                    <a:pt x="127000" y="1370838"/>
                  </a:lnTo>
                  <a:cubicBezTo>
                    <a:pt x="56896" y="1370838"/>
                    <a:pt x="0" y="1313942"/>
                    <a:pt x="0" y="1243838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882900" cy="1370838"/>
            </a:xfrm>
            <a:custGeom>
              <a:avLst/>
              <a:gdLst/>
              <a:ahLst/>
              <a:cxnLst/>
              <a:rect r="r" b="b" t="t" l="l"/>
              <a:pathLst>
                <a:path h="1370838" w="2882900">
                  <a:moveTo>
                    <a:pt x="127000" y="0"/>
                  </a:moveTo>
                  <a:lnTo>
                    <a:pt x="2755900" y="0"/>
                  </a:lnTo>
                  <a:cubicBezTo>
                    <a:pt x="2826004" y="0"/>
                    <a:pt x="2882900" y="56896"/>
                    <a:pt x="2882900" y="127000"/>
                  </a:cubicBezTo>
                  <a:lnTo>
                    <a:pt x="2882900" y="1243838"/>
                  </a:lnTo>
                  <a:cubicBezTo>
                    <a:pt x="2882900" y="1313942"/>
                    <a:pt x="2826004" y="1370838"/>
                    <a:pt x="2755900" y="1370838"/>
                  </a:cubicBezTo>
                  <a:lnTo>
                    <a:pt x="127000" y="1370838"/>
                  </a:lnTo>
                  <a:cubicBezTo>
                    <a:pt x="56896" y="1370838"/>
                    <a:pt x="0" y="1313942"/>
                    <a:pt x="0" y="1243838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F2F2F"/>
              </a:solidFill>
              <a:prstDash val="solid"/>
              <a:miter/>
            </a:ln>
          </p:spPr>
        </p:sp>
      </p:grpSp>
      <p:sp>
        <p:nvSpPr>
          <p:cNvPr name="TextBox 21" id="21"/>
          <p:cNvSpPr txBox="true"/>
          <p:nvPr/>
        </p:nvSpPr>
        <p:spPr>
          <a:xfrm rot="0">
            <a:off x="7353300" y="2705386"/>
            <a:ext cx="1876425" cy="163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40"/>
              </a:lnSpc>
            </a:pPr>
            <a:r>
              <a:rPr lang="en-US" b="true" sz="2550">
                <a:solidFill>
                  <a:srgbClr val="C6A15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20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53300" y="2916746"/>
            <a:ext cx="1876425" cy="482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8"/>
              </a:lnSpc>
            </a:pPr>
            <a:r>
              <a:rPr lang="en-US" sz="1037">
                <a:solidFill>
                  <a:srgbClr val="FFFFFF"/>
                </a:solidFill>
                <a:latin typeface="Barlow"/>
                <a:ea typeface="Barlow"/>
                <a:cs typeface="Barlow"/>
                <a:sym typeface="Barlow"/>
              </a:rPr>
              <a:t>fruits, vegetables &amp; plant ingredients — bioavailable in kids &amp; adults.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81000" y="3695414"/>
            <a:ext cx="89916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spc="60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WHAT IT MEANS ON THE FIELD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381000" y="4066889"/>
            <a:ext cx="2920936" cy="1884140"/>
            <a:chOff x="0" y="0"/>
            <a:chExt cx="3894582" cy="251218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894582" cy="2512187"/>
            </a:xfrm>
            <a:custGeom>
              <a:avLst/>
              <a:gdLst/>
              <a:ahLst/>
              <a:cxnLst/>
              <a:rect r="r" b="b" t="t" l="l"/>
              <a:pathLst>
                <a:path h="2512187" w="3894582">
                  <a:moveTo>
                    <a:pt x="152400" y="0"/>
                  </a:moveTo>
                  <a:lnTo>
                    <a:pt x="3742182" y="0"/>
                  </a:lnTo>
                  <a:cubicBezTo>
                    <a:pt x="3826383" y="0"/>
                    <a:pt x="3894582" y="68199"/>
                    <a:pt x="3894582" y="152400"/>
                  </a:cubicBezTo>
                  <a:lnTo>
                    <a:pt x="3894582" y="2359787"/>
                  </a:lnTo>
                  <a:cubicBezTo>
                    <a:pt x="3894582" y="2443988"/>
                    <a:pt x="3826383" y="2512187"/>
                    <a:pt x="3742182" y="2512187"/>
                  </a:cubicBezTo>
                  <a:lnTo>
                    <a:pt x="152400" y="2512187"/>
                  </a:lnTo>
                  <a:cubicBezTo>
                    <a:pt x="68199" y="2512187"/>
                    <a:pt x="0" y="2443988"/>
                    <a:pt x="0" y="2359787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AF9F6"/>
            </a:solidFill>
          </p:spPr>
        </p:sp>
      </p:grpSp>
      <p:sp>
        <p:nvSpPr>
          <p:cNvPr name="AutoShape 26" id="26"/>
          <p:cNvSpPr/>
          <p:nvPr/>
        </p:nvSpPr>
        <p:spPr>
          <a:xfrm rot="0">
            <a:off x="381000" y="4066889"/>
            <a:ext cx="2920936" cy="38100"/>
          </a:xfrm>
          <a:prstGeom prst="rect">
            <a:avLst/>
          </a:prstGeom>
          <a:solidFill>
            <a:srgbClr val="5B9E2E"/>
          </a:solidFill>
        </p:spPr>
      </p:sp>
      <p:sp>
        <p:nvSpPr>
          <p:cNvPr name="TextBox 27" id="27"/>
          <p:cNvSpPr txBox="true"/>
          <p:nvPr/>
        </p:nvSpPr>
        <p:spPr>
          <a:xfrm rot="0">
            <a:off x="533400" y="4581239"/>
            <a:ext cx="261613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b="true" sz="1425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FASTER RECOVERY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3400" y="4866989"/>
            <a:ext cx="2616136" cy="73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975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A randomized, placebo-controlled trial found Juice Plus+ </a:t>
            </a:r>
            <a:r>
              <a:rPr lang="en-US" b="true" sz="975">
                <a:solidFill>
                  <a:srgbClr val="43403A"/>
                </a:solidFill>
                <a:latin typeface="Barlow Bold"/>
                <a:ea typeface="Barlow Bold"/>
                <a:cs typeface="Barlow Bold"/>
                <a:sym typeface="Barlow Bold"/>
              </a:rPr>
              <a:t>reduces markers of oxidative stress after exercise</a:t>
            </a:r>
            <a:r>
              <a:rPr lang="en-US" sz="975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 — with lower oxidation confirmed in trained men &amp; women.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33400" y="5646229"/>
            <a:ext cx="2616136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sz="787" i="true">
                <a:solidFill>
                  <a:srgbClr val="8A867C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Medicine &amp; Science in Sports &amp; Exercise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3416236" y="4066889"/>
            <a:ext cx="2921032" cy="1884140"/>
            <a:chOff x="0" y="0"/>
            <a:chExt cx="3894709" cy="251218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3894709" cy="2512187"/>
            </a:xfrm>
            <a:custGeom>
              <a:avLst/>
              <a:gdLst/>
              <a:ahLst/>
              <a:cxnLst/>
              <a:rect r="r" b="b" t="t" l="l"/>
              <a:pathLst>
                <a:path h="2512187" w="3894709">
                  <a:moveTo>
                    <a:pt x="152400" y="0"/>
                  </a:moveTo>
                  <a:lnTo>
                    <a:pt x="3742309" y="0"/>
                  </a:lnTo>
                  <a:cubicBezTo>
                    <a:pt x="3826510" y="0"/>
                    <a:pt x="3894709" y="68199"/>
                    <a:pt x="3894709" y="152400"/>
                  </a:cubicBezTo>
                  <a:lnTo>
                    <a:pt x="3894709" y="2359787"/>
                  </a:lnTo>
                  <a:cubicBezTo>
                    <a:pt x="3894709" y="2443988"/>
                    <a:pt x="3826510" y="2512187"/>
                    <a:pt x="3742309" y="2512187"/>
                  </a:cubicBezTo>
                  <a:lnTo>
                    <a:pt x="152400" y="2512187"/>
                  </a:lnTo>
                  <a:cubicBezTo>
                    <a:pt x="68199" y="2512187"/>
                    <a:pt x="0" y="2443988"/>
                    <a:pt x="0" y="2359787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AF9F6"/>
            </a:solidFill>
          </p:spPr>
        </p:sp>
      </p:grpSp>
      <p:sp>
        <p:nvSpPr>
          <p:cNvPr name="AutoShape 32" id="32"/>
          <p:cNvSpPr/>
          <p:nvPr/>
        </p:nvSpPr>
        <p:spPr>
          <a:xfrm rot="0">
            <a:off x="3416236" y="4066889"/>
            <a:ext cx="2921032" cy="38100"/>
          </a:xfrm>
          <a:prstGeom prst="rect">
            <a:avLst/>
          </a:prstGeom>
          <a:solidFill>
            <a:srgbClr val="C6A15B"/>
          </a:solidFill>
        </p:spPr>
      </p:sp>
      <p:sp>
        <p:nvSpPr>
          <p:cNvPr name="TextBox 33" id="33"/>
          <p:cNvSpPr txBox="true"/>
          <p:nvPr/>
        </p:nvSpPr>
        <p:spPr>
          <a:xfrm rot="0">
            <a:off x="3568636" y="4581239"/>
            <a:ext cx="261623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b="true" sz="1425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FEWER SICK DAYS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568636" y="4866989"/>
            <a:ext cx="2616232" cy="73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975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Across four studies — including one in </a:t>
            </a:r>
            <a:r>
              <a:rPr lang="en-US" b="true" sz="975">
                <a:solidFill>
                  <a:srgbClr val="43403A"/>
                </a:solidFill>
                <a:latin typeface="Barlow Bold"/>
                <a:ea typeface="Barlow Bold"/>
                <a:cs typeface="Barlow Bold"/>
                <a:sym typeface="Barlow Bold"/>
              </a:rPr>
              <a:t>athletic men</a:t>
            </a:r>
            <a:r>
              <a:rPr lang="en-US" sz="975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 — Juice Plus+ supported immune function and upper-respiratory health. More time training, less on the sidelines.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568636" y="5646229"/>
            <a:ext cx="261623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sz="787" i="true">
                <a:solidFill>
                  <a:srgbClr val="8A867C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Four peer-reviewed immunity studies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451568" y="4066889"/>
            <a:ext cx="2920936" cy="1884140"/>
            <a:chOff x="0" y="0"/>
            <a:chExt cx="3894582" cy="251218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3894582" cy="2512187"/>
            </a:xfrm>
            <a:custGeom>
              <a:avLst/>
              <a:gdLst/>
              <a:ahLst/>
              <a:cxnLst/>
              <a:rect r="r" b="b" t="t" l="l"/>
              <a:pathLst>
                <a:path h="2512187" w="3894582">
                  <a:moveTo>
                    <a:pt x="152400" y="0"/>
                  </a:moveTo>
                  <a:lnTo>
                    <a:pt x="3742182" y="0"/>
                  </a:lnTo>
                  <a:cubicBezTo>
                    <a:pt x="3826383" y="0"/>
                    <a:pt x="3894582" y="68199"/>
                    <a:pt x="3894582" y="152400"/>
                  </a:cubicBezTo>
                  <a:lnTo>
                    <a:pt x="3894582" y="2359787"/>
                  </a:lnTo>
                  <a:cubicBezTo>
                    <a:pt x="3894582" y="2443988"/>
                    <a:pt x="3826383" y="2512187"/>
                    <a:pt x="3742182" y="2512187"/>
                  </a:cubicBezTo>
                  <a:lnTo>
                    <a:pt x="152400" y="2512187"/>
                  </a:lnTo>
                  <a:cubicBezTo>
                    <a:pt x="68199" y="2512187"/>
                    <a:pt x="0" y="2443988"/>
                    <a:pt x="0" y="2359787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AF9F6"/>
            </a:solidFill>
          </p:spPr>
        </p:sp>
      </p:grpSp>
      <p:sp>
        <p:nvSpPr>
          <p:cNvPr name="AutoShape 38" id="38"/>
          <p:cNvSpPr/>
          <p:nvPr/>
        </p:nvSpPr>
        <p:spPr>
          <a:xfrm rot="0">
            <a:off x="6451568" y="4066889"/>
            <a:ext cx="2920936" cy="38100"/>
          </a:xfrm>
          <a:prstGeom prst="rect">
            <a:avLst/>
          </a:prstGeom>
          <a:solidFill>
            <a:srgbClr val="5B9E2E"/>
          </a:solidFill>
        </p:spPr>
      </p:sp>
      <p:sp>
        <p:nvSpPr>
          <p:cNvPr name="TextBox 39" id="39"/>
          <p:cNvSpPr txBox="true"/>
          <p:nvPr/>
        </p:nvSpPr>
        <p:spPr>
          <a:xfrm rot="0">
            <a:off x="6603968" y="4581239"/>
            <a:ext cx="261613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b="true" sz="1425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SHARPER FOCUS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6603968" y="4866989"/>
            <a:ext cx="2616136" cy="731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975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A randomized, double-blind study in young adults found improvements in </a:t>
            </a:r>
            <a:r>
              <a:rPr lang="en-US" b="true" sz="975">
                <a:solidFill>
                  <a:srgbClr val="43403A"/>
                </a:solidFill>
                <a:latin typeface="Barlow Bold"/>
                <a:ea typeface="Barlow Bold"/>
                <a:cs typeface="Barlow Bold"/>
                <a:sym typeface="Barlow Bold"/>
              </a:rPr>
              <a:t>working memory, attention, processing speed &amp; executive function</a:t>
            </a:r>
            <a:r>
              <a:rPr lang="en-US" sz="975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 — on the pitch and in the classroom.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6603968" y="5646229"/>
            <a:ext cx="2616136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sz="787" i="true">
                <a:solidFill>
                  <a:srgbClr val="8A867C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Randomized double-blind clinical study</a:t>
            </a:r>
          </a:p>
        </p:txBody>
      </p:sp>
      <p:grpSp>
        <p:nvGrpSpPr>
          <p:cNvPr name="Group 42" id="42"/>
          <p:cNvGrpSpPr/>
          <p:nvPr/>
        </p:nvGrpSpPr>
        <p:grpSpPr>
          <a:xfrm rot="0">
            <a:off x="381000" y="6065330"/>
            <a:ext cx="2920936" cy="1708404"/>
            <a:chOff x="0" y="0"/>
            <a:chExt cx="3894582" cy="2277872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3894582" cy="2277872"/>
            </a:xfrm>
            <a:custGeom>
              <a:avLst/>
              <a:gdLst/>
              <a:ahLst/>
              <a:cxnLst/>
              <a:rect r="r" b="b" t="t" l="l"/>
              <a:pathLst>
                <a:path h="2277872" w="3894582">
                  <a:moveTo>
                    <a:pt x="152400" y="0"/>
                  </a:moveTo>
                  <a:lnTo>
                    <a:pt x="3742182" y="0"/>
                  </a:lnTo>
                  <a:cubicBezTo>
                    <a:pt x="3826383" y="0"/>
                    <a:pt x="3894582" y="68199"/>
                    <a:pt x="3894582" y="152400"/>
                  </a:cubicBezTo>
                  <a:lnTo>
                    <a:pt x="3894582" y="2125472"/>
                  </a:lnTo>
                  <a:cubicBezTo>
                    <a:pt x="3894582" y="2209673"/>
                    <a:pt x="3826383" y="2277872"/>
                    <a:pt x="3742182" y="2277872"/>
                  </a:cubicBezTo>
                  <a:lnTo>
                    <a:pt x="152400" y="2277872"/>
                  </a:lnTo>
                  <a:cubicBezTo>
                    <a:pt x="68199" y="2277872"/>
                    <a:pt x="0" y="2209673"/>
                    <a:pt x="0" y="2125472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AF9F6"/>
            </a:solidFill>
          </p:spPr>
        </p:sp>
      </p:grpSp>
      <p:sp>
        <p:nvSpPr>
          <p:cNvPr name="AutoShape 44" id="44"/>
          <p:cNvSpPr/>
          <p:nvPr/>
        </p:nvSpPr>
        <p:spPr>
          <a:xfrm rot="0">
            <a:off x="381000" y="6065330"/>
            <a:ext cx="2920936" cy="38100"/>
          </a:xfrm>
          <a:prstGeom prst="rect">
            <a:avLst/>
          </a:prstGeom>
          <a:solidFill>
            <a:srgbClr val="C6A15B"/>
          </a:solidFill>
        </p:spPr>
      </p:sp>
      <p:sp>
        <p:nvSpPr>
          <p:cNvPr name="TextBox 45" id="45"/>
          <p:cNvSpPr txBox="true"/>
          <p:nvPr/>
        </p:nvSpPr>
        <p:spPr>
          <a:xfrm rot="0">
            <a:off x="533400" y="6579679"/>
            <a:ext cx="261613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b="true" sz="1425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STRONGER BODIES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33400" y="6865429"/>
            <a:ext cx="2616136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975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Shown to </a:t>
            </a:r>
            <a:r>
              <a:rPr lang="en-US" b="true" sz="975">
                <a:solidFill>
                  <a:srgbClr val="43403A"/>
                </a:solidFill>
                <a:latin typeface="Barlow Bold"/>
                <a:ea typeface="Barlow Bold"/>
                <a:cs typeface="Barlow Bold"/>
                <a:sym typeface="Barlow Bold"/>
              </a:rPr>
              <a:t>increase lean body mass</a:t>
            </a:r>
            <a:r>
              <a:rPr lang="en-US" sz="975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 and support healthy body composition — the engine behind speed, power and durability.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533400" y="7468933"/>
            <a:ext cx="2616136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sz="787" i="true">
                <a:solidFill>
                  <a:srgbClr val="8A867C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Journal of the American College of Nutrition</a:t>
            </a:r>
          </a:p>
        </p:txBody>
      </p:sp>
      <p:grpSp>
        <p:nvGrpSpPr>
          <p:cNvPr name="Group 48" id="48"/>
          <p:cNvGrpSpPr/>
          <p:nvPr/>
        </p:nvGrpSpPr>
        <p:grpSpPr>
          <a:xfrm rot="0">
            <a:off x="3416236" y="6065330"/>
            <a:ext cx="2921032" cy="1708404"/>
            <a:chOff x="0" y="0"/>
            <a:chExt cx="3894709" cy="227787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3894709" cy="2277872"/>
            </a:xfrm>
            <a:custGeom>
              <a:avLst/>
              <a:gdLst/>
              <a:ahLst/>
              <a:cxnLst/>
              <a:rect r="r" b="b" t="t" l="l"/>
              <a:pathLst>
                <a:path h="2277872" w="3894709">
                  <a:moveTo>
                    <a:pt x="152400" y="0"/>
                  </a:moveTo>
                  <a:lnTo>
                    <a:pt x="3742309" y="0"/>
                  </a:lnTo>
                  <a:cubicBezTo>
                    <a:pt x="3826510" y="0"/>
                    <a:pt x="3894709" y="68199"/>
                    <a:pt x="3894709" y="152400"/>
                  </a:cubicBezTo>
                  <a:lnTo>
                    <a:pt x="3894709" y="2125472"/>
                  </a:lnTo>
                  <a:cubicBezTo>
                    <a:pt x="3894709" y="2209673"/>
                    <a:pt x="3826510" y="2277872"/>
                    <a:pt x="3742309" y="2277872"/>
                  </a:cubicBezTo>
                  <a:lnTo>
                    <a:pt x="152400" y="2277872"/>
                  </a:lnTo>
                  <a:cubicBezTo>
                    <a:pt x="68199" y="2277872"/>
                    <a:pt x="0" y="2209673"/>
                    <a:pt x="0" y="2125472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AF9F6"/>
            </a:solidFill>
          </p:spPr>
        </p:sp>
      </p:grpSp>
      <p:sp>
        <p:nvSpPr>
          <p:cNvPr name="AutoShape 50" id="50"/>
          <p:cNvSpPr/>
          <p:nvPr/>
        </p:nvSpPr>
        <p:spPr>
          <a:xfrm rot="0">
            <a:off x="3416236" y="6065330"/>
            <a:ext cx="2921032" cy="38100"/>
          </a:xfrm>
          <a:prstGeom prst="rect">
            <a:avLst/>
          </a:prstGeom>
          <a:solidFill>
            <a:srgbClr val="5B9E2E"/>
          </a:solidFill>
        </p:spPr>
      </p:sp>
      <p:sp>
        <p:nvSpPr>
          <p:cNvPr name="TextBox 51" id="51"/>
          <p:cNvSpPr txBox="true"/>
          <p:nvPr/>
        </p:nvSpPr>
        <p:spPr>
          <a:xfrm rot="0">
            <a:off x="3568636" y="6579679"/>
            <a:ext cx="2616232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b="true" sz="1425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BETTER ENGINE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3568636" y="6865429"/>
            <a:ext cx="2616232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975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Within 2–3 months, research shows </a:t>
            </a:r>
            <a:r>
              <a:rPr lang="en-US" b="true" sz="975">
                <a:solidFill>
                  <a:srgbClr val="43403A"/>
                </a:solidFill>
                <a:latin typeface="Barlow Bold"/>
                <a:ea typeface="Barlow Bold"/>
                <a:cs typeface="Barlow Bold"/>
                <a:sym typeface="Barlow Bold"/>
              </a:rPr>
              <a:t>better blood flow &amp; oxygen delivery</a:t>
            </a:r>
            <a:r>
              <a:rPr lang="en-US" sz="975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 plus rising antioxidant levels — fuel for hard-training lungs and legs.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3568636" y="7468933"/>
            <a:ext cx="2616232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sz="787" i="true">
                <a:solidFill>
                  <a:srgbClr val="8A867C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Juice Plus+ clinical research timeline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6451568" y="6065330"/>
            <a:ext cx="2920936" cy="1708404"/>
            <a:chOff x="0" y="0"/>
            <a:chExt cx="3894582" cy="227787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3894582" cy="2277872"/>
            </a:xfrm>
            <a:custGeom>
              <a:avLst/>
              <a:gdLst/>
              <a:ahLst/>
              <a:cxnLst/>
              <a:rect r="r" b="b" t="t" l="l"/>
              <a:pathLst>
                <a:path h="2277872" w="3894582">
                  <a:moveTo>
                    <a:pt x="152400" y="0"/>
                  </a:moveTo>
                  <a:lnTo>
                    <a:pt x="3742182" y="0"/>
                  </a:lnTo>
                  <a:cubicBezTo>
                    <a:pt x="3826383" y="0"/>
                    <a:pt x="3894582" y="68199"/>
                    <a:pt x="3894582" y="152400"/>
                  </a:cubicBezTo>
                  <a:lnTo>
                    <a:pt x="3894582" y="2125472"/>
                  </a:lnTo>
                  <a:cubicBezTo>
                    <a:pt x="3894582" y="2209673"/>
                    <a:pt x="3826383" y="2277872"/>
                    <a:pt x="3742182" y="2277872"/>
                  </a:cubicBezTo>
                  <a:lnTo>
                    <a:pt x="152400" y="2277872"/>
                  </a:lnTo>
                  <a:cubicBezTo>
                    <a:pt x="68199" y="2277872"/>
                    <a:pt x="0" y="2209673"/>
                    <a:pt x="0" y="2125472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AF9F6"/>
            </a:solidFill>
          </p:spPr>
        </p:sp>
      </p:grpSp>
      <p:sp>
        <p:nvSpPr>
          <p:cNvPr name="AutoShape 56" id="56"/>
          <p:cNvSpPr/>
          <p:nvPr/>
        </p:nvSpPr>
        <p:spPr>
          <a:xfrm rot="0">
            <a:off x="6451568" y="6065330"/>
            <a:ext cx="2920936" cy="38100"/>
          </a:xfrm>
          <a:prstGeom prst="rect">
            <a:avLst/>
          </a:prstGeom>
          <a:solidFill>
            <a:srgbClr val="C6A15B"/>
          </a:solidFill>
        </p:spPr>
      </p:sp>
      <p:sp>
        <p:nvSpPr>
          <p:cNvPr name="TextBox 57" id="57"/>
          <p:cNvSpPr txBox="true"/>
          <p:nvPr/>
        </p:nvSpPr>
        <p:spPr>
          <a:xfrm rot="0">
            <a:off x="6603968" y="6579679"/>
            <a:ext cx="2616136" cy="247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b="true" sz="1425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BUILT TO LAST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6603968" y="6865429"/>
            <a:ext cx="2616136" cy="555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84"/>
              </a:lnSpc>
            </a:pPr>
            <a:r>
              <a:rPr lang="en-US" sz="975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Supports </a:t>
            </a:r>
            <a:r>
              <a:rPr lang="en-US" b="true" sz="975">
                <a:solidFill>
                  <a:srgbClr val="43403A"/>
                </a:solidFill>
                <a:latin typeface="Barlow Bold"/>
                <a:ea typeface="Barlow Bold"/>
                <a:cs typeface="Barlow Bold"/>
                <a:sym typeface="Barlow Bold"/>
              </a:rPr>
              <a:t>healthy cardiovascular function, DNA protection &amp; the Omega-3 Index</a:t>
            </a:r>
            <a:r>
              <a:rPr lang="en-US" sz="975">
                <a:solidFill>
                  <a:srgbClr val="43403A"/>
                </a:solidFill>
                <a:latin typeface="Barlow"/>
                <a:ea typeface="Barlow"/>
                <a:cs typeface="Barlow"/>
                <a:sym typeface="Barlow"/>
              </a:rPr>
              <a:t> — the long-game habits that protect young athletes for life.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603968" y="7468933"/>
            <a:ext cx="2616136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02"/>
              </a:lnSpc>
            </a:pPr>
            <a:r>
              <a:rPr lang="en-US" sz="787" i="true">
                <a:solidFill>
                  <a:srgbClr val="8A867C"/>
                </a:solidFill>
                <a:latin typeface="Barlow Italics"/>
                <a:ea typeface="Barlow Italics"/>
                <a:cs typeface="Barlow Italics"/>
                <a:sym typeface="Barlow Italics"/>
              </a:rPr>
              <a:t>Multiple peer-reviewed trials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81000" y="7954709"/>
            <a:ext cx="89916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b="true" sz="1500" spc="60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WHEN YOU'LL FEEL IT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81000" y="8211884"/>
            <a:ext cx="5017056" cy="1901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2"/>
              </a:lnSpc>
            </a:pPr>
            <a:r>
              <a:rPr lang="en-US" sz="1137">
                <a:solidFill>
                  <a:srgbClr val="9A968D"/>
                </a:solidFill>
                <a:latin typeface="Barlow"/>
                <a:ea typeface="Barlow"/>
                <a:cs typeface="Barlow"/>
                <a:sym typeface="Barlow"/>
              </a:rPr>
              <a:t>Clinical research on Juice Plus+ Fruit, Vegetable, Berry &amp; Omega Blend Capsules.</a:t>
            </a:r>
          </a:p>
        </p:txBody>
      </p:sp>
      <p:grpSp>
        <p:nvGrpSpPr>
          <p:cNvPr name="Group 62" id="62"/>
          <p:cNvGrpSpPr/>
          <p:nvPr/>
        </p:nvGrpSpPr>
        <p:grpSpPr>
          <a:xfrm rot="0">
            <a:off x="381000" y="8516684"/>
            <a:ext cx="1722120" cy="3237166"/>
            <a:chOff x="0" y="0"/>
            <a:chExt cx="2296160" cy="4316222"/>
          </a:xfrm>
        </p:grpSpPr>
        <p:sp>
          <p:nvSpPr>
            <p:cNvPr name="Freeform 63" id="63"/>
            <p:cNvSpPr/>
            <p:nvPr/>
          </p:nvSpPr>
          <p:spPr>
            <a:xfrm flipH="false" flipV="false" rot="0">
              <a:off x="0" y="0"/>
              <a:ext cx="2296160" cy="4316222"/>
            </a:xfrm>
            <a:custGeom>
              <a:avLst/>
              <a:gdLst/>
              <a:ahLst/>
              <a:cxnLst/>
              <a:rect r="r" b="b" t="t" l="l"/>
              <a:pathLst>
                <a:path h="4316222" w="2296160">
                  <a:moveTo>
                    <a:pt x="127000" y="0"/>
                  </a:moveTo>
                  <a:lnTo>
                    <a:pt x="2169160" y="0"/>
                  </a:lnTo>
                  <a:cubicBezTo>
                    <a:pt x="2239264" y="0"/>
                    <a:pt x="2296160" y="56896"/>
                    <a:pt x="2296160" y="127000"/>
                  </a:cubicBezTo>
                  <a:lnTo>
                    <a:pt x="2296160" y="4189222"/>
                  </a:lnTo>
                  <a:cubicBezTo>
                    <a:pt x="2296160" y="4259326"/>
                    <a:pt x="2239264" y="4316222"/>
                    <a:pt x="2169160" y="4316222"/>
                  </a:cubicBezTo>
                  <a:lnTo>
                    <a:pt x="127000" y="4316222"/>
                  </a:lnTo>
                  <a:cubicBezTo>
                    <a:pt x="56896" y="4316222"/>
                    <a:pt x="0" y="4259326"/>
                    <a:pt x="0" y="4189222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2296160" cy="4316222"/>
            </a:xfrm>
            <a:custGeom>
              <a:avLst/>
              <a:gdLst/>
              <a:ahLst/>
              <a:cxnLst/>
              <a:rect r="r" b="b" t="t" l="l"/>
              <a:pathLst>
                <a:path h="4316222" w="2296160">
                  <a:moveTo>
                    <a:pt x="127000" y="0"/>
                  </a:moveTo>
                  <a:lnTo>
                    <a:pt x="2169160" y="0"/>
                  </a:lnTo>
                  <a:cubicBezTo>
                    <a:pt x="2239264" y="0"/>
                    <a:pt x="2296160" y="56896"/>
                    <a:pt x="2296160" y="127000"/>
                  </a:cubicBezTo>
                  <a:lnTo>
                    <a:pt x="2296160" y="4189222"/>
                  </a:lnTo>
                  <a:cubicBezTo>
                    <a:pt x="2296160" y="4259326"/>
                    <a:pt x="2239264" y="4316222"/>
                    <a:pt x="2169160" y="4316222"/>
                  </a:cubicBezTo>
                  <a:lnTo>
                    <a:pt x="127000" y="4316222"/>
                  </a:lnTo>
                  <a:cubicBezTo>
                    <a:pt x="56896" y="4316222"/>
                    <a:pt x="0" y="4259326"/>
                    <a:pt x="0" y="4189222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F2F2F"/>
              </a:solidFill>
              <a:prstDash val="solid"/>
              <a:miter/>
            </a:ln>
          </p:spPr>
        </p:sp>
      </p:grpSp>
      <p:sp>
        <p:nvSpPr>
          <p:cNvPr name="TextBox 65" id="65"/>
          <p:cNvSpPr txBox="true"/>
          <p:nvPr/>
        </p:nvSpPr>
        <p:spPr>
          <a:xfrm rot="0">
            <a:off x="504825" y="9002458"/>
            <a:ext cx="941546" cy="31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b="true" sz="2474">
                <a:solidFill>
                  <a:srgbClr val="8EC94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1–10 HRS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523875" y="9551955"/>
            <a:ext cx="113466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 spc="44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FIRST ACTIVITY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542925" y="9885331"/>
            <a:ext cx="1474470" cy="1378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B4B0A8"/>
                </a:solidFill>
                <a:latin typeface="Barlow"/>
                <a:ea typeface="Barlow"/>
                <a:cs typeface="Barlow"/>
                <a:sym typeface="Barlow"/>
              </a:rPr>
              <a:t>Wellness-giving polyphenols enter the bloodstream, ready to work.</a:t>
            </a:r>
          </a:p>
        </p:txBody>
      </p:sp>
      <p:grpSp>
        <p:nvGrpSpPr>
          <p:cNvPr name="Group 68" id="68"/>
          <p:cNvGrpSpPr/>
          <p:nvPr/>
        </p:nvGrpSpPr>
        <p:grpSpPr>
          <a:xfrm rot="0">
            <a:off x="2198370" y="8516684"/>
            <a:ext cx="1722120" cy="3237166"/>
            <a:chOff x="0" y="0"/>
            <a:chExt cx="2296160" cy="4316222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0" y="0"/>
              <a:ext cx="2296160" cy="4316222"/>
            </a:xfrm>
            <a:custGeom>
              <a:avLst/>
              <a:gdLst/>
              <a:ahLst/>
              <a:cxnLst/>
              <a:rect r="r" b="b" t="t" l="l"/>
              <a:pathLst>
                <a:path h="4316222" w="2296160">
                  <a:moveTo>
                    <a:pt x="127000" y="0"/>
                  </a:moveTo>
                  <a:lnTo>
                    <a:pt x="2169160" y="0"/>
                  </a:lnTo>
                  <a:cubicBezTo>
                    <a:pt x="2239264" y="0"/>
                    <a:pt x="2296160" y="56896"/>
                    <a:pt x="2296160" y="127000"/>
                  </a:cubicBezTo>
                  <a:lnTo>
                    <a:pt x="2296160" y="4189222"/>
                  </a:lnTo>
                  <a:cubicBezTo>
                    <a:pt x="2296160" y="4259326"/>
                    <a:pt x="2239264" y="4316222"/>
                    <a:pt x="2169160" y="4316222"/>
                  </a:cubicBezTo>
                  <a:lnTo>
                    <a:pt x="127000" y="4316222"/>
                  </a:lnTo>
                  <a:cubicBezTo>
                    <a:pt x="56896" y="4316222"/>
                    <a:pt x="0" y="4259326"/>
                    <a:pt x="0" y="4189222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2296160" cy="4316222"/>
            </a:xfrm>
            <a:custGeom>
              <a:avLst/>
              <a:gdLst/>
              <a:ahLst/>
              <a:cxnLst/>
              <a:rect r="r" b="b" t="t" l="l"/>
              <a:pathLst>
                <a:path h="4316222" w="2296160">
                  <a:moveTo>
                    <a:pt x="127000" y="0"/>
                  </a:moveTo>
                  <a:lnTo>
                    <a:pt x="2169160" y="0"/>
                  </a:lnTo>
                  <a:cubicBezTo>
                    <a:pt x="2239264" y="0"/>
                    <a:pt x="2296160" y="56896"/>
                    <a:pt x="2296160" y="127000"/>
                  </a:cubicBezTo>
                  <a:lnTo>
                    <a:pt x="2296160" y="4189222"/>
                  </a:lnTo>
                  <a:cubicBezTo>
                    <a:pt x="2296160" y="4259326"/>
                    <a:pt x="2239264" y="4316222"/>
                    <a:pt x="2169160" y="4316222"/>
                  </a:cubicBezTo>
                  <a:lnTo>
                    <a:pt x="127000" y="4316222"/>
                  </a:lnTo>
                  <a:cubicBezTo>
                    <a:pt x="56896" y="4316222"/>
                    <a:pt x="0" y="4259326"/>
                    <a:pt x="0" y="4189222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F2F2F"/>
              </a:solidFill>
              <a:prstDash val="solid"/>
              <a:miter/>
            </a:ln>
          </p:spPr>
        </p:sp>
      </p:grpSp>
      <p:sp>
        <p:nvSpPr>
          <p:cNvPr name="TextBox 71" id="71"/>
          <p:cNvSpPr txBox="true"/>
          <p:nvPr/>
        </p:nvSpPr>
        <p:spPr>
          <a:xfrm rot="0">
            <a:off x="2322195" y="9002458"/>
            <a:ext cx="934045" cy="31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b="true" sz="2474">
                <a:solidFill>
                  <a:srgbClr val="8EC94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1–4 WKS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341245" y="9551955"/>
            <a:ext cx="126623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 spc="44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BETTER BALANCE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2322100" y="9885331"/>
            <a:ext cx="1474470" cy="165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B4B0A8"/>
                </a:solidFill>
                <a:latin typeface="Barlow"/>
                <a:ea typeface="Barlow"/>
                <a:cs typeface="Barlow"/>
                <a:sym typeface="Barlow"/>
              </a:rPr>
              <a:t>Key nutrients rise; antioxidant power helps clear free radicals made during exercise.</a:t>
            </a:r>
          </a:p>
        </p:txBody>
      </p:sp>
      <p:grpSp>
        <p:nvGrpSpPr>
          <p:cNvPr name="Group 74" id="74"/>
          <p:cNvGrpSpPr/>
          <p:nvPr/>
        </p:nvGrpSpPr>
        <p:grpSpPr>
          <a:xfrm rot="0">
            <a:off x="4015645" y="8516684"/>
            <a:ext cx="1722120" cy="3237166"/>
            <a:chOff x="0" y="0"/>
            <a:chExt cx="2296160" cy="4316222"/>
          </a:xfrm>
        </p:grpSpPr>
        <p:sp>
          <p:nvSpPr>
            <p:cNvPr name="Freeform 75" id="75"/>
            <p:cNvSpPr/>
            <p:nvPr/>
          </p:nvSpPr>
          <p:spPr>
            <a:xfrm flipH="false" flipV="false" rot="0">
              <a:off x="0" y="0"/>
              <a:ext cx="2296160" cy="4316222"/>
            </a:xfrm>
            <a:custGeom>
              <a:avLst/>
              <a:gdLst/>
              <a:ahLst/>
              <a:cxnLst/>
              <a:rect r="r" b="b" t="t" l="l"/>
              <a:pathLst>
                <a:path h="4316222" w="2296160">
                  <a:moveTo>
                    <a:pt x="127000" y="0"/>
                  </a:moveTo>
                  <a:lnTo>
                    <a:pt x="2169160" y="0"/>
                  </a:lnTo>
                  <a:cubicBezTo>
                    <a:pt x="2239264" y="0"/>
                    <a:pt x="2296160" y="56896"/>
                    <a:pt x="2296160" y="127000"/>
                  </a:cubicBezTo>
                  <a:lnTo>
                    <a:pt x="2296160" y="4189222"/>
                  </a:lnTo>
                  <a:cubicBezTo>
                    <a:pt x="2296160" y="4259326"/>
                    <a:pt x="2239264" y="4316222"/>
                    <a:pt x="2169160" y="4316222"/>
                  </a:cubicBezTo>
                  <a:lnTo>
                    <a:pt x="127000" y="4316222"/>
                  </a:lnTo>
                  <a:cubicBezTo>
                    <a:pt x="56896" y="4316222"/>
                    <a:pt x="0" y="4259326"/>
                    <a:pt x="0" y="4189222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0" y="0"/>
              <a:ext cx="2296160" cy="4316222"/>
            </a:xfrm>
            <a:custGeom>
              <a:avLst/>
              <a:gdLst/>
              <a:ahLst/>
              <a:cxnLst/>
              <a:rect r="r" b="b" t="t" l="l"/>
              <a:pathLst>
                <a:path h="4316222" w="2296160">
                  <a:moveTo>
                    <a:pt x="127000" y="0"/>
                  </a:moveTo>
                  <a:lnTo>
                    <a:pt x="2169160" y="0"/>
                  </a:lnTo>
                  <a:cubicBezTo>
                    <a:pt x="2239264" y="0"/>
                    <a:pt x="2296160" y="56896"/>
                    <a:pt x="2296160" y="127000"/>
                  </a:cubicBezTo>
                  <a:lnTo>
                    <a:pt x="2296160" y="4189222"/>
                  </a:lnTo>
                  <a:cubicBezTo>
                    <a:pt x="2296160" y="4259326"/>
                    <a:pt x="2239264" y="4316222"/>
                    <a:pt x="2169160" y="4316222"/>
                  </a:cubicBezTo>
                  <a:lnTo>
                    <a:pt x="127000" y="4316222"/>
                  </a:lnTo>
                  <a:cubicBezTo>
                    <a:pt x="56896" y="4316222"/>
                    <a:pt x="0" y="4259326"/>
                    <a:pt x="0" y="4189222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F2F2F"/>
              </a:solidFill>
              <a:prstDash val="solid"/>
              <a:miter/>
            </a:ln>
          </p:spPr>
        </p:sp>
      </p:grpSp>
      <p:sp>
        <p:nvSpPr>
          <p:cNvPr name="TextBox 77" id="77"/>
          <p:cNvSpPr txBox="true"/>
          <p:nvPr/>
        </p:nvSpPr>
        <p:spPr>
          <a:xfrm rot="0">
            <a:off x="4139470" y="9002458"/>
            <a:ext cx="917377" cy="31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b="true" sz="2474">
                <a:solidFill>
                  <a:srgbClr val="C6A15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2–3 MOS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4158520" y="9551955"/>
            <a:ext cx="1476256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 spc="44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NATURAL STRENGTH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4139470" y="9885331"/>
            <a:ext cx="1474470" cy="165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B4B0A8"/>
                </a:solidFill>
                <a:latin typeface="Barlow"/>
                <a:ea typeface="Barlow"/>
                <a:cs typeface="Barlow"/>
                <a:sym typeface="Barlow"/>
              </a:rPr>
              <a:t>Better blood flow &amp; oxygen delivery, healthy immune response, more lean body mass.</a:t>
            </a:r>
          </a:p>
        </p:txBody>
      </p:sp>
      <p:grpSp>
        <p:nvGrpSpPr>
          <p:cNvPr name="Group 80" id="80"/>
          <p:cNvGrpSpPr/>
          <p:nvPr/>
        </p:nvGrpSpPr>
        <p:grpSpPr>
          <a:xfrm rot="0">
            <a:off x="5833015" y="8516684"/>
            <a:ext cx="1722120" cy="3237166"/>
            <a:chOff x="0" y="0"/>
            <a:chExt cx="2296160" cy="4316222"/>
          </a:xfrm>
        </p:grpSpPr>
        <p:sp>
          <p:nvSpPr>
            <p:cNvPr name="Freeform 81" id="81"/>
            <p:cNvSpPr/>
            <p:nvPr/>
          </p:nvSpPr>
          <p:spPr>
            <a:xfrm flipH="false" flipV="false" rot="0">
              <a:off x="0" y="0"/>
              <a:ext cx="2296160" cy="4316222"/>
            </a:xfrm>
            <a:custGeom>
              <a:avLst/>
              <a:gdLst/>
              <a:ahLst/>
              <a:cxnLst/>
              <a:rect r="r" b="b" t="t" l="l"/>
              <a:pathLst>
                <a:path h="4316222" w="2296160">
                  <a:moveTo>
                    <a:pt x="127000" y="0"/>
                  </a:moveTo>
                  <a:lnTo>
                    <a:pt x="2169160" y="0"/>
                  </a:lnTo>
                  <a:cubicBezTo>
                    <a:pt x="2239264" y="0"/>
                    <a:pt x="2296160" y="56896"/>
                    <a:pt x="2296160" y="127000"/>
                  </a:cubicBezTo>
                  <a:lnTo>
                    <a:pt x="2296160" y="4189222"/>
                  </a:lnTo>
                  <a:cubicBezTo>
                    <a:pt x="2296160" y="4259326"/>
                    <a:pt x="2239264" y="4316222"/>
                    <a:pt x="2169160" y="4316222"/>
                  </a:cubicBezTo>
                  <a:lnTo>
                    <a:pt x="127000" y="4316222"/>
                  </a:lnTo>
                  <a:cubicBezTo>
                    <a:pt x="56896" y="4316222"/>
                    <a:pt x="0" y="4259326"/>
                    <a:pt x="0" y="4189222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0" y="0"/>
              <a:ext cx="2296160" cy="4316222"/>
            </a:xfrm>
            <a:custGeom>
              <a:avLst/>
              <a:gdLst/>
              <a:ahLst/>
              <a:cxnLst/>
              <a:rect r="r" b="b" t="t" l="l"/>
              <a:pathLst>
                <a:path h="4316222" w="2296160">
                  <a:moveTo>
                    <a:pt x="127000" y="0"/>
                  </a:moveTo>
                  <a:lnTo>
                    <a:pt x="2169160" y="0"/>
                  </a:lnTo>
                  <a:cubicBezTo>
                    <a:pt x="2239264" y="0"/>
                    <a:pt x="2296160" y="56896"/>
                    <a:pt x="2296160" y="127000"/>
                  </a:cubicBezTo>
                  <a:lnTo>
                    <a:pt x="2296160" y="4189222"/>
                  </a:lnTo>
                  <a:cubicBezTo>
                    <a:pt x="2296160" y="4259326"/>
                    <a:pt x="2239264" y="4316222"/>
                    <a:pt x="2169160" y="4316222"/>
                  </a:cubicBezTo>
                  <a:lnTo>
                    <a:pt x="127000" y="4316222"/>
                  </a:lnTo>
                  <a:cubicBezTo>
                    <a:pt x="56896" y="4316222"/>
                    <a:pt x="0" y="4259326"/>
                    <a:pt x="0" y="4189222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F2F2F"/>
              </a:solidFill>
              <a:prstDash val="solid"/>
              <a:miter/>
            </a:ln>
          </p:spPr>
        </p:sp>
      </p:grpSp>
      <p:sp>
        <p:nvSpPr>
          <p:cNvPr name="TextBox 83" id="83"/>
          <p:cNvSpPr txBox="true"/>
          <p:nvPr/>
        </p:nvSpPr>
        <p:spPr>
          <a:xfrm rot="0">
            <a:off x="5956840" y="9002458"/>
            <a:ext cx="931783" cy="31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b="true" sz="2474">
                <a:solidFill>
                  <a:srgbClr val="C6A15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3–4 MOS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5975890" y="9551955"/>
            <a:ext cx="1025128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 spc="44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FEELING GOOD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5975890" y="9885331"/>
            <a:ext cx="1474470" cy="165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B4B0A8"/>
                </a:solidFill>
                <a:latin typeface="Barlow"/>
                <a:ea typeface="Barlow"/>
                <a:cs typeface="Barlow"/>
                <a:sym typeface="Barlow"/>
              </a:rPr>
              <a:t>Sharper focus &amp; memory, less temporary inflammation, gut &amp; Omega-3 support.</a:t>
            </a:r>
          </a:p>
        </p:txBody>
      </p:sp>
      <p:grpSp>
        <p:nvGrpSpPr>
          <p:cNvPr name="Group 86" id="86"/>
          <p:cNvGrpSpPr/>
          <p:nvPr/>
        </p:nvGrpSpPr>
        <p:grpSpPr>
          <a:xfrm rot="0">
            <a:off x="7650385" y="8516684"/>
            <a:ext cx="1722215" cy="3237166"/>
            <a:chOff x="0" y="0"/>
            <a:chExt cx="2296287" cy="4316222"/>
          </a:xfrm>
        </p:grpSpPr>
        <p:sp>
          <p:nvSpPr>
            <p:cNvPr name="Freeform 87" id="87"/>
            <p:cNvSpPr/>
            <p:nvPr/>
          </p:nvSpPr>
          <p:spPr>
            <a:xfrm flipH="false" flipV="false" rot="0">
              <a:off x="0" y="0"/>
              <a:ext cx="2296287" cy="4316222"/>
            </a:xfrm>
            <a:custGeom>
              <a:avLst/>
              <a:gdLst/>
              <a:ahLst/>
              <a:cxnLst/>
              <a:rect r="r" b="b" t="t" l="l"/>
              <a:pathLst>
                <a:path h="4316222" w="2296287">
                  <a:moveTo>
                    <a:pt x="127000" y="0"/>
                  </a:moveTo>
                  <a:lnTo>
                    <a:pt x="2169287" y="0"/>
                  </a:lnTo>
                  <a:cubicBezTo>
                    <a:pt x="2239391" y="0"/>
                    <a:pt x="2296287" y="56896"/>
                    <a:pt x="2296287" y="127000"/>
                  </a:cubicBezTo>
                  <a:lnTo>
                    <a:pt x="2296287" y="4189222"/>
                  </a:lnTo>
                  <a:cubicBezTo>
                    <a:pt x="2296287" y="4259326"/>
                    <a:pt x="2239391" y="4316222"/>
                    <a:pt x="2169287" y="4316222"/>
                  </a:cubicBezTo>
                  <a:lnTo>
                    <a:pt x="127000" y="4316222"/>
                  </a:lnTo>
                  <a:cubicBezTo>
                    <a:pt x="56896" y="4316222"/>
                    <a:pt x="0" y="4259326"/>
                    <a:pt x="0" y="4189222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1E1E1E"/>
            </a:solidFill>
          </p:spPr>
        </p:sp>
        <p:sp>
          <p:nvSpPr>
            <p:cNvPr name="Freeform 88" id="88"/>
            <p:cNvSpPr/>
            <p:nvPr/>
          </p:nvSpPr>
          <p:spPr>
            <a:xfrm flipH="false" flipV="false" rot="0">
              <a:off x="0" y="0"/>
              <a:ext cx="2296287" cy="4316222"/>
            </a:xfrm>
            <a:custGeom>
              <a:avLst/>
              <a:gdLst/>
              <a:ahLst/>
              <a:cxnLst/>
              <a:rect r="r" b="b" t="t" l="l"/>
              <a:pathLst>
                <a:path h="4316222" w="2296287">
                  <a:moveTo>
                    <a:pt x="127000" y="0"/>
                  </a:moveTo>
                  <a:lnTo>
                    <a:pt x="2169287" y="0"/>
                  </a:lnTo>
                  <a:cubicBezTo>
                    <a:pt x="2239391" y="0"/>
                    <a:pt x="2296287" y="56896"/>
                    <a:pt x="2296287" y="127000"/>
                  </a:cubicBezTo>
                  <a:lnTo>
                    <a:pt x="2296287" y="4189222"/>
                  </a:lnTo>
                  <a:cubicBezTo>
                    <a:pt x="2296287" y="4259326"/>
                    <a:pt x="2239391" y="4316222"/>
                    <a:pt x="2169287" y="4316222"/>
                  </a:cubicBezTo>
                  <a:lnTo>
                    <a:pt x="127000" y="4316222"/>
                  </a:lnTo>
                  <a:cubicBezTo>
                    <a:pt x="56896" y="4316222"/>
                    <a:pt x="0" y="4259326"/>
                    <a:pt x="0" y="4189222"/>
                  </a:cubicBezTo>
                  <a:lnTo>
                    <a:pt x="0" y="127000"/>
                  </a:lnTo>
                  <a:cubicBezTo>
                    <a:pt x="0" y="56896"/>
                    <a:pt x="56896" y="0"/>
                    <a:pt x="1270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2F2F2F"/>
              </a:solidFill>
              <a:prstDash val="solid"/>
              <a:miter/>
            </a:ln>
          </p:spPr>
        </p:sp>
      </p:grpSp>
      <p:sp>
        <p:nvSpPr>
          <p:cNvPr name="TextBox 89" id="89"/>
          <p:cNvSpPr txBox="true"/>
          <p:nvPr/>
        </p:nvSpPr>
        <p:spPr>
          <a:xfrm rot="0">
            <a:off x="7774210" y="9002458"/>
            <a:ext cx="799148" cy="313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27"/>
              </a:lnSpc>
            </a:pPr>
            <a:r>
              <a:rPr lang="en-US" b="true" sz="2474">
                <a:solidFill>
                  <a:srgbClr val="8EC94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6+ MOS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7793260" y="9551955"/>
            <a:ext cx="816054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99"/>
              </a:lnSpc>
            </a:pPr>
            <a:r>
              <a:rPr lang="en-US" b="true" sz="1499" spc="44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LONG GAME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7745540" y="9885331"/>
            <a:ext cx="1474565" cy="16548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599">
                <a:solidFill>
                  <a:srgbClr val="B4B0A8"/>
                </a:solidFill>
                <a:latin typeface="Barlow"/>
                <a:ea typeface="Barlow"/>
                <a:cs typeface="Barlow"/>
                <a:sym typeface="Barlow"/>
              </a:rPr>
              <a:t>Healthy immune &amp; oxidative response, reduced body fat, healthy blood pressure.</a:t>
            </a:r>
          </a:p>
        </p:txBody>
      </p:sp>
      <p:sp>
        <p:nvSpPr>
          <p:cNvPr name="AutoShape 92" id="92"/>
          <p:cNvSpPr/>
          <p:nvPr/>
        </p:nvSpPr>
        <p:spPr>
          <a:xfrm rot="0">
            <a:off x="0" y="11830050"/>
            <a:ext cx="9753600" cy="790575"/>
          </a:xfrm>
          <a:prstGeom prst="rect">
            <a:avLst/>
          </a:prstGeom>
          <a:solidFill>
            <a:srgbClr val="0D0D0D"/>
          </a:solidFill>
        </p:spPr>
      </p:sp>
      <p:sp>
        <p:nvSpPr>
          <p:cNvPr name="AutoShape 93" id="93"/>
          <p:cNvSpPr/>
          <p:nvPr/>
        </p:nvSpPr>
        <p:spPr>
          <a:xfrm rot="0">
            <a:off x="0" y="11830050"/>
            <a:ext cx="9753600" cy="9525"/>
          </a:xfrm>
          <a:prstGeom prst="rect">
            <a:avLst/>
          </a:prstGeom>
          <a:solidFill>
            <a:srgbClr val="2A2A2A"/>
          </a:solidFill>
        </p:spPr>
      </p:sp>
      <p:sp>
        <p:nvSpPr>
          <p:cNvPr name="TextBox 94" id="94"/>
          <p:cNvSpPr txBox="true"/>
          <p:nvPr/>
        </p:nvSpPr>
        <p:spPr>
          <a:xfrm rot="0">
            <a:off x="381000" y="12058650"/>
            <a:ext cx="5153859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Get healthy. </a:t>
            </a:r>
            <a:r>
              <a:rPr lang="en-US" b="true" sz="1650">
                <a:solidFill>
                  <a:srgbClr val="8EC94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Give back.</a:t>
            </a:r>
            <a:r>
              <a:rPr lang="en-US" b="true" sz="1650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</a:t>
            </a:r>
            <a:r>
              <a:rPr lang="en-US" b="true" sz="1650">
                <a:solidFill>
                  <a:srgbClr val="C6A15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Grow Bend FC.</a:t>
            </a:r>
            <a:r>
              <a:rPr lang="en-US" b="true" sz="1650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  →  bendfc.juiceplus.com  →</a:t>
            </a:r>
          </a:p>
        </p:txBody>
      </p:sp>
      <p:sp>
        <p:nvSpPr>
          <p:cNvPr name="Freeform 95" id="95"/>
          <p:cNvSpPr/>
          <p:nvPr/>
        </p:nvSpPr>
        <p:spPr>
          <a:xfrm flipH="false" flipV="false" rot="0">
            <a:off x="533400" y="4257389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6" id="96"/>
          <p:cNvSpPr/>
          <p:nvPr/>
        </p:nvSpPr>
        <p:spPr>
          <a:xfrm flipH="false" flipV="false" rot="0">
            <a:off x="3568636" y="4257389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7" id="97"/>
          <p:cNvSpPr/>
          <p:nvPr/>
        </p:nvSpPr>
        <p:spPr>
          <a:xfrm flipH="false" flipV="false" rot="0">
            <a:off x="6603968" y="4257389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8" id="98"/>
          <p:cNvSpPr/>
          <p:nvPr/>
        </p:nvSpPr>
        <p:spPr>
          <a:xfrm flipH="false" flipV="false" rot="0">
            <a:off x="533400" y="6255830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9" id="99"/>
          <p:cNvSpPr/>
          <p:nvPr/>
        </p:nvSpPr>
        <p:spPr>
          <a:xfrm flipH="false" flipV="false" rot="0">
            <a:off x="3568636" y="6255830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0" id="100"/>
          <p:cNvSpPr/>
          <p:nvPr/>
        </p:nvSpPr>
        <p:spPr>
          <a:xfrm flipH="false" flipV="false" rot="0">
            <a:off x="6603968" y="6255830"/>
            <a:ext cx="247650" cy="247650"/>
          </a:xfrm>
          <a:custGeom>
            <a:avLst/>
            <a:gdLst/>
            <a:ahLst/>
            <a:cxnLst/>
            <a:rect r="r" b="b" t="t" l="l"/>
            <a:pathLst>
              <a:path h="247650" w="247650">
                <a:moveTo>
                  <a:pt x="0" y="0"/>
                </a:moveTo>
                <a:lnTo>
                  <a:pt x="247650" y="0"/>
                </a:lnTo>
                <a:lnTo>
                  <a:pt x="247650" y="247650"/>
                </a:lnTo>
                <a:lnTo>
                  <a:pt x="0" y="24765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1" id="101"/>
          <p:cNvSpPr/>
          <p:nvPr/>
        </p:nvSpPr>
        <p:spPr>
          <a:xfrm rot="0">
            <a:off x="0" y="2267236"/>
            <a:ext cx="9753600" cy="47625"/>
          </a:xfrm>
          <a:prstGeom prst="rect">
            <a:avLst/>
          </a:prstGeom>
          <a:solidFill>
            <a:srgbClr val="C6A15B"/>
          </a:solidFill>
        </p:spPr>
      </p:sp>
      <p:sp>
        <p:nvSpPr>
          <p:cNvPr name="TextBox 102" id="102"/>
          <p:cNvSpPr txBox="true"/>
          <p:nvPr/>
        </p:nvSpPr>
        <p:spPr>
          <a:xfrm rot="0">
            <a:off x="381000" y="304800"/>
            <a:ext cx="8991600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b="true" sz="1125" spc="202">
                <a:solidFill>
                  <a:srgbClr val="8EC94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THE SCIENCE — MADE FOR ATHLETES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381000" y="657225"/>
            <a:ext cx="8991600" cy="806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8"/>
              </a:lnSpc>
            </a:pPr>
            <a:r>
              <a:rPr lang="en-US" b="true" sz="3900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WHOLE-FOOD FUEL,</a:t>
            </a:r>
          </a:p>
          <a:p>
            <a:pPr algn="l">
              <a:lnSpc>
                <a:spcPts val="3588"/>
              </a:lnSpc>
            </a:pPr>
            <a:r>
              <a:rPr lang="en-US" b="true" sz="3900">
                <a:solidFill>
                  <a:srgbClr val="C6A15B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PROVEN IN THE LAB.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381000" y="1568387"/>
            <a:ext cx="7810500" cy="470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9"/>
              </a:lnSpc>
            </a:pPr>
            <a:r>
              <a:rPr lang="en-US" sz="1200">
                <a:solidFill>
                  <a:srgbClr val="C9C6BD"/>
                </a:solidFill>
                <a:latin typeface="Barlow"/>
                <a:ea typeface="Barlow"/>
                <a:cs typeface="Barlow"/>
                <a:sym typeface="Barlow"/>
              </a:rPr>
              <a:t>Juice Plus+ Essentials Capsules are among </a:t>
            </a:r>
            <a:r>
              <a:rPr lang="en-US" b="true" sz="1200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the most thoroughly researched nutritional products of their kind</a:t>
            </a:r>
            <a:r>
              <a:rPr lang="en-US" sz="1200">
                <a:solidFill>
                  <a:srgbClr val="C9C6BD"/>
                </a:solidFill>
                <a:latin typeface="Barlow"/>
                <a:ea typeface="Barlow"/>
                <a:cs typeface="Barlow"/>
                <a:sym typeface="Barlow"/>
              </a:rPr>
              <a:t> — studied on the finished product itself, in randomized, double-blind, placebo-controlled human trials.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9414605" y="12401550"/>
            <a:ext cx="205645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825">
                <a:solidFill>
                  <a:srgbClr val="807C73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3 / 4</a:t>
            </a:r>
          </a:p>
        </p:txBody>
      </p:sp>
      <p:pic>
        <p:nvPicPr>
          <p:cNvPr name="Picture 106" id="106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587408" y="11855905"/>
            <a:ext cx="738864" cy="7388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0"/>
            <a:ext cx="9753600" cy="12620625"/>
          </a:xfrm>
          <a:prstGeom prst="rect">
            <a:avLst/>
          </a:prstGeom>
          <a:solidFill>
            <a:srgbClr val="F4F3EE"/>
          </a:solidFill>
        </p:spPr>
      </p:sp>
      <p:sp>
        <p:nvSpPr>
          <p:cNvPr name="AutoShape 3" id="3"/>
          <p:cNvSpPr/>
          <p:nvPr/>
        </p:nvSpPr>
        <p:spPr>
          <a:xfrm rot="0">
            <a:off x="0" y="0"/>
            <a:ext cx="9753600" cy="2152650"/>
          </a:xfrm>
          <a:prstGeom prst="rect">
            <a:avLst/>
          </a:prstGeom>
          <a:solidFill>
            <a:srgbClr val="5E889A"/>
          </a:solidFill>
        </p:spPr>
      </p:sp>
      <p:sp>
        <p:nvSpPr>
          <p:cNvPr name="AutoShape 4" id="4"/>
          <p:cNvSpPr/>
          <p:nvPr/>
        </p:nvSpPr>
        <p:spPr>
          <a:xfrm rot="0">
            <a:off x="0" y="2105025"/>
            <a:ext cx="9753600" cy="47625"/>
          </a:xfrm>
          <a:prstGeom prst="rect">
            <a:avLst/>
          </a:prstGeom>
          <a:solidFill>
            <a:srgbClr val="C6A15B"/>
          </a:solidFill>
        </p:spPr>
      </p:sp>
      <p:sp>
        <p:nvSpPr>
          <p:cNvPr name="AutoShape 5" id="5"/>
          <p:cNvSpPr/>
          <p:nvPr/>
        </p:nvSpPr>
        <p:spPr>
          <a:xfrm rot="0">
            <a:off x="0" y="2152650"/>
            <a:ext cx="4676775" cy="9429750"/>
          </a:xfrm>
          <a:prstGeom prst="rect">
            <a:avLst/>
          </a:prstGeom>
          <a:solidFill>
            <a:srgbClr val="FFFFFF"/>
          </a:solidFill>
        </p:spPr>
      </p:sp>
      <p:sp>
        <p:nvSpPr>
          <p:cNvPr name="AutoShape 6" id="6"/>
          <p:cNvSpPr/>
          <p:nvPr/>
        </p:nvSpPr>
        <p:spPr>
          <a:xfrm rot="0">
            <a:off x="4667250" y="2152650"/>
            <a:ext cx="9525" cy="9429750"/>
          </a:xfrm>
          <a:prstGeom prst="rect">
            <a:avLst/>
          </a:prstGeom>
          <a:solidFill>
            <a:srgbClr val="E6E2D8"/>
          </a:solidFill>
        </p:spPr>
      </p:sp>
      <p:grpSp>
        <p:nvGrpSpPr>
          <p:cNvPr name="Group 7" id="7"/>
          <p:cNvGrpSpPr/>
          <p:nvPr/>
        </p:nvGrpSpPr>
        <p:grpSpPr>
          <a:xfrm rot="0">
            <a:off x="285750" y="2800350"/>
            <a:ext cx="323850" cy="323850"/>
            <a:chOff x="0" y="0"/>
            <a:chExt cx="431800" cy="431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335153" y="0"/>
                    <a:pt x="431800" y="96647"/>
                    <a:pt x="431800" y="215900"/>
                  </a:cubicBezTo>
                  <a:cubicBezTo>
                    <a:pt x="431800" y="335153"/>
                    <a:pt x="335153" y="431800"/>
                    <a:pt x="215900" y="431800"/>
                  </a:cubicBezTo>
                  <a:cubicBezTo>
                    <a:pt x="96647" y="431800"/>
                    <a:pt x="0" y="335153"/>
                    <a:pt x="0" y="215900"/>
                  </a:cubicBezTo>
                  <a:cubicBezTo>
                    <a:pt x="0" y="96647"/>
                    <a:pt x="96647" y="0"/>
                    <a:pt x="215900" y="0"/>
                  </a:cubicBezTo>
                  <a:close/>
                </a:path>
              </a:pathLst>
            </a:custGeom>
            <a:solidFill>
              <a:srgbClr val="2F5E22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431800" cy="460375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1889"/>
                </a:lnSpc>
              </a:pPr>
              <a:r>
                <a:rPr lang="en-US" b="true" sz="1350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85750" y="3465004"/>
            <a:ext cx="323850" cy="323850"/>
            <a:chOff x="0" y="0"/>
            <a:chExt cx="431800" cy="4318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335153" y="0"/>
                    <a:pt x="431800" y="96647"/>
                    <a:pt x="431800" y="215900"/>
                  </a:cubicBezTo>
                  <a:cubicBezTo>
                    <a:pt x="431800" y="335153"/>
                    <a:pt x="335153" y="431800"/>
                    <a:pt x="215900" y="431800"/>
                  </a:cubicBezTo>
                  <a:cubicBezTo>
                    <a:pt x="96647" y="431800"/>
                    <a:pt x="0" y="335153"/>
                    <a:pt x="0" y="215900"/>
                  </a:cubicBezTo>
                  <a:cubicBezTo>
                    <a:pt x="0" y="96647"/>
                    <a:pt x="96647" y="0"/>
                    <a:pt x="215900" y="0"/>
                  </a:cubicBezTo>
                  <a:close/>
                </a:path>
              </a:pathLst>
            </a:custGeom>
            <a:solidFill>
              <a:srgbClr val="2F5E2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431800" cy="460375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1889"/>
                </a:lnSpc>
              </a:pPr>
              <a:r>
                <a:rPr lang="en-US" b="true" sz="1350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5750" y="4309586"/>
            <a:ext cx="323850" cy="323850"/>
            <a:chOff x="0" y="0"/>
            <a:chExt cx="431800" cy="431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31800" cy="431800"/>
            </a:xfrm>
            <a:custGeom>
              <a:avLst/>
              <a:gdLst/>
              <a:ahLst/>
              <a:cxnLst/>
              <a:rect r="r" b="b" t="t" l="l"/>
              <a:pathLst>
                <a:path h="431800" w="431800">
                  <a:moveTo>
                    <a:pt x="215900" y="0"/>
                  </a:moveTo>
                  <a:cubicBezTo>
                    <a:pt x="335153" y="0"/>
                    <a:pt x="431800" y="96647"/>
                    <a:pt x="431800" y="215900"/>
                  </a:cubicBezTo>
                  <a:cubicBezTo>
                    <a:pt x="431800" y="335153"/>
                    <a:pt x="335153" y="431800"/>
                    <a:pt x="215900" y="431800"/>
                  </a:cubicBezTo>
                  <a:cubicBezTo>
                    <a:pt x="96647" y="431800"/>
                    <a:pt x="0" y="335153"/>
                    <a:pt x="0" y="215900"/>
                  </a:cubicBezTo>
                  <a:cubicBezTo>
                    <a:pt x="0" y="96647"/>
                    <a:pt x="96647" y="0"/>
                    <a:pt x="215900" y="0"/>
                  </a:cubicBezTo>
                  <a:close/>
                </a:path>
              </a:pathLst>
            </a:custGeom>
            <a:solidFill>
              <a:srgbClr val="2F5E22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431800" cy="460375"/>
            </a:xfrm>
            <a:prstGeom prst="rect">
              <a:avLst/>
            </a:prstGeom>
          </p:spPr>
          <p:txBody>
            <a:bodyPr anchor="ctr" rtlCol="false" tIns="76200" lIns="76200" bIns="76200" rIns="76200"/>
            <a:lstStyle/>
            <a:p>
              <a:pPr algn="l">
                <a:lnSpc>
                  <a:spcPts val="1889"/>
                </a:lnSpc>
              </a:pPr>
              <a:r>
                <a:rPr lang="en-US" b="true" sz="1350">
                  <a:solidFill>
                    <a:srgbClr val="FFFFFF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285750" y="5640038"/>
            <a:ext cx="615220" cy="266700"/>
            <a:chOff x="0" y="0"/>
            <a:chExt cx="820293" cy="3556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20293" cy="355600"/>
            </a:xfrm>
            <a:custGeom>
              <a:avLst/>
              <a:gdLst/>
              <a:ahLst/>
              <a:cxnLst/>
              <a:rect r="r" b="b" t="t" l="l"/>
              <a:pathLst>
                <a:path h="355600" w="820293">
                  <a:moveTo>
                    <a:pt x="177800" y="0"/>
                  </a:moveTo>
                  <a:lnTo>
                    <a:pt x="642493" y="0"/>
                  </a:lnTo>
                  <a:cubicBezTo>
                    <a:pt x="740664" y="0"/>
                    <a:pt x="820293" y="79629"/>
                    <a:pt x="820293" y="177800"/>
                  </a:cubicBezTo>
                  <a:cubicBezTo>
                    <a:pt x="820293" y="275971"/>
                    <a:pt x="740664" y="355600"/>
                    <a:pt x="642493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ubicBezTo>
                    <a:pt x="0" y="79629"/>
                    <a:pt x="79629" y="0"/>
                    <a:pt x="177800" y="0"/>
                  </a:cubicBezTo>
                  <a:close/>
                </a:path>
              </a:pathLst>
            </a:custGeom>
            <a:solidFill>
              <a:srgbClr val="EEF4E7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20293" cy="355600"/>
            </a:xfrm>
            <a:custGeom>
              <a:avLst/>
              <a:gdLst/>
              <a:ahLst/>
              <a:cxnLst/>
              <a:rect r="r" b="b" t="t" l="l"/>
              <a:pathLst>
                <a:path h="355600" w="820293">
                  <a:moveTo>
                    <a:pt x="177800" y="0"/>
                  </a:moveTo>
                  <a:lnTo>
                    <a:pt x="642493" y="0"/>
                  </a:lnTo>
                  <a:cubicBezTo>
                    <a:pt x="740664" y="0"/>
                    <a:pt x="820293" y="79629"/>
                    <a:pt x="820293" y="177800"/>
                  </a:cubicBezTo>
                  <a:cubicBezTo>
                    <a:pt x="820293" y="275971"/>
                    <a:pt x="740664" y="355600"/>
                    <a:pt x="642493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ubicBezTo>
                    <a:pt x="0" y="79629"/>
                    <a:pt x="79629" y="0"/>
                    <a:pt x="177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DBE6CF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820293" cy="384175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l">
                <a:lnSpc>
                  <a:spcPts val="1364"/>
                </a:lnSpc>
              </a:pPr>
              <a:r>
                <a:rPr lang="en-US" b="true" sz="975">
                  <a:solidFill>
                    <a:srgbClr val="2F5E22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Parents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77170" y="5640038"/>
            <a:ext cx="876110" cy="266700"/>
            <a:chOff x="0" y="0"/>
            <a:chExt cx="1168146" cy="3556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168146" cy="355600"/>
            </a:xfrm>
            <a:custGeom>
              <a:avLst/>
              <a:gdLst/>
              <a:ahLst/>
              <a:cxnLst/>
              <a:rect r="r" b="b" t="t" l="l"/>
              <a:pathLst>
                <a:path h="355600" w="1168146">
                  <a:moveTo>
                    <a:pt x="177800" y="0"/>
                  </a:moveTo>
                  <a:lnTo>
                    <a:pt x="990346" y="0"/>
                  </a:lnTo>
                  <a:cubicBezTo>
                    <a:pt x="1088517" y="0"/>
                    <a:pt x="1168146" y="79629"/>
                    <a:pt x="1168146" y="177800"/>
                  </a:cubicBezTo>
                  <a:cubicBezTo>
                    <a:pt x="1168146" y="275971"/>
                    <a:pt x="1088517" y="355600"/>
                    <a:pt x="990346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ubicBezTo>
                    <a:pt x="0" y="79629"/>
                    <a:pt x="79629" y="0"/>
                    <a:pt x="177800" y="0"/>
                  </a:cubicBezTo>
                  <a:close/>
                </a:path>
              </a:pathLst>
            </a:custGeom>
            <a:solidFill>
              <a:srgbClr val="EEF4E7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168146" cy="355600"/>
            </a:xfrm>
            <a:custGeom>
              <a:avLst/>
              <a:gdLst/>
              <a:ahLst/>
              <a:cxnLst/>
              <a:rect r="r" b="b" t="t" l="l"/>
              <a:pathLst>
                <a:path h="355600" w="1168146">
                  <a:moveTo>
                    <a:pt x="177800" y="0"/>
                  </a:moveTo>
                  <a:lnTo>
                    <a:pt x="990346" y="0"/>
                  </a:lnTo>
                  <a:cubicBezTo>
                    <a:pt x="1088517" y="0"/>
                    <a:pt x="1168146" y="79629"/>
                    <a:pt x="1168146" y="177800"/>
                  </a:cubicBezTo>
                  <a:cubicBezTo>
                    <a:pt x="1168146" y="275971"/>
                    <a:pt x="1088517" y="355600"/>
                    <a:pt x="990346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ubicBezTo>
                    <a:pt x="0" y="79629"/>
                    <a:pt x="79629" y="0"/>
                    <a:pt x="177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DBE6CF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1168146" cy="384175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l">
                <a:lnSpc>
                  <a:spcPts val="1364"/>
                </a:lnSpc>
              </a:pPr>
              <a:r>
                <a:rPr lang="en-US" b="true" sz="975">
                  <a:solidFill>
                    <a:srgbClr val="2F5E22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Grandparents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929574" y="5640038"/>
            <a:ext cx="945832" cy="266700"/>
            <a:chOff x="0" y="0"/>
            <a:chExt cx="1261110" cy="3556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261110" cy="355600"/>
            </a:xfrm>
            <a:custGeom>
              <a:avLst/>
              <a:gdLst/>
              <a:ahLst/>
              <a:cxnLst/>
              <a:rect r="r" b="b" t="t" l="l"/>
              <a:pathLst>
                <a:path h="355600" w="1261110">
                  <a:moveTo>
                    <a:pt x="177800" y="0"/>
                  </a:moveTo>
                  <a:lnTo>
                    <a:pt x="1083310" y="0"/>
                  </a:lnTo>
                  <a:cubicBezTo>
                    <a:pt x="1181481" y="0"/>
                    <a:pt x="1261110" y="79629"/>
                    <a:pt x="1261110" y="177800"/>
                  </a:cubicBezTo>
                  <a:cubicBezTo>
                    <a:pt x="1261110" y="275971"/>
                    <a:pt x="1181481" y="355600"/>
                    <a:pt x="1083310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ubicBezTo>
                    <a:pt x="0" y="79629"/>
                    <a:pt x="79629" y="0"/>
                    <a:pt x="177800" y="0"/>
                  </a:cubicBezTo>
                  <a:close/>
                </a:path>
              </a:pathLst>
            </a:custGeom>
            <a:solidFill>
              <a:srgbClr val="EEF4E7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261110" cy="355600"/>
            </a:xfrm>
            <a:custGeom>
              <a:avLst/>
              <a:gdLst/>
              <a:ahLst/>
              <a:cxnLst/>
              <a:rect r="r" b="b" t="t" l="l"/>
              <a:pathLst>
                <a:path h="355600" w="1261110">
                  <a:moveTo>
                    <a:pt x="177800" y="0"/>
                  </a:moveTo>
                  <a:lnTo>
                    <a:pt x="1083310" y="0"/>
                  </a:lnTo>
                  <a:cubicBezTo>
                    <a:pt x="1181481" y="0"/>
                    <a:pt x="1261110" y="79629"/>
                    <a:pt x="1261110" y="177800"/>
                  </a:cubicBezTo>
                  <a:cubicBezTo>
                    <a:pt x="1261110" y="275971"/>
                    <a:pt x="1181481" y="355600"/>
                    <a:pt x="1083310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ubicBezTo>
                    <a:pt x="0" y="79629"/>
                    <a:pt x="79629" y="0"/>
                    <a:pt x="177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DBE6CF"/>
              </a:solidFill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261110" cy="384175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l">
                <a:lnSpc>
                  <a:spcPts val="1364"/>
                </a:lnSpc>
              </a:pPr>
              <a:r>
                <a:rPr lang="en-US" b="true" sz="975">
                  <a:solidFill>
                    <a:srgbClr val="2F5E22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Aunts &amp; Uncles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2951607" y="5640038"/>
            <a:ext cx="751904" cy="266700"/>
            <a:chOff x="0" y="0"/>
            <a:chExt cx="1002538" cy="3556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02538" cy="355600"/>
            </a:xfrm>
            <a:custGeom>
              <a:avLst/>
              <a:gdLst/>
              <a:ahLst/>
              <a:cxnLst/>
              <a:rect r="r" b="b" t="t" l="l"/>
              <a:pathLst>
                <a:path h="355600" w="1002538">
                  <a:moveTo>
                    <a:pt x="177800" y="0"/>
                  </a:moveTo>
                  <a:lnTo>
                    <a:pt x="824738" y="0"/>
                  </a:lnTo>
                  <a:cubicBezTo>
                    <a:pt x="922909" y="0"/>
                    <a:pt x="1002538" y="79629"/>
                    <a:pt x="1002538" y="177800"/>
                  </a:cubicBezTo>
                  <a:cubicBezTo>
                    <a:pt x="1002538" y="275971"/>
                    <a:pt x="922909" y="355600"/>
                    <a:pt x="824738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ubicBezTo>
                    <a:pt x="0" y="79629"/>
                    <a:pt x="79629" y="0"/>
                    <a:pt x="177800" y="0"/>
                  </a:cubicBezTo>
                  <a:close/>
                </a:path>
              </a:pathLst>
            </a:custGeom>
            <a:solidFill>
              <a:srgbClr val="EEF4E7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2538" cy="355600"/>
            </a:xfrm>
            <a:custGeom>
              <a:avLst/>
              <a:gdLst/>
              <a:ahLst/>
              <a:cxnLst/>
              <a:rect r="r" b="b" t="t" l="l"/>
              <a:pathLst>
                <a:path h="355600" w="1002538">
                  <a:moveTo>
                    <a:pt x="177800" y="0"/>
                  </a:moveTo>
                  <a:lnTo>
                    <a:pt x="824738" y="0"/>
                  </a:lnTo>
                  <a:cubicBezTo>
                    <a:pt x="922909" y="0"/>
                    <a:pt x="1002538" y="79629"/>
                    <a:pt x="1002538" y="177800"/>
                  </a:cubicBezTo>
                  <a:cubicBezTo>
                    <a:pt x="1002538" y="275971"/>
                    <a:pt x="922909" y="355600"/>
                    <a:pt x="824738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ubicBezTo>
                    <a:pt x="0" y="79629"/>
                    <a:pt x="79629" y="0"/>
                    <a:pt x="177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DBE6CF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002538" cy="384175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l">
                <a:lnSpc>
                  <a:spcPts val="1364"/>
                </a:lnSpc>
              </a:pPr>
              <a:r>
                <a:rPr lang="en-US" b="true" sz="975">
                  <a:solidFill>
                    <a:srgbClr val="2F5E22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Caregivers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285750" y="5982938"/>
            <a:ext cx="903827" cy="266700"/>
            <a:chOff x="0" y="0"/>
            <a:chExt cx="1205103" cy="3556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205103" cy="355600"/>
            </a:xfrm>
            <a:custGeom>
              <a:avLst/>
              <a:gdLst/>
              <a:ahLst/>
              <a:cxnLst/>
              <a:rect r="r" b="b" t="t" l="l"/>
              <a:pathLst>
                <a:path h="355600" w="1205103">
                  <a:moveTo>
                    <a:pt x="177800" y="0"/>
                  </a:moveTo>
                  <a:lnTo>
                    <a:pt x="1027303" y="0"/>
                  </a:lnTo>
                  <a:cubicBezTo>
                    <a:pt x="1125474" y="0"/>
                    <a:pt x="1205103" y="79629"/>
                    <a:pt x="1205103" y="177800"/>
                  </a:cubicBezTo>
                  <a:cubicBezTo>
                    <a:pt x="1205103" y="275971"/>
                    <a:pt x="1125474" y="355600"/>
                    <a:pt x="1027303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ubicBezTo>
                    <a:pt x="0" y="79629"/>
                    <a:pt x="79629" y="0"/>
                    <a:pt x="177800" y="0"/>
                  </a:cubicBezTo>
                  <a:close/>
                </a:path>
              </a:pathLst>
            </a:custGeom>
            <a:solidFill>
              <a:srgbClr val="EEF4E7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205103" cy="355600"/>
            </a:xfrm>
            <a:custGeom>
              <a:avLst/>
              <a:gdLst/>
              <a:ahLst/>
              <a:cxnLst/>
              <a:rect r="r" b="b" t="t" l="l"/>
              <a:pathLst>
                <a:path h="355600" w="1205103">
                  <a:moveTo>
                    <a:pt x="177800" y="0"/>
                  </a:moveTo>
                  <a:lnTo>
                    <a:pt x="1027303" y="0"/>
                  </a:lnTo>
                  <a:cubicBezTo>
                    <a:pt x="1125474" y="0"/>
                    <a:pt x="1205103" y="79629"/>
                    <a:pt x="1205103" y="177800"/>
                  </a:cubicBezTo>
                  <a:cubicBezTo>
                    <a:pt x="1205103" y="275971"/>
                    <a:pt x="1125474" y="355600"/>
                    <a:pt x="1027303" y="355600"/>
                  </a:cubicBezTo>
                  <a:lnTo>
                    <a:pt x="177800" y="355600"/>
                  </a:lnTo>
                  <a:cubicBezTo>
                    <a:pt x="79629" y="355600"/>
                    <a:pt x="0" y="275971"/>
                    <a:pt x="0" y="177800"/>
                  </a:cubicBezTo>
                  <a:cubicBezTo>
                    <a:pt x="0" y="79629"/>
                    <a:pt x="79629" y="0"/>
                    <a:pt x="1778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DBE6CF"/>
              </a:solidFill>
              <a:prstDash val="solid"/>
              <a:miter/>
            </a:ln>
          </p:spPr>
        </p:sp>
        <p:sp>
          <p:nvSpPr>
            <p:cNvPr name="TextBox 35" id="35"/>
            <p:cNvSpPr txBox="true"/>
            <p:nvPr/>
          </p:nvSpPr>
          <p:spPr>
            <a:xfrm>
              <a:off x="0" y="-28575"/>
              <a:ext cx="1205103" cy="384175"/>
            </a:xfrm>
            <a:prstGeom prst="rect">
              <a:avLst/>
            </a:prstGeom>
          </p:spPr>
          <p:txBody>
            <a:bodyPr anchor="ctr" rtlCol="false" tIns="63500" lIns="63500" bIns="63500" rIns="63500"/>
            <a:lstStyle/>
            <a:p>
              <a:pPr algn="l">
                <a:lnSpc>
                  <a:spcPts val="1364"/>
                </a:lnSpc>
              </a:pPr>
              <a:r>
                <a:rPr lang="en-US" b="true" sz="975">
                  <a:solidFill>
                    <a:srgbClr val="2F5E22"/>
                  </a:solidFill>
                  <a:latin typeface="Barlow Condensed Bold"/>
                  <a:ea typeface="Barlow Condensed Bold"/>
                  <a:cs typeface="Barlow Condensed Bold"/>
                  <a:sym typeface="Barlow Condensed Bold"/>
                </a:rPr>
                <a:t>Family friends</a:t>
              </a:r>
            </a:p>
          </p:txBody>
        </p:sp>
      </p:grpSp>
      <p:sp>
        <p:nvSpPr>
          <p:cNvPr name="AutoShape 36" id="36"/>
          <p:cNvSpPr/>
          <p:nvPr/>
        </p:nvSpPr>
        <p:spPr>
          <a:xfrm rot="0">
            <a:off x="285750" y="10582275"/>
            <a:ext cx="4095750" cy="9525"/>
          </a:xfrm>
          <a:prstGeom prst="rect">
            <a:avLst/>
          </a:prstGeom>
          <a:solidFill>
            <a:srgbClr val="ECE8DE"/>
          </a:solidFill>
        </p:spPr>
      </p:sp>
      <p:grpSp>
        <p:nvGrpSpPr>
          <p:cNvPr name="Group 37" id="37"/>
          <p:cNvGrpSpPr/>
          <p:nvPr/>
        </p:nvGrpSpPr>
        <p:grpSpPr>
          <a:xfrm rot="0">
            <a:off x="285750" y="10744200"/>
            <a:ext cx="609600" cy="609600"/>
            <a:chOff x="0" y="0"/>
            <a:chExt cx="812800" cy="8128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AutoShape 39" id="39"/>
          <p:cNvSpPr/>
          <p:nvPr/>
        </p:nvSpPr>
        <p:spPr>
          <a:xfrm rot="0">
            <a:off x="0" y="11582400"/>
            <a:ext cx="9753600" cy="1038225"/>
          </a:xfrm>
          <a:prstGeom prst="rect">
            <a:avLst/>
          </a:prstGeom>
          <a:solidFill>
            <a:srgbClr val="141414"/>
          </a:solidFill>
        </p:spPr>
      </p:sp>
      <p:sp>
        <p:nvSpPr>
          <p:cNvPr name="AutoShape 40" id="40"/>
          <p:cNvSpPr/>
          <p:nvPr/>
        </p:nvSpPr>
        <p:spPr>
          <a:xfrm rot="0">
            <a:off x="0" y="11582400"/>
            <a:ext cx="9753600" cy="47625"/>
          </a:xfrm>
          <a:prstGeom prst="rect">
            <a:avLst/>
          </a:prstGeom>
          <a:solidFill>
            <a:srgbClr val="C6A15B"/>
          </a:solidFill>
        </p:spPr>
      </p:sp>
      <p:sp>
        <p:nvSpPr>
          <p:cNvPr name="Freeform 41" id="41"/>
          <p:cNvSpPr/>
          <p:nvPr/>
        </p:nvSpPr>
        <p:spPr>
          <a:xfrm flipH="false" flipV="false" rot="0">
            <a:off x="285750" y="6821138"/>
            <a:ext cx="171450" cy="171450"/>
          </a:xfrm>
          <a:custGeom>
            <a:avLst/>
            <a:gdLst/>
            <a:ahLst/>
            <a:cxnLst/>
            <a:rect r="r" b="b" t="t" l="l"/>
            <a:pathLst>
              <a:path h="171450" w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2" id="42"/>
          <p:cNvSpPr/>
          <p:nvPr/>
        </p:nvSpPr>
        <p:spPr>
          <a:xfrm flipH="false" flipV="false" rot="0">
            <a:off x="285750" y="7087838"/>
            <a:ext cx="171450" cy="171450"/>
          </a:xfrm>
          <a:custGeom>
            <a:avLst/>
            <a:gdLst/>
            <a:ahLst/>
            <a:cxnLst/>
            <a:rect r="r" b="b" t="t" l="l"/>
            <a:pathLst>
              <a:path h="171450" w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285750" y="7354538"/>
            <a:ext cx="171450" cy="171450"/>
          </a:xfrm>
          <a:custGeom>
            <a:avLst/>
            <a:gdLst/>
            <a:ahLst/>
            <a:cxnLst/>
            <a:rect r="r" b="b" t="t" l="l"/>
            <a:pathLst>
              <a:path h="171450" w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285750" y="7621238"/>
            <a:ext cx="171450" cy="171450"/>
          </a:xfrm>
          <a:custGeom>
            <a:avLst/>
            <a:gdLst/>
            <a:ahLst/>
            <a:cxnLst/>
            <a:rect r="r" b="b" t="t" l="l"/>
            <a:pathLst>
              <a:path h="171450" w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285750" y="7887938"/>
            <a:ext cx="171450" cy="171450"/>
          </a:xfrm>
          <a:custGeom>
            <a:avLst/>
            <a:gdLst/>
            <a:ahLst/>
            <a:cxnLst/>
            <a:rect r="r" b="b" t="t" l="l"/>
            <a:pathLst>
              <a:path h="171450" w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285750" y="8154638"/>
            <a:ext cx="171450" cy="171450"/>
          </a:xfrm>
          <a:custGeom>
            <a:avLst/>
            <a:gdLst/>
            <a:ahLst/>
            <a:cxnLst/>
            <a:rect r="r" b="b" t="t" l="l"/>
            <a:pathLst>
              <a:path h="171450" w="171450">
                <a:moveTo>
                  <a:pt x="0" y="0"/>
                </a:moveTo>
                <a:lnTo>
                  <a:pt x="171450" y="0"/>
                </a:lnTo>
                <a:lnTo>
                  <a:pt x="171450" y="171450"/>
                </a:lnTo>
                <a:lnTo>
                  <a:pt x="0" y="17145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5000625" y="3152775"/>
            <a:ext cx="4429125" cy="3168967"/>
            <a:chOff x="0" y="0"/>
            <a:chExt cx="5905500" cy="422529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5905500" cy="4225290"/>
            </a:xfrm>
            <a:custGeom>
              <a:avLst/>
              <a:gdLst/>
              <a:ahLst/>
              <a:cxnLst/>
              <a:rect r="r" b="b" t="t" l="l"/>
              <a:pathLst>
                <a:path h="4225290" w="5905500">
                  <a:moveTo>
                    <a:pt x="152400" y="0"/>
                  </a:moveTo>
                  <a:lnTo>
                    <a:pt x="5753100" y="0"/>
                  </a:lnTo>
                  <a:cubicBezTo>
                    <a:pt x="5837301" y="0"/>
                    <a:pt x="5905500" y="68199"/>
                    <a:pt x="5905500" y="152400"/>
                  </a:cubicBezTo>
                  <a:lnTo>
                    <a:pt x="5905500" y="4072890"/>
                  </a:lnTo>
                  <a:cubicBezTo>
                    <a:pt x="5905500" y="4157091"/>
                    <a:pt x="5837301" y="4225290"/>
                    <a:pt x="5753100" y="4225290"/>
                  </a:cubicBezTo>
                  <a:lnTo>
                    <a:pt x="152400" y="4225290"/>
                  </a:lnTo>
                  <a:cubicBezTo>
                    <a:pt x="68199" y="4225290"/>
                    <a:pt x="0" y="4157091"/>
                    <a:pt x="0" y="407289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905500" cy="4225290"/>
            </a:xfrm>
            <a:custGeom>
              <a:avLst/>
              <a:gdLst/>
              <a:ahLst/>
              <a:cxnLst/>
              <a:rect r="r" b="b" t="t" l="l"/>
              <a:pathLst>
                <a:path h="4225290" w="5905500">
                  <a:moveTo>
                    <a:pt x="152400" y="0"/>
                  </a:moveTo>
                  <a:lnTo>
                    <a:pt x="5753100" y="0"/>
                  </a:lnTo>
                  <a:cubicBezTo>
                    <a:pt x="5837301" y="0"/>
                    <a:pt x="5905500" y="68199"/>
                    <a:pt x="5905500" y="152400"/>
                  </a:cubicBezTo>
                  <a:lnTo>
                    <a:pt x="5905500" y="4072890"/>
                  </a:lnTo>
                  <a:cubicBezTo>
                    <a:pt x="5905500" y="4157091"/>
                    <a:pt x="5837301" y="4225290"/>
                    <a:pt x="5753100" y="4225290"/>
                  </a:cubicBezTo>
                  <a:lnTo>
                    <a:pt x="152400" y="4225290"/>
                  </a:lnTo>
                  <a:cubicBezTo>
                    <a:pt x="68199" y="4225290"/>
                    <a:pt x="0" y="4157091"/>
                    <a:pt x="0" y="4072890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DED4"/>
              </a:solidFill>
              <a:prstDash val="solid"/>
              <a:miter/>
            </a:ln>
          </p:spPr>
        </p:sp>
      </p:grpSp>
      <p:grpSp>
        <p:nvGrpSpPr>
          <p:cNvPr name="Group 50" id="50"/>
          <p:cNvGrpSpPr/>
          <p:nvPr/>
        </p:nvGrpSpPr>
        <p:grpSpPr>
          <a:xfrm rot="0">
            <a:off x="5010150" y="3162300"/>
            <a:ext cx="4410075" cy="3149917"/>
            <a:chOff x="0" y="0"/>
            <a:chExt cx="5880100" cy="4199890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5880100" cy="4199890"/>
            </a:xfrm>
            <a:custGeom>
              <a:avLst/>
              <a:gdLst/>
              <a:ahLst/>
              <a:cxnLst/>
              <a:rect r="r" b="b" t="t" l="l"/>
              <a:pathLst>
                <a:path h="4199890" w="5880100">
                  <a:moveTo>
                    <a:pt x="0" y="0"/>
                  </a:moveTo>
                  <a:lnTo>
                    <a:pt x="5880100" y="0"/>
                  </a:lnTo>
                  <a:lnTo>
                    <a:pt x="5880100" y="4199890"/>
                  </a:lnTo>
                  <a:lnTo>
                    <a:pt x="0" y="41998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0">
            <a:off x="5000625" y="8394764"/>
            <a:ext cx="4429125" cy="2959036"/>
            <a:chOff x="0" y="0"/>
            <a:chExt cx="5905500" cy="3945382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5905500" cy="3945382"/>
            </a:xfrm>
            <a:custGeom>
              <a:avLst/>
              <a:gdLst/>
              <a:ahLst/>
              <a:cxnLst/>
              <a:rect r="r" b="b" t="t" l="l"/>
              <a:pathLst>
                <a:path h="3945382" w="5905500">
                  <a:moveTo>
                    <a:pt x="152400" y="0"/>
                  </a:moveTo>
                  <a:lnTo>
                    <a:pt x="5753100" y="0"/>
                  </a:lnTo>
                  <a:cubicBezTo>
                    <a:pt x="5837301" y="0"/>
                    <a:pt x="5905500" y="68199"/>
                    <a:pt x="5905500" y="152400"/>
                  </a:cubicBezTo>
                  <a:lnTo>
                    <a:pt x="5905500" y="3792982"/>
                  </a:lnTo>
                  <a:cubicBezTo>
                    <a:pt x="5905500" y="3877183"/>
                    <a:pt x="5837301" y="3945382"/>
                    <a:pt x="5753100" y="3945382"/>
                  </a:cubicBezTo>
                  <a:lnTo>
                    <a:pt x="152400" y="3945382"/>
                  </a:lnTo>
                  <a:cubicBezTo>
                    <a:pt x="68199" y="3945382"/>
                    <a:pt x="0" y="3877183"/>
                    <a:pt x="0" y="3792982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0" y="0"/>
              <a:ext cx="5905500" cy="3945382"/>
            </a:xfrm>
            <a:custGeom>
              <a:avLst/>
              <a:gdLst/>
              <a:ahLst/>
              <a:cxnLst/>
              <a:rect r="r" b="b" t="t" l="l"/>
              <a:pathLst>
                <a:path h="3945382" w="5905500">
                  <a:moveTo>
                    <a:pt x="152400" y="0"/>
                  </a:moveTo>
                  <a:lnTo>
                    <a:pt x="5753100" y="0"/>
                  </a:lnTo>
                  <a:cubicBezTo>
                    <a:pt x="5837301" y="0"/>
                    <a:pt x="5905500" y="68199"/>
                    <a:pt x="5905500" y="152400"/>
                  </a:cubicBezTo>
                  <a:lnTo>
                    <a:pt x="5905500" y="3792982"/>
                  </a:lnTo>
                  <a:cubicBezTo>
                    <a:pt x="5905500" y="3877183"/>
                    <a:pt x="5837301" y="3945382"/>
                    <a:pt x="5753100" y="3945382"/>
                  </a:cubicBezTo>
                  <a:lnTo>
                    <a:pt x="152400" y="3945382"/>
                  </a:lnTo>
                  <a:cubicBezTo>
                    <a:pt x="68199" y="3945382"/>
                    <a:pt x="0" y="3877183"/>
                    <a:pt x="0" y="3792982"/>
                  </a:cubicBezTo>
                  <a:lnTo>
                    <a:pt x="0" y="152400"/>
                  </a:lnTo>
                  <a:cubicBezTo>
                    <a:pt x="0" y="68199"/>
                    <a:pt x="68199" y="0"/>
                    <a:pt x="152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E2DED4"/>
              </a:solidFill>
              <a:prstDash val="solid"/>
              <a:miter/>
            </a:ln>
          </p:spPr>
        </p:sp>
      </p:grpSp>
      <p:grpSp>
        <p:nvGrpSpPr>
          <p:cNvPr name="Group 55" id="55"/>
          <p:cNvGrpSpPr/>
          <p:nvPr/>
        </p:nvGrpSpPr>
        <p:grpSpPr>
          <a:xfrm rot="0">
            <a:off x="5010150" y="8404288"/>
            <a:ext cx="4410075" cy="2939986"/>
            <a:chOff x="0" y="0"/>
            <a:chExt cx="5880100" cy="3919982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5880100" cy="3919982"/>
            </a:xfrm>
            <a:custGeom>
              <a:avLst/>
              <a:gdLst/>
              <a:ahLst/>
              <a:cxnLst/>
              <a:rect r="r" b="b" t="t" l="l"/>
              <a:pathLst>
                <a:path h="3919982" w="5880100">
                  <a:moveTo>
                    <a:pt x="0" y="0"/>
                  </a:moveTo>
                  <a:lnTo>
                    <a:pt x="5880100" y="0"/>
                  </a:lnTo>
                  <a:lnTo>
                    <a:pt x="5880100" y="3919982"/>
                  </a:lnTo>
                  <a:lnTo>
                    <a:pt x="0" y="39199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0" b="0"/>
              </a:stretch>
            </a:blipFill>
          </p:spPr>
        </p:sp>
      </p:grpSp>
      <p:sp>
        <p:nvSpPr>
          <p:cNvPr name="Freeform 57" id="57"/>
          <p:cNvSpPr/>
          <p:nvPr/>
        </p:nvSpPr>
        <p:spPr>
          <a:xfrm flipH="false" flipV="false" rot="0">
            <a:off x="7406768" y="-100034"/>
            <a:ext cx="2452709" cy="2452709"/>
          </a:xfrm>
          <a:custGeom>
            <a:avLst/>
            <a:gdLst/>
            <a:ahLst/>
            <a:cxnLst/>
            <a:rect r="r" b="b" t="t" l="l"/>
            <a:pathLst>
              <a:path h="2452709" w="2452709">
                <a:moveTo>
                  <a:pt x="0" y="0"/>
                </a:moveTo>
                <a:lnTo>
                  <a:pt x="2452710" y="0"/>
                </a:lnTo>
                <a:lnTo>
                  <a:pt x="2452710" y="2452709"/>
                </a:lnTo>
                <a:lnTo>
                  <a:pt x="0" y="245270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994500" y="8383238"/>
            <a:ext cx="2490989" cy="2490989"/>
          </a:xfrm>
          <a:custGeom>
            <a:avLst/>
            <a:gdLst/>
            <a:ahLst/>
            <a:cxnLst/>
            <a:rect r="r" b="b" t="t" l="l"/>
            <a:pathLst>
              <a:path h="2490989" w="2490989">
                <a:moveTo>
                  <a:pt x="0" y="0"/>
                </a:moveTo>
                <a:lnTo>
                  <a:pt x="2490989" y="0"/>
                </a:lnTo>
                <a:lnTo>
                  <a:pt x="2490989" y="2490989"/>
                </a:lnTo>
                <a:lnTo>
                  <a:pt x="0" y="2490989"/>
                </a:lnTo>
                <a:lnTo>
                  <a:pt x="0" y="0"/>
                </a:lnTo>
                <a:close/>
              </a:path>
            </a:pathLst>
          </a:custGeom>
          <a:blipFill>
            <a:blip r:embed="rId17"/>
            <a:stretch>
              <a:fillRect l="0" t="0" r="0" b="0"/>
            </a:stretch>
          </a:blipFill>
        </p:spPr>
      </p:sp>
      <p:sp>
        <p:nvSpPr>
          <p:cNvPr name="TextBox 59" id="59"/>
          <p:cNvSpPr txBox="true"/>
          <p:nvPr/>
        </p:nvSpPr>
        <p:spPr>
          <a:xfrm rot="0">
            <a:off x="381000" y="285750"/>
            <a:ext cx="5334000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 spc="189">
                <a:solidFill>
                  <a:srgbClr val="CFE6BD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THE PROGRAM, IN A NUTSHELL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81000" y="647700"/>
            <a:ext cx="5334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0"/>
              </a:lnSpc>
            </a:pPr>
            <a:r>
              <a:rPr lang="en-US" b="true" sz="4500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HEALTHY STARTS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81000" y="1095375"/>
            <a:ext cx="5334000" cy="481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>
                <a:solidFill>
                  <a:srgbClr val="E2EFD7"/>
                </a:solidFill>
                <a:latin typeface="Barlow"/>
                <a:ea typeface="Barlow"/>
                <a:cs typeface="Barlow"/>
                <a:sym typeface="Barlow"/>
              </a:rPr>
              <a:t>Helping the next generation grow up </a:t>
            </a:r>
            <a:r>
              <a:rPr lang="en-US" b="true" sz="1275">
                <a:solidFill>
                  <a:srgbClr val="FFFFFF"/>
                </a:solidFill>
                <a:latin typeface="Barlow Bold"/>
                <a:ea typeface="Barlow Bold"/>
                <a:cs typeface="Barlow Bold"/>
                <a:sym typeface="Barlow Bold"/>
              </a:rPr>
              <a:t>healthy and happy</a:t>
            </a:r>
            <a:r>
              <a:rPr lang="en-US" sz="1275">
                <a:solidFill>
                  <a:srgbClr val="E2EFD7"/>
                </a:solidFill>
                <a:latin typeface="Barlow"/>
                <a:ea typeface="Barlow"/>
                <a:cs typeface="Barlow"/>
                <a:sym typeface="Barlow"/>
              </a:rPr>
              <a:t> — giving the gift of whole-food nutrition to the young people you love.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285750" y="2381250"/>
            <a:ext cx="40957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 spc="33">
                <a:solidFill>
                  <a:srgbClr val="2F5E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HOW IT WORKS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742950" y="2781300"/>
            <a:ext cx="36385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24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SUBSCRIBE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742950" y="2962275"/>
            <a:ext cx="3638550" cy="378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sz="1012">
                <a:solidFill>
                  <a:srgbClr val="4A473F"/>
                </a:solidFill>
                <a:latin typeface="Barlow"/>
                <a:ea typeface="Barlow"/>
                <a:cs typeface="Barlow"/>
                <a:sym typeface="Barlow"/>
              </a:rPr>
              <a:t>Become a Juice Plus+ customer with a qualifying subscription — Capsules, Chewables, or Superfood Powder.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742950" y="3445954"/>
            <a:ext cx="36385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24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GIFT IT FREE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742950" y="3626929"/>
            <a:ext cx="3638550" cy="558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sz="1012">
                <a:solidFill>
                  <a:srgbClr val="4A473F"/>
                </a:solidFill>
                <a:latin typeface="Barlow"/>
                <a:ea typeface="Barlow"/>
                <a:cs typeface="Barlow"/>
                <a:sym typeface="Barlow"/>
              </a:rPr>
              <a:t>Give free Fruit &amp; Vegetable Blend Capsules or Chewables to a loved one aged 4–25. Just pay the $12 handling fee every 4 months.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42950" y="4290536"/>
            <a:ext cx="3638550" cy="200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79"/>
              </a:lnSpc>
            </a:pPr>
            <a:r>
              <a:rPr lang="en-US" b="true" sz="1200" spc="24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BUILD HABITS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742950" y="4471511"/>
            <a:ext cx="3638550" cy="378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sz="1012">
                <a:solidFill>
                  <a:srgbClr val="4A473F"/>
                </a:solidFill>
                <a:latin typeface="Barlow"/>
                <a:ea typeface="Barlow"/>
                <a:cs typeface="Barlow"/>
                <a:sym typeface="Barlow"/>
              </a:rPr>
              <a:t>Take Juice Plus+ daily, make other healthy changes, and share your progress in optional surveys.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85750" y="5021866"/>
            <a:ext cx="40957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 spc="33">
                <a:solidFill>
                  <a:srgbClr val="2F5E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WHO IT'S FOR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85750" y="5345716"/>
            <a:ext cx="4095750" cy="1989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7"/>
              </a:lnSpc>
            </a:pPr>
            <a:r>
              <a:rPr lang="en-US" sz="1012">
                <a:solidFill>
                  <a:srgbClr val="4A473F"/>
                </a:solidFill>
                <a:latin typeface="Barlow"/>
                <a:ea typeface="Barlow"/>
                <a:cs typeface="Barlow"/>
                <a:sym typeface="Barlow"/>
              </a:rPr>
              <a:t>Any Juice Plus+ customer with a young person in their life: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85750" y="6421088"/>
            <a:ext cx="4095750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b="true" sz="1650" spc="33">
                <a:solidFill>
                  <a:srgbClr val="2F5E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ALL YOU NEED TO KNOW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561975" y="6792563"/>
            <a:ext cx="1678019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The </a:t>
            </a:r>
            <a:r>
              <a:rPr lang="en-US" b="true" sz="1050">
                <a:solidFill>
                  <a:srgbClr val="3D3A33"/>
                </a:solidFill>
                <a:latin typeface="Barlow Bold"/>
                <a:ea typeface="Barlow Bold"/>
                <a:cs typeface="Barlow Bold"/>
                <a:sym typeface="Barlow Bold"/>
              </a:rPr>
              <a:t>giver</a:t>
            </a:r>
            <a:r>
              <a:rPr lang="en-US" sz="1050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 must be 18 or older.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561975" y="7059263"/>
            <a:ext cx="2168747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The </a:t>
            </a:r>
            <a:r>
              <a:rPr lang="en-US" b="true" sz="1050">
                <a:solidFill>
                  <a:srgbClr val="3D3A33"/>
                </a:solidFill>
                <a:latin typeface="Barlow Bold"/>
                <a:ea typeface="Barlow Bold"/>
                <a:cs typeface="Barlow Bold"/>
                <a:sym typeface="Barlow Bold"/>
              </a:rPr>
              <a:t>young person</a:t>
            </a:r>
            <a:r>
              <a:rPr lang="en-US" sz="1050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 must be ages 4–25.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561975" y="7325963"/>
            <a:ext cx="3690652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Free product ships every 4 months — </a:t>
            </a:r>
            <a:r>
              <a:rPr lang="en-US" b="true" sz="1050">
                <a:solidFill>
                  <a:srgbClr val="3D3A33"/>
                </a:solidFill>
                <a:latin typeface="Barlow Bold"/>
                <a:ea typeface="Barlow Bold"/>
                <a:cs typeface="Barlow Bold"/>
                <a:sym typeface="Barlow Bold"/>
              </a:rPr>
              <a:t>$12 handling</a:t>
            </a:r>
            <a:r>
              <a:rPr lang="en-US" sz="1050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 per shipment.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561975" y="7592663"/>
            <a:ext cx="2858548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3D3A33"/>
                </a:solidFill>
                <a:latin typeface="Barlow Bold"/>
                <a:ea typeface="Barlow Bold"/>
                <a:cs typeface="Barlow Bold"/>
                <a:sym typeface="Barlow Bold"/>
              </a:rPr>
              <a:t>Ages 4–12:</a:t>
            </a:r>
            <a:r>
              <a:rPr lang="en-US" sz="1050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 a child order — capsules or chewables.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561975" y="7859363"/>
            <a:ext cx="2221992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b="true" sz="1050">
                <a:solidFill>
                  <a:srgbClr val="3D3A33"/>
                </a:solidFill>
                <a:latin typeface="Barlow Bold"/>
                <a:ea typeface="Barlow Bold"/>
                <a:cs typeface="Barlow Bold"/>
                <a:sym typeface="Barlow Bold"/>
              </a:rPr>
              <a:t>Ages 13–25:</a:t>
            </a:r>
            <a:r>
              <a:rPr lang="en-US" sz="1050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 an adult order — capsules.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561975" y="8126063"/>
            <a:ext cx="1889093" cy="180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70"/>
              </a:lnSpc>
            </a:pPr>
            <a:r>
              <a:rPr lang="en-US" sz="1050">
                <a:solidFill>
                  <a:srgbClr val="3D3A33"/>
                </a:solidFill>
                <a:latin typeface="Barlow"/>
                <a:ea typeface="Barlow"/>
                <a:cs typeface="Barlow"/>
                <a:sym typeface="Barlow"/>
              </a:rPr>
              <a:t>Everything ships to </a:t>
            </a:r>
            <a:r>
              <a:rPr lang="en-US" b="true" sz="1050">
                <a:solidFill>
                  <a:srgbClr val="3D3A33"/>
                </a:solidFill>
                <a:latin typeface="Barlow Bold"/>
                <a:ea typeface="Barlow Bold"/>
                <a:cs typeface="Barlow Bold"/>
                <a:sym typeface="Barlow Bold"/>
              </a:rPr>
              <a:t>one address.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028700" y="10937081"/>
            <a:ext cx="3088291" cy="195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937">
                <a:solidFill>
                  <a:srgbClr val="6B675F"/>
                </a:solidFill>
                <a:latin typeface="Barlow"/>
                <a:ea typeface="Barlow"/>
                <a:cs typeface="Barlow"/>
                <a:sym typeface="Barlow"/>
              </a:rPr>
              <a:t>A </a:t>
            </a:r>
            <a:r>
              <a:rPr lang="en-US" b="true" sz="937">
                <a:solidFill>
                  <a:srgbClr val="2F5E22"/>
                </a:solidFill>
                <a:latin typeface="Barlow Bold"/>
                <a:ea typeface="Barlow Bold"/>
                <a:cs typeface="Barlow Bold"/>
                <a:sym typeface="Barlow Bold"/>
              </a:rPr>
              <a:t>Bend FC</a:t>
            </a:r>
            <a:r>
              <a:rPr lang="en-US" sz="937">
                <a:solidFill>
                  <a:srgbClr val="6B675F"/>
                </a:solidFill>
                <a:latin typeface="Barlow"/>
                <a:ea typeface="Barlow"/>
                <a:cs typeface="Barlow"/>
                <a:sym typeface="Barlow"/>
              </a:rPr>
              <a:t> fundraiser powered by </a:t>
            </a:r>
            <a:r>
              <a:rPr lang="en-US" b="true" sz="937">
                <a:solidFill>
                  <a:srgbClr val="141414"/>
                </a:solidFill>
                <a:latin typeface="Barlow Bold"/>
                <a:ea typeface="Barlow Bold"/>
                <a:cs typeface="Barlow Bold"/>
                <a:sym typeface="Barlow Bold"/>
              </a:rPr>
              <a:t>The Juice Plus+ Company.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5000625" y="2447925"/>
            <a:ext cx="442912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25"/>
              </a:lnSpc>
            </a:pPr>
            <a:r>
              <a:rPr lang="en-US" b="true" sz="1725" spc="34">
                <a:solidFill>
                  <a:srgbClr val="141414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PROVEN RESULTS, WHOLE‑FAMILY NUTRITION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5000625" y="2676525"/>
            <a:ext cx="4429125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12"/>
              </a:lnSpc>
            </a:pPr>
            <a:r>
              <a:rPr lang="en-US" sz="937">
                <a:solidFill>
                  <a:srgbClr val="6B675F"/>
                </a:solidFill>
                <a:latin typeface="Barlow"/>
                <a:ea typeface="Barlow"/>
                <a:cs typeface="Barlow"/>
                <a:sym typeface="Barlow"/>
              </a:rPr>
              <a:t>Over 20+ years, families in Healthy Starts report meaningful change — and the Juice Plus+ family has a fit for every stage.**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5000625" y="8128064"/>
            <a:ext cx="4429125" cy="190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4"/>
              </a:lnSpc>
            </a:pPr>
            <a:r>
              <a:rPr lang="en-US" b="true" sz="1125" spc="56">
                <a:solidFill>
                  <a:srgbClr val="2F5E22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THE JUICE PLUS+ FAMILY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314450" y="11820525"/>
            <a:ext cx="4800600" cy="219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b="true" sz="1275" spc="152">
                <a:solidFill>
                  <a:srgbClr val="8EC94E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GIFT A HEALTHY START TODAY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1314450" y="12087225"/>
            <a:ext cx="4800600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50"/>
              </a:lnSpc>
            </a:pPr>
            <a:r>
              <a:rPr lang="en-US" b="true" sz="2850">
                <a:solidFill>
                  <a:srgbClr val="FFFFFF"/>
                </a:solidFill>
                <a:latin typeface="Barlow Condensed Bold"/>
                <a:ea typeface="Barlow Condensed Bold"/>
                <a:cs typeface="Barlow Condensed Bold"/>
                <a:sym typeface="Barlow Condensed Bold"/>
              </a:rPr>
              <a:t>bendfc.juiceplus.com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9408890" y="12401550"/>
            <a:ext cx="211360" cy="142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55"/>
              </a:lnSpc>
            </a:pPr>
            <a:r>
              <a:rPr lang="en-US" b="true" sz="825">
                <a:solidFill>
                  <a:srgbClr val="807C73"/>
                </a:solidFill>
                <a:latin typeface="Barlow Semi-Bold"/>
                <a:ea typeface="Barlow Semi-Bold"/>
                <a:cs typeface="Barlow Semi-Bold"/>
                <a:sym typeface="Barlow Semi-Bold"/>
              </a:rPr>
              <a:t>4 / 4</a:t>
            </a:r>
          </a:p>
        </p:txBody>
      </p:sp>
      <p:pic>
        <p:nvPicPr>
          <p:cNvPr name="Picture 85" id="8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316394" y="11645895"/>
            <a:ext cx="952564" cy="9525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DAHOHkXkS0Q</dc:identifier>
  <dcterms:modified xsi:type="dcterms:W3CDTF">2011-08-01T06:04:30Z</dcterms:modified>
  <cp:revision>1</cp:revision>
  <dc:title>Bend FC × Juice Plus Healthy Starts Flyer</dc:title>
</cp:coreProperties>
</file>